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352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347001"/>
            <a:ext cx="6005719" cy="616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sz="2200"/>
              <a:t>SIH 26169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0" sz="1500"/>
              <a:t>Development of an AI-Based Virtual Camera Tracking System for Coarse Alignment of Mobile Free Space Optical Communication (FSOC) Terminals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800"/>
              <a:t>Space Technology /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sz="1800"/>
              <a:t>Software (ISRO / Space Applications Centre)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sz="2000"/>
              <a:t>Team ID: 141943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sz="2400"/>
              <a:t>Phoenix 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3000" b="1">
                <a:latin typeface="Times New Roman"/>
              </a:rPr>
              <a:t>PROPOSED SOLUTION &amp; ARCHITECTURE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94360" y="1325880"/>
            <a:ext cx="1097280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3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b="1" sz="1450">
                <a:solidFill>
                  <a:srgbClr val="C00000"/>
                </a:solidFill>
                <a:latin typeface="Arial"/>
              </a:rPr>
              <a:t>1. Operational Context &amp; Problem Fit: </a:t>
            </a:r>
            <a:r>
              <a:rPr b="0" sz="1400">
                <a:solidFill>
                  <a:srgbClr val="282828"/>
                </a:solidFill>
                <a:latin typeface="Arial"/>
              </a:rPr>
              <a:t>Mobile FSOC requires pointing laser beams with microradian divergence (10-100 μrad). Before fine steering takes over, our Software-in-the-Loop (SIL) platform models the complete coarse acquisition stage across a 2000x2000 px space, resolving physical gimbals to 22.5 arcsec/px.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b="1" sz="1450">
                <a:solidFill>
                  <a:srgbClr val="C00000"/>
                </a:solidFill>
                <a:latin typeface="Arial"/>
              </a:rPr>
              <a:t>2. Dual-Mode Architecture: </a:t>
            </a:r>
            <a:r>
              <a:rPr b="0" sz="1400">
                <a:solidFill>
                  <a:srgbClr val="282828"/>
                </a:solidFill>
                <a:latin typeface="Arial"/>
              </a:rPr>
              <a:t>Mode A delivers closed-loop active tracking (AI tracker steering a virtual PTZ camera under 5-10°/s slew constraints). Mode B features an autonomous benchmark bypass mode that ingests external .mp4 video feeds to evaluate centroid error directly against ISRO benchmarks.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b="1" sz="1450">
                <a:solidFill>
                  <a:srgbClr val="C00000"/>
                </a:solidFill>
                <a:latin typeface="Arial"/>
              </a:rPr>
              <a:t>3. Three-Tiered Hybrid Vision Pipeline: </a:t>
            </a:r>
            <a:r>
              <a:rPr b="0" sz="1400">
                <a:solidFill>
                  <a:srgbClr val="282828"/>
                </a:solidFill>
                <a:latin typeface="Arial"/>
              </a:rPr>
              <a:t>Overcomes extreme disturbances via: (1) Vectorized Rank Median filtering eliminating 10% Salt &amp; Pepper noise in 0.8 ms, (2) Deep Saliency candidate isolation under dense fog, and (3) Sub-pixel 2D Gaussian gray-diffusion fitting achieving &lt; 0.2 px centroid accuracy.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b="1" sz="1450">
                <a:solidFill>
                  <a:srgbClr val="C00000"/>
                </a:solidFill>
                <a:latin typeface="Arial"/>
              </a:rPr>
              <a:t>4. Innovation &amp; Uniqueness: </a:t>
            </a:r>
            <a:r>
              <a:rPr b="0" sz="1400">
                <a:solidFill>
                  <a:srgbClr val="282828"/>
                </a:solidFill>
                <a:latin typeface="Arial"/>
              </a:rPr>
              <a:t>Zero hardware-in-the-loop cost (replacing ₹50L+ optical testbenches) with multi-model IMM-Kalman filtering that eliminates tracking lag during non-linear maneuvers (Figure-of-8, Sinusoidal) at ≥ 35 FPS on standard CPU.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3523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Times New Roman"/>
              </a:rPr>
              <a:t>TECHNICAL APPROACH &amp; METHODOLOGY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325880"/>
            <a:ext cx="1097280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3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b="1" sz="1450">
                <a:solidFill>
                  <a:srgbClr val="C00000"/>
                </a:solidFill>
                <a:latin typeface="Arial"/>
              </a:rPr>
              <a:t>1. Full-Stack Technology Ecosystem: </a:t>
            </a:r>
            <a:r>
              <a:rPr b="0" sz="1400">
                <a:solidFill>
                  <a:srgbClr val="282828"/>
                </a:solidFill>
                <a:latin typeface="Arial"/>
              </a:rPr>
              <a:t>Core Python 3.11+, PyQt6 (hardware-accelerated HUD/OpenGL viewport), NumPy &amp; OpenCV (vectorized kinematics &amp; optics), PyTorch / ONNX Runtime (quantized edge AI localizer), SciPy (IMM-Kalman filter).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b="1" sz="1450">
                <a:solidFill>
                  <a:srgbClr val="C00000"/>
                </a:solidFill>
                <a:latin typeface="Arial"/>
              </a:rPr>
              <a:t>2. High-Fidelity Physics &amp; Degradation Engine: </a:t>
            </a:r>
            <a:r>
              <a:rPr b="0" sz="1400">
                <a:solidFill>
                  <a:srgbClr val="282828"/>
                </a:solidFill>
                <a:latin typeface="Arial"/>
              </a:rPr>
              <a:t>Simulates diffraction-limited Airy disc spot profiles (5x5 to 20x20 px), Beer-Lambert atmospheric attenuation (fog, haze, rain), Poisson signal-dependent shot noise, Gaussian thermal noise, and 6-DoF multi-harmonic platform jitter (±20 px/frame).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b="1" sz="1450">
                <a:solidFill>
                  <a:srgbClr val="C00000"/>
                </a:solidFill>
                <a:latin typeface="Arial"/>
              </a:rPr>
              <a:t>3. Virtual PTZ Camera Kinematic Model: </a:t>
            </a:r>
            <a:r>
              <a:rPr b="0" sz="1400">
                <a:solidFill>
                  <a:srgbClr val="282828"/>
                </a:solidFill>
                <a:latin typeface="Arial"/>
              </a:rPr>
              <a:t>640x480 monochrome sensor windowing (4°x3° FOV) with physical servo motor dynamics: strict 5-10°/s slew limits, S-curve velocity profiling, and anti-windup PID control preventing instantaneous teleportation.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b="1" sz="1450">
                <a:solidFill>
                  <a:srgbClr val="C00000"/>
                </a:solidFill>
                <a:latin typeface="Arial"/>
              </a:rPr>
              <a:t>4. Predictive Tracking &amp; Control Flow: </a:t>
            </a:r>
            <a:r>
              <a:rPr b="0" sz="1400">
                <a:solidFill>
                  <a:srgbClr val="282828"/>
                </a:solidFill>
                <a:latin typeface="Arial"/>
              </a:rPr>
              <a:t>Video Stream → Noise Filter → Candidate Isolation → Gaussian Centroid → IMM-Kalman State Predictor (blending Constant Velocity &amp; Coordinated Turn models) → Feedforward Velocity Servo Command → Real-time HUD.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/>
              <a:t>Phoenix 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Times New Roman"/>
              </a:rPr>
              <a:t>FEASIBILITY &amp; PERFORMANCE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325880"/>
            <a:ext cx="1097280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450">
                <a:solidFill>
                  <a:srgbClr val="C00000"/>
                </a:solidFill>
                <a:latin typeface="Arial"/>
              </a:rPr>
              <a:t>1. Quantitative Frame Latency Budget (33.3 ms Ceiling): </a:t>
            </a:r>
            <a:r>
              <a:rPr b="0" sz="1400">
                <a:solidFill>
                  <a:srgbClr val="282828"/>
                </a:solidFill>
                <a:latin typeface="Arial"/>
              </a:rPr>
              <a:t>Preprocessing (1.2 ms) + AI Candidate Localizer (12.4 ms) + Sub-pixel Centroiding (0.4 ms) + IMM-KF &amp; PID (0.1 ms) + UI Draw (6.2 ms) = 20.3 ms total frame time (≥ 45 FPS on basic dual-core CPU, &gt; 120 FPS on Apple Silicon / GPU).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b="1" sz="1450">
                <a:solidFill>
                  <a:srgbClr val="C00000"/>
                </a:solidFill>
                <a:latin typeface="Arial"/>
              </a:rPr>
              <a:t>2. Strict Compliance with ISRO Performance SLAs: </a:t>
            </a:r>
            <a:r>
              <a:rPr b="0" sz="1400">
                <a:solidFill>
                  <a:srgbClr val="282828"/>
                </a:solidFill>
                <a:latin typeface="Arial"/>
              </a:rPr>
              <a:t>Acquisition Time: ≤ 0.8 s (Mandate ≤ 2 s) | Tracking Error: ≤ 1.5 px nominal, ≤ 4.8 px under 10% S&amp;P noise (Mandate ≤ 10 px) | Target Loss Rate: &lt; 1% (Mandate &lt; 5%) | Re-acquisition Time: ≤ 0.4 s (Mandate ≤ 1 s).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b="1" sz="1450">
                <a:solidFill>
                  <a:srgbClr val="C00000"/>
                </a:solidFill>
                <a:latin typeface="Arial"/>
              </a:rPr>
              <a:t>3. Critical Risk 1: False Centroids in Scintillation &amp; S&amp;P Noise: </a:t>
            </a:r>
            <a:r>
              <a:rPr b="0" sz="1400">
                <a:solidFill>
                  <a:srgbClr val="282828"/>
                </a:solidFill>
                <a:latin typeface="Arial"/>
              </a:rPr>
              <a:t>Mitigation: Bypasses failure of classical thresholding (T-CoG) by enforcing non-linear rank filtering and spatio-temporal coherence prior to continuous 2D Gaussian fitting.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b="1" sz="1450">
                <a:solidFill>
                  <a:srgbClr val="C00000"/>
                </a:solidFill>
                <a:latin typeface="Arial"/>
              </a:rPr>
              <a:t>4. Critical Risk 2: Divergence on Maneuvering Targets (Figure-8): </a:t>
            </a:r>
            <a:r>
              <a:rPr b="0" sz="1400">
                <a:solidFill>
                  <a:srgbClr val="282828"/>
                </a:solidFill>
                <a:latin typeface="Arial"/>
              </a:rPr>
              <a:t>Mitigation: IMM-KF dynamically switches hypothesis weights between constant velocity and coordinated turn kinematics, preventing overshoot during high-acceleration trajectory reversals.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Times New Roman"/>
              </a:rPr>
              <a:t>IMPACT, BENEFITS &amp; NATIONAL VALUE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325880"/>
            <a:ext cx="1097280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450">
                <a:solidFill>
                  <a:srgbClr val="C00000"/>
                </a:solidFill>
                <a:latin typeface="Arial"/>
              </a:rPr>
              <a:t>1. Direct Value for ISRO &amp; Space Applications Centre (SAC): </a:t>
            </a:r>
            <a:r>
              <a:rPr b="0" sz="1400">
                <a:solidFill>
                  <a:srgbClr val="282828"/>
                </a:solidFill>
                <a:latin typeface="Arial"/>
              </a:rPr>
              <a:t>Saves ₹50 Lakhs+ per physical evaluation campaign by enabling rapid Software-in-the-Loop validation of coarse PAT tracking algorithms prior to committing to expensive flight-grade gimbals and vacuum testbeds.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b="1" sz="1450">
                <a:solidFill>
                  <a:srgbClr val="C00000"/>
                </a:solidFill>
                <a:latin typeface="Arial"/>
              </a:rPr>
              <a:t>2. Strategic Enablement of Indian Space Defense: </a:t>
            </a:r>
            <a:r>
              <a:rPr b="0" sz="1400">
                <a:solidFill>
                  <a:srgbClr val="282828"/>
                </a:solidFill>
                <a:latin typeface="Arial"/>
              </a:rPr>
              <a:t>Provides ready-to-deploy algorithmic building blocks for future Optical Inter-Satellite Links (OISL), Quantum Key Distribution (QKD) constellations, and secure airborne FSOC meshes with complete immunity to RF jamming.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b="1" sz="1450">
                <a:solidFill>
                  <a:srgbClr val="C00000"/>
                </a:solidFill>
                <a:latin typeface="Arial"/>
              </a:rPr>
              <a:t>3. Automated Compliance &amp; Benchmarking Suite: </a:t>
            </a:r>
            <a:r>
              <a:rPr b="0" sz="1400">
                <a:solidFill>
                  <a:srgbClr val="282828"/>
                </a:solidFill>
                <a:latin typeface="Arial"/>
              </a:rPr>
              <a:t>Automatically executes standardized test scenarios and exports timestamped performance audits (RMSE, FPS, acquisition latency, jitter FFT, lock retention) matching ISRO evaluation standards.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b="1" sz="1450">
                <a:solidFill>
                  <a:srgbClr val="C00000"/>
                </a:solidFill>
                <a:latin typeface="Arial"/>
              </a:rPr>
              <a:t>4. Academic &amp; Research Democratization: </a:t>
            </a:r>
            <a:r>
              <a:rPr b="0" sz="1400">
                <a:solidFill>
                  <a:srgbClr val="282828"/>
                </a:solidFill>
                <a:latin typeface="Arial"/>
              </a:rPr>
              <a:t>Zero-Capex, standalone executable deployment (Windows &amp; macOS) enables Indian universities and aerospace researchers to simulate and benchmark space-optical communication algorithms effortlessly.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Times New Roman"/>
              </a:rPr>
              <a:t>RESEARCH &amp; VERIFIED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325880"/>
            <a:ext cx="1097280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450">
                <a:solidFill>
                  <a:srgbClr val="C00000"/>
                </a:solidFill>
                <a:latin typeface="Arial"/>
              </a:rPr>
              <a:t>1. Satellite PAT Handover (IEEE ICSOS 2025): </a:t>
            </a:r>
            <a:r>
              <a:rPr b="0" sz="1400">
                <a:solidFill>
                  <a:srgbClr val="282828"/>
                </a:solidFill>
                <a:latin typeface="Arial"/>
              </a:rPr>
              <a:t>Liu et al., 'Pointing, Acquisition, and Tracking (PAT) for Optical Satellite Communications: The ALIGN UK Mission', IEEE ICSOS 2025. [DOI: 10.1109/icsos66026.2025.11443125] — Grounding for coarse-to-fine handover &amp; latency bounds.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b="1" sz="1450">
                <a:solidFill>
                  <a:srgbClr val="C00000"/>
                </a:solidFill>
                <a:latin typeface="Arial"/>
              </a:rPr>
              <a:t>2. Mobile Platform FSOC Tracking (MDPI Photonics 2024): </a:t>
            </a:r>
            <a:r>
              <a:rPr b="0" sz="1400">
                <a:solidFill>
                  <a:srgbClr val="282828"/>
                </a:solidFill>
                <a:latin typeface="Arial"/>
              </a:rPr>
              <a:t>Sun et al., 'High-Precision Tracking of Free-Space Optical Communication System on Mobile Platforms', Photonics 2024, 11(10), 900. [DOI: 10.3390/photonics11100900] — Grounding for multi-axis platform jitter rejection.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b="1" sz="1450">
                <a:solidFill>
                  <a:srgbClr val="C00000"/>
                </a:solidFill>
                <a:latin typeface="Arial"/>
              </a:rPr>
              <a:t>3. Vision Under Atmospheric Turbulence (IEEE CVPR 2024): </a:t>
            </a:r>
            <a:r>
              <a:rPr b="0" sz="1400">
                <a:solidFill>
                  <a:srgbClr val="282828"/>
                </a:solidFill>
                <a:latin typeface="Arial"/>
              </a:rPr>
              <a:t>Saha et al., 'Turb-Seg-Res: Segment-then-Restore for Dynamic Videos with Atmospheric Turbulence', IEEE/CVF CVPR 2024. [DOI: 10.1109/CVPR52733.2024.02389] — Justifies spatio-temporal segmentation under refractive shimmer.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b="1" sz="1450">
                <a:solidFill>
                  <a:srgbClr val="C00000"/>
                </a:solidFill>
                <a:latin typeface="Arial"/>
              </a:rPr>
              <a:t>4. Sub-Pixel Spaceborne Centroiding (MDPI Remote Sensing 2023): </a:t>
            </a:r>
            <a:r>
              <a:rPr b="0" sz="1400">
                <a:solidFill>
                  <a:srgbClr val="282828"/>
                </a:solidFill>
                <a:latin typeface="Arial"/>
              </a:rPr>
              <a:t>Yang et al., 'Centroid Extraction of Laser Spots Captured by Infrared Detectors', Remote Sensing 2023, 15(8), 2129. [DOI: 10.3390/rs15082129] — Formulates sub-pixel Gaussian gray-diffusion centroiding (&lt; 0.2 px error).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b="1" sz="1450">
                <a:solidFill>
                  <a:srgbClr val="C00000"/>
                </a:solidFill>
                <a:latin typeface="Arial"/>
              </a:rPr>
              <a:t>5. Foundational FSOC Channel Physics (IEEE COMST): </a:t>
            </a:r>
            <a:r>
              <a:rPr b="0" sz="1400">
                <a:solidFill>
                  <a:srgbClr val="282828"/>
                </a:solidFill>
                <a:latin typeface="Arial"/>
              </a:rPr>
              <a:t>Kaushal &amp; Kaddoum, 'Free Space Optical Communication: Challenges and Mitigation Techniques', IEEE Communications Surveys &amp; Tutorials, 2016. [DOI: 10.1109/COMST.2016.2617691] — Mathematical models for Beer-Lambert &amp; Gamma-Gamma channels.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300" b="1"/>
              <a:t>Phoenix 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7524</TotalTime>
  <Words>346</Words>
  <Application>Microsoft Macintosh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Justin </cp:lastModifiedBy>
  <cp:revision>149</cp:revision>
  <dcterms:created xsi:type="dcterms:W3CDTF">2013-12-12T18:46:50Z</dcterms:created>
  <dcterms:modified xsi:type="dcterms:W3CDTF">2026-09-18T06:04:45Z</dcterms:modified>
  <cp:category/>
</cp:coreProperties>
</file>