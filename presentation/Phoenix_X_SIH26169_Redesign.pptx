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per frame</c:v>
                </c:pt>
              </c:strCache>
            </c:strRef>
          </c:tx>
          <c:spPr>
            <a:solidFill>
              <a:srgbClr val="4CC9F0"/>
            </a:solidFill>
            <a:effectLst/>
          </c:spPr>
          <c:invertIfNegative val="0"/>
          <c:dLbls>
            <c:numFmt formatCode="0.0&quot; ms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5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A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Denoising</c:v>
                  </c:pt>
                  <c:pt idx="1">
                    <c:v>AI localizer</c:v>
                  </c:pt>
                  <c:pt idx="2">
                    <c:v>Sub-pixel centroid</c:v>
                  </c:pt>
                  <c:pt idx="3">
                    <c:v>IMM-KF &amp; PID</c:v>
                  </c:pt>
                  <c:pt idx="4">
                    <c:v>UI HUD draw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12.4</c:v>
                </c:pt>
                <c:pt idx="2">
                  <c:v>0.4</c:v>
                </c:pt>
                <c:pt idx="3">
                  <c:v>0.1</c:v>
                </c:pt>
                <c:pt idx="4">
                  <c:v>6.2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2F5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7D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4" Type="http://schemas.openxmlformats.org/officeDocument/2006/relationships/image" Target="../media/image-4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sos66026.2025.11443125" TargetMode="External"/><Relationship Id="rId4" Type="http://schemas.openxmlformats.org/officeDocument/2006/relationships/hyperlink" Target="https://doi.org/10.3390/photonics11100900" TargetMode="External"/><Relationship Id="rId5" Type="http://schemas.openxmlformats.org/officeDocument/2006/relationships/hyperlink" Target="https://doi.org/10.1109/CVPR52733.2024.02389" TargetMode="External"/><Relationship Id="rId6" Type="http://schemas.openxmlformats.org/officeDocument/2006/relationships/hyperlink" Target="https://doi.org/10.1007/978-3-031-72658-3_2" TargetMode="External"/><Relationship Id="rId7" Type="http://schemas.openxmlformats.org/officeDocument/2006/relationships/hyperlink" Target="https://doi.org/10.3390/rs15082129" TargetMode="External"/><Relationship Id="rId8" Type="http://schemas.openxmlformats.org/officeDocument/2006/relationships/hyperlink" Target="https://doi.org/10.1109/COMST.2016.2603518" TargetMode="External"/><Relationship Id="rId10" Type="http://schemas.openxmlformats.org/officeDocument/2006/relationships/hyperlink" Target="https://github.com/jvstin47/Phoenix-X-AI-Based-Virtual-Camera-Tracking-System-SIH26169" TargetMode="External"/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9" Type="http://schemas.openxmlformats.org/officeDocument/2006/relationships/image" Target="../media/image-6-3.png"/><Relationship Id="rId11" Type="http://schemas.openxmlformats.org/officeDocument/2006/relationships/image" Target="../media/image-6-4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274320"/>
            <a:ext cx="17830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600200" cy="758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57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 &amp; SMART AUTOMATION   |   ISRO / SPACE APPLICATIONS CENTRE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777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508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FSOC TRACKER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5915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Software-in-the-Loop (SIL) Testbed for Coarse Tracking &amp; Reacquisition in Mobile FSOC Terminals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3154680"/>
            <a:ext cx="6355080" cy="3154680"/>
          </a:xfrm>
          <a:prstGeom prst="roundRect">
            <a:avLst>
              <a:gd name="adj" fmla="val 3478"/>
            </a:avLst>
          </a:prstGeom>
          <a:solidFill>
            <a:srgbClr val="0F1A38">
              <a:alpha val="86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47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SIH26169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 &amp; Smart Automation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8912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an AI-Based Virtual Camera Tracking System for Coarse Alignment of Mobile Free Space Optical Communication (FSOC) Terminals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074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ORGANIZATION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285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Space Applications Centre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5074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687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886200" y="5687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88620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141943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78040" y="1371600"/>
            <a:ext cx="4526280" cy="2194560"/>
          </a:xfrm>
          <a:prstGeom prst="roundRect">
            <a:avLst>
              <a:gd name="adj" fmla="val 5833"/>
            </a:avLst>
          </a:prstGeom>
          <a:solidFill>
            <a:srgbClr val="0F1A38"/>
          </a:solidFill>
          <a:ln w="15875">
            <a:solidFill>
              <a:srgbClr val="3DF2A5"/>
            </a:solidFill>
            <a:prstDash val="solid"/>
          </a:ln>
        </p:spPr>
      </p:sp>
      <p:pic>
        <p:nvPicPr>
          <p:cNvPr id="24" name="Image 1" descr="assets/her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23760" y="1417320"/>
            <a:ext cx="4434840" cy="21031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178040" y="37033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F1A38">
              <a:alpha val="90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178040" y="3749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7178040" y="4133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re-lock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8732520" y="37033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F1A38">
              <a:alpha val="90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732520" y="3749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8732520" y="4133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cut, τ 0–200 ms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287000" y="3703320"/>
            <a:ext cx="1417320" cy="749808"/>
          </a:xfrm>
          <a:prstGeom prst="roundRect">
            <a:avLst>
              <a:gd name="adj" fmla="val 14634"/>
            </a:avLst>
          </a:prstGeom>
          <a:solidFill>
            <a:srgbClr val="0F1A38">
              <a:alpha val="90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287000" y="3749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&lt;0.2 px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10287000" y="4133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RMSE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178040" y="45902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CAPABILITIES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178040" y="4892040"/>
            <a:ext cx="182880" cy="18288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4928616"/>
            <a:ext cx="109728" cy="10972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452360" y="486460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109.1 μrad/px (4°×3° FOV) · handover ≤ 10 px (≈ 1.09 mrad)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7178040" y="5184648"/>
            <a:ext cx="182880" cy="18288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5221224"/>
            <a:ext cx="109728" cy="10972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452360" y="51572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Uncertainty-Guided Elliptical Reacquisition (up to 97% faster re-lock)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7178040" y="5477256"/>
            <a:ext cx="182880" cy="18288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5513832"/>
            <a:ext cx="109728" cy="109728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452360" y="544982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Latency-Aware Forward State Prediction (up to 32% lag cut)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7178040" y="5769864"/>
            <a:ext cx="182880" cy="18288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616" y="5806440"/>
            <a:ext cx="109728" cy="10972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452360" y="574243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Perception: Top-Hat Morphology + Subpixel IWC (&lt; 0.2 px RMSE, ~10–25% S&amp;P)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7178040" y="6062472"/>
            <a:ext cx="182880" cy="18288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6099048"/>
            <a:ext cx="109728" cy="10972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452360" y="6035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Dual Mode (Synthetic SIL + Offline MP4 Bypass with CSV Audit)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530352"/>
          </a:xfrm>
          <a:prstGeom prst="roundRect">
            <a:avLst>
              <a:gd name="adj" fmla="val 50000"/>
            </a:avLst>
          </a:prstGeom>
          <a:solidFill>
            <a:srgbClr val="FF8A1F">
              <a:alpha val="12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PHOENIX: AI-Based Virtual Camera Tracking for Mobile FSOC  |  SIH26169 (ISRO / 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164592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0312"/>
            <a:ext cx="1508760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8C"/>
          </a:solidFill>
          <a:ln w="12700">
            <a:solidFill>
              <a:srgbClr val="0F3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2A1520">
              <a:alpha val="94000"/>
            </a:srgbClr>
          </a:solidFill>
          <a:ln w="9525">
            <a:solidFill>
              <a:srgbClr val="6B2F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0817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8000"/>
            </a:srgbClr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1408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783080" y="1408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operational limitations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17830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blindness: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spirals ignore error covariance, prolonging link outages.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Uncompensated latency: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compute and gimbal delay cause lag and overshoot.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 noise &amp; fog: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~10% salt-and-pepper and haze corrupt naive centroids.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 inertia: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commands violate 5–10°/s slew limits.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₹50L+ physical testbed: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chambers and piezo steering benches.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0C2A2E">
              <a:alpha val="94000"/>
            </a:srgbClr>
          </a:solidFill>
          <a:ln w="9525">
            <a:solidFill>
              <a:srgbClr val="1E6B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8770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3DF2A5">
              <a:alpha val="18000"/>
            </a:srgbClr>
          </a:solidFill>
          <a:ln w="9525">
            <a:solidFill>
              <a:srgbClr val="3DF2A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software tracking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2519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PAT handover: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into ≤ 10 px (≈ 1.09 mrad) cone for FSM takeover.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Uncertainty-guided search: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covariance-driven elliptical scan, up to 97% faster.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Latency-compensated pointing: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Kalman projection, τ ∈ [0, 200] ms, up to 32% lag cut.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localization: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+ subpixel IWC rejects ~10% S&amp;P (stress 25%).</a:t>
            </a:r>
            <a:endParaRPr lang="en-US" sz="10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evaluator: </a:t>
            </a:r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SIL or external .mp4 with CSV audit.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206240" y="1280160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0624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06240" y="1664208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43400" y="1792224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17922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20640" y="1773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&amp; Virtual Gimbal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343400" y="212140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2000×2000 px world at 109.1 μrad/px (22.5″/px, 4°×3° FOV).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 walk, Lemniscate (x²+y²)² = 2a²(x²−y²), ±20 px jitter.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pinhole FPA: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K crops 640×480, motor rate limit 5.0°/s.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06240" y="3072384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43400" y="320040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2004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Physics &amp; Atmospheric Channel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343400" y="352958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 optics: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I(θ) = I₀[2J₁(u)/u]², spot 5×5 to 20×20 px.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Beer–Lambert: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I₀exp(−γR) with dynamic fog and scintillation.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shot noise, PS ~10% S&amp;P (stress to 25%).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06240" y="4480560"/>
            <a:ext cx="4023360" cy="1627632"/>
          </a:xfrm>
          <a:prstGeom prst="roundRect">
            <a:avLst>
              <a:gd name="adj" fmla="val 674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43400" y="4608576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6085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120640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Perception &amp; IMM-Kalman Control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343400" y="4937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+ subpixel IWC, I = A·exp(−r²/2σ²), RMSE &lt; 0.2 px.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projection x̂(t+τ) = Fᵏ x̂(t) over loop delay τ.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reacquisition scans growing ellipse (σa, σb, φ).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 PID + feedforward, clamped ≤ 5.0°/s.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458200" y="1280160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FF8A1F">
              <a:alpha val="18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58200" y="1280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458200" y="1664208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67928" y="1773936"/>
            <a:ext cx="256032" cy="256032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567928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915400" y="17556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Uncertainty-guided search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567928" y="2066544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P_k grows during outages; the scan follows the uncertainty ellipse (σa, σb, φ) and re-locks up to 97% faster than blind spirals.</a:t>
            </a:r>
            <a:endParaRPr lang="en-US" sz="940" dirty="0"/>
          </a:p>
        </p:txBody>
      </p:sp>
      <p:sp>
        <p:nvSpPr>
          <p:cNvPr id="45" name="Shape 42"/>
          <p:cNvSpPr/>
          <p:nvPr/>
        </p:nvSpPr>
        <p:spPr>
          <a:xfrm>
            <a:off x="8458200" y="2615184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567928" y="2724912"/>
            <a:ext cx="256032" cy="256032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56792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8915400" y="27066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compensation (H1)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8567928" y="301752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projection x̂(t+τ) = Fᵏ x̂(t) absorbs frame, compute and servo delay (0–200 ms): up to 32% less tracking lag.</a:t>
            </a:r>
            <a:endParaRPr lang="en-US" sz="940" dirty="0"/>
          </a:p>
        </p:txBody>
      </p:sp>
      <p:sp>
        <p:nvSpPr>
          <p:cNvPr id="50" name="Shape 47"/>
          <p:cNvSpPr/>
          <p:nvPr/>
        </p:nvSpPr>
        <p:spPr>
          <a:xfrm>
            <a:off x="8458200" y="3566160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567928" y="3675888"/>
            <a:ext cx="256032" cy="256032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567928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915400" y="36576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morphology + IWC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567928" y="3968496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suppression + subpixel centroiding: &lt; 0.2 px RMSE through ~10% S&amp;P (25% stress), no heavy YOLO.</a:t>
            </a:r>
            <a:endParaRPr lang="en-US" sz="940" dirty="0"/>
          </a:p>
        </p:txBody>
      </p:sp>
      <p:sp>
        <p:nvSpPr>
          <p:cNvPr id="55" name="Shape 52"/>
          <p:cNvSpPr/>
          <p:nvPr/>
        </p:nvSpPr>
        <p:spPr>
          <a:xfrm>
            <a:off x="8458200" y="4517136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567928" y="4626864"/>
            <a:ext cx="256032" cy="256032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567928" y="4626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8915400" y="460857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SIL / MP4 engine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8567928" y="49194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testbed ingests synthetic physics or external camera video, verified by ground-truth CSV error audits.</a:t>
            </a:r>
            <a:endParaRPr lang="en-US" sz="940" dirty="0"/>
          </a:p>
        </p:txBody>
      </p:sp>
      <p:sp>
        <p:nvSpPr>
          <p:cNvPr id="60" name="Shape 57"/>
          <p:cNvSpPr/>
          <p:nvPr/>
        </p:nvSpPr>
        <p:spPr>
          <a:xfrm>
            <a:off x="8458200" y="5468112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67928" y="5577840"/>
            <a:ext cx="256032" cy="256032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567928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915400" y="55595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coarse PAT scope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8567928" y="587044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to coarse PAT (109.1 μrad/px); ≤ 10 px (≈ 1.09 mrad) capture for hand-over to 10 kHz FSM fine pointing.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530352"/>
          </a:xfrm>
          <a:prstGeom prst="roundRect">
            <a:avLst>
              <a:gd name="adj" fmla="val 50000"/>
            </a:avLst>
          </a:prstGeom>
          <a:solidFill>
            <a:srgbClr val="FF8A1F">
              <a:alpha val="12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PHOENIX: AI-Based Virtual Camera Tracking for Mobile FSOC  |  SIH26169 (ISRO / 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164592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0312"/>
            <a:ext cx="1508760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8C"/>
          </a:solidFill>
          <a:ln w="12700">
            <a:solidFill>
              <a:srgbClr val="0F3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28016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WORKFLOW &amp; CONTROL PIPELINE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" y="1801368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Universe Kinematics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258568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2000×2000 universe at 109.1 μrad/px (22.5″/px, 4°×3° FOV), propagating Lemniscate and Singer walks.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94360" y="275234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2752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13632" y="1691640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50792" y="1828800"/>
            <a:ext cx="365760" cy="36576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5079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35424" y="1801368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Jitter &amp; Dynamics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050792" y="2258568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5.0°/s slew limit and multi-harmonic vibration θ_jit(t) = Σ A_k sin(2π f_k t + φ_k).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4050792" y="275234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50792" y="2752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3227832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3364992"/>
            <a:ext cx="365760" cy="36576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078992" y="3337560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&amp; Atmospheric Degradation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3794760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 PSF I(θ) = I₀[2J₁(u)/u]², Beer–Lambert fog, Poisson noise and PS ~10% S&amp;P (to 25%).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594360" y="4288536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" y="4288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913632" y="3227832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50792" y="3364992"/>
            <a:ext cx="365760" cy="36576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05079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535424" y="3337560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Windowing &amp; Latency Queue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4050792" y="3794760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 matrix K crops a 640×480 FPA; LatencyQueue models cumulative delay τ ∈ [0, 200] ms.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4050792" y="4288536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050792" y="4288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" y="4764024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" y="4901184"/>
            <a:ext cx="365760" cy="36576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9436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078992" y="4873752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&amp; Sub-Pixel Centroiding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594360" y="5330952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background suppression + intensity-weighted centroiding: &lt; 0.2 px RMSE, no heavy YOLO.</a:t>
            </a:r>
            <a:endParaRPr lang="en-US" sz="1020" dirty="0"/>
          </a:p>
        </p:txBody>
      </p:sp>
      <p:sp>
        <p:nvSpPr>
          <p:cNvPr id="46" name="Shape 43"/>
          <p:cNvSpPr/>
          <p:nvPr/>
        </p:nvSpPr>
        <p:spPr>
          <a:xfrm>
            <a:off x="594360" y="5824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94360" y="5824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913632" y="4764024"/>
            <a:ext cx="3264408" cy="1426464"/>
          </a:xfrm>
          <a:prstGeom prst="roundRect">
            <a:avLst>
              <a:gd name="adj" fmla="val 7692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050792" y="4901184"/>
            <a:ext cx="365760" cy="365760"/>
          </a:xfrm>
          <a:prstGeom prst="ellipse">
            <a:avLst/>
          </a:prstGeom>
          <a:solidFill>
            <a:srgbClr val="3DF2A5"/>
          </a:solidFill>
          <a:ln w="12700">
            <a:solidFill>
              <a:srgbClr val="3DF2A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050792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35424" y="4873752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Pointing &amp; Reacquisition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4050792" y="5330952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Latency-compensated projection (H1: 32% lag cut) + covariance-ellipse search on loss (H2: 97% faster re-lock).</a:t>
            </a:r>
            <a:endParaRPr lang="en-US" sz="1020" dirty="0"/>
          </a:p>
        </p:txBody>
      </p:sp>
      <p:sp>
        <p:nvSpPr>
          <p:cNvPr id="53" name="Shape 50"/>
          <p:cNvSpPr/>
          <p:nvPr/>
        </p:nvSpPr>
        <p:spPr>
          <a:xfrm>
            <a:off x="4050792" y="58247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3DF2A5">
              <a:alpha val="18000"/>
            </a:srgbClr>
          </a:solidFill>
          <a:ln w="9525">
            <a:solidFill>
              <a:srgbClr val="3DF2A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050792" y="5824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406640" y="1280160"/>
            <a:ext cx="4325112" cy="274320"/>
          </a:xfrm>
          <a:prstGeom prst="roundRect">
            <a:avLst>
              <a:gd name="adj" fmla="val 50000"/>
            </a:avLst>
          </a:prstGeom>
          <a:solidFill>
            <a:srgbClr val="FF8A1F">
              <a:alpha val="18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06640" y="128016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TECHNOLOGY ECOSYSTEM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406640" y="1691640"/>
            <a:ext cx="4325112" cy="2011680"/>
          </a:xfrm>
          <a:prstGeom prst="roundRect">
            <a:avLst>
              <a:gd name="adj" fmla="val 5455"/>
            </a:avLst>
          </a:prstGeom>
          <a:solidFill>
            <a:srgbClr val="0F1A38">
              <a:alpha val="96000"/>
            </a:srgbClr>
          </a:solidFill>
          <a:ln w="9525">
            <a:solidFill>
              <a:srgbClr val="3DF2A5"/>
            </a:solidFill>
            <a:prstDash val="solid"/>
          </a:ln>
        </p:spPr>
      </p:sp>
      <p:pic>
        <p:nvPicPr>
          <p:cNvPr id="58" name="Image 1" descr="assets/ar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89520" y="1755648"/>
            <a:ext cx="3959352" cy="1883664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7406640" y="3822192"/>
            <a:ext cx="4325112" cy="566928"/>
          </a:xfrm>
          <a:prstGeom prst="roundRect">
            <a:avLst>
              <a:gd name="adj" fmla="val 1935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7543800" y="3822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 (H1)</a:t>
            </a:r>
            <a:endParaRPr lang="en-US" sz="950" dirty="0"/>
          </a:p>
        </p:txBody>
      </p:sp>
      <p:sp>
        <p:nvSpPr>
          <p:cNvPr id="61" name="Text 57"/>
          <p:cNvSpPr txBox="1"/>
          <p:nvPr/>
        </p:nvSpPr>
        <p:spPr>
          <a:xfrm>
            <a:off x="8823960" y="382219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Latency-compensated Kalman filter projecting x̂(t+τ) across loop delay τ (up to 32% lag cut).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7406640" y="4462272"/>
            <a:ext cx="4325112" cy="566928"/>
          </a:xfrm>
          <a:prstGeom prst="roundRect">
            <a:avLst>
              <a:gd name="adj" fmla="val 1935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543800" y="44622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Reacquisition (H2)</a:t>
            </a:r>
            <a:endParaRPr lang="en-US" sz="950" dirty="0"/>
          </a:p>
        </p:txBody>
      </p:sp>
      <p:sp>
        <p:nvSpPr>
          <p:cNvPr id="64" name="Text 60"/>
          <p:cNvSpPr txBox="1"/>
          <p:nvPr/>
        </p:nvSpPr>
        <p:spPr>
          <a:xfrm>
            <a:off x="8823960" y="446227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Uncertainty-guided covariance-ellipse search cutting link recovery time by up to 97%.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7406640" y="5102352"/>
            <a:ext cx="4325112" cy="566928"/>
          </a:xfrm>
          <a:prstGeom prst="roundRect">
            <a:avLst>
              <a:gd name="adj" fmla="val 1935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7543800" y="510235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handover SLA</a:t>
            </a:r>
            <a:endParaRPr lang="en-US" sz="950" dirty="0"/>
          </a:p>
        </p:txBody>
      </p:sp>
      <p:sp>
        <p:nvSpPr>
          <p:cNvPr id="67" name="Text 63"/>
          <p:cNvSpPr txBox="1"/>
          <p:nvPr/>
        </p:nvSpPr>
        <p:spPr>
          <a:xfrm>
            <a:off x="8823960" y="510235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line-of-sight inside ≤ 10 px (≈ 1.09 mrad) for the downstream FSM / QPD stage.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7406640" y="5742432"/>
            <a:ext cx="4325112" cy="566928"/>
          </a:xfrm>
          <a:prstGeom prst="roundRect">
            <a:avLst>
              <a:gd name="adj" fmla="val 1935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7543800" y="57424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engine</a:t>
            </a:r>
            <a:endParaRPr lang="en-US" sz="950" dirty="0"/>
          </a:p>
        </p:txBody>
      </p:sp>
      <p:sp>
        <p:nvSpPr>
          <p:cNvPr id="70" name="Text 66"/>
          <p:cNvSpPr txBox="1"/>
          <p:nvPr/>
        </p:nvSpPr>
        <p:spPr>
          <a:xfrm>
            <a:off x="8823960" y="574243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SIL simulator + offline .mp4 benchmark bypass with CSV audit.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530352"/>
          </a:xfrm>
          <a:prstGeom prst="roundRect">
            <a:avLst>
              <a:gd name="adj" fmla="val 50000"/>
            </a:avLst>
          </a:prstGeom>
          <a:solidFill>
            <a:srgbClr val="FF8A1F">
              <a:alpha val="12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PHOENIX: AI-Based Virtual Camera Tracking for Mobile FSOC  |  SIH26169 (ISRO / 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164592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0312"/>
            <a:ext cx="1508760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8C"/>
          </a:solidFill>
          <a:ln w="12700">
            <a:solidFill>
              <a:srgbClr val="0F3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361188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664208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· frame latency budget (33.3 ms ceiling)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029968"/>
          <a:ext cx="3429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2"/>
          <p:cNvSpPr/>
          <p:nvPr/>
        </p:nvSpPr>
        <p:spPr>
          <a:xfrm>
            <a:off x="594360" y="3794760"/>
            <a:ext cx="3337560" cy="548640"/>
          </a:xfrm>
          <a:prstGeom prst="roundRect">
            <a:avLst>
              <a:gd name="adj" fmla="val 20000"/>
            </a:avLst>
          </a:prstGeom>
          <a:solidFill>
            <a:srgbClr val="0C2A2E"/>
          </a:solidFill>
          <a:ln w="9525">
            <a:solidFill>
              <a:srgbClr val="1E6B5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3794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19.9 ms total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 FPS on dual-core CPU, zero discrete GPU needed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44805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473659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setup: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 zero-config launch (1-click binaries).</a:t>
            </a:r>
            <a:endParaRPr lang="en-US" sz="9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bypass: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.mp4 + ground-truth CSV.</a:t>
            </a:r>
            <a:endParaRPr lang="en-US" sz="9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PRNG seeds for jury audits.</a:t>
            </a:r>
            <a:endParaRPr lang="en-US" sz="92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550468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FEASIBILITY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594360" y="57424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hardware capex: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₹50L+ gimbal or vacuum chamber.</a:t>
            </a:r>
            <a:endParaRPr lang="en-US" sz="9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space research labs.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4288536" y="1280160"/>
            <a:ext cx="3611880" cy="274320"/>
          </a:xfrm>
          <a:prstGeom prst="roundRect">
            <a:avLst>
              <a:gd name="adj" fmla="val 50000"/>
            </a:avLst>
          </a:prstGeom>
          <a:solidFill>
            <a:srgbClr val="3DF2A5">
              <a:alpha val="18000"/>
            </a:srgbClr>
          </a:solidFill>
          <a:ln w="9525">
            <a:solidFill>
              <a:srgbClr val="3DF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88536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&amp; DEPLOYMENT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288536" y="1664208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25696" y="17830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DISRUPTION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25696" y="2084832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2A1520"/>
          </a:solidFill>
          <a:ln w="9525">
            <a:solidFill>
              <a:srgbClr val="6B2F3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425696" y="2130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₹50+ Lakhs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4425696" y="2587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FSOC testbed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63056" y="2084832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0C2A2E"/>
          </a:solidFill>
          <a:ln w="9525">
            <a:solidFill>
              <a:srgbClr val="1E6B5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63056" y="2130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6163056" y="2587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SIL (open source)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425696" y="3035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multi-team algorithm development without equipment bottlenecks.</a:t>
            </a:r>
            <a:endParaRPr lang="en-US" sz="920" dirty="0"/>
          </a:p>
        </p:txBody>
      </p:sp>
      <p:sp>
        <p:nvSpPr>
          <p:cNvPr id="33" name="Text 29"/>
          <p:cNvSpPr txBox="1"/>
          <p:nvPr/>
        </p:nvSpPr>
        <p:spPr>
          <a:xfrm>
            <a:off x="4425696" y="34747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DATA RESILIENCE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4425696" y="37307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dependency; telemetry, logs and AI weights stay local.</a:t>
            </a:r>
            <a:endParaRPr lang="en-US" sz="92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</a:t>
            </a:r>
            <a:pPr indent="0" marL="0">
              <a:buNone/>
            </a:pPr>
            <a:r>
              <a:rPr lang="en-US" sz="92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DRDO/ISRO cyber-security and air-gapped lab mandates.</a:t>
            </a:r>
            <a:endParaRPr lang="en-US" sz="920" dirty="0"/>
          </a:p>
        </p:txBody>
      </p:sp>
      <p:pic>
        <p:nvPicPr>
          <p:cNvPr id="35" name="Image 1" descr="assets/dist.jpg">    </p:cNvPr>
          <p:cNvPicPr>
            <a:picLocks noChangeAspect="1"/>
          </p:cNvPicPr>
          <p:nvPr/>
        </p:nvPicPr>
        <p:blipFill>
          <a:blip r:embed="rId4"/>
          <a:srcRect l="-12868" r="-12868" t="0" b="0"/>
          <a:stretch/>
        </p:blipFill>
        <p:spPr>
          <a:xfrm>
            <a:off x="4791456" y="4480560"/>
            <a:ext cx="2606040" cy="155448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4425696" y="6035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channel validation: Airy · 10% S&amp;P · fog · combined turbulence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8119872" y="1280160"/>
            <a:ext cx="3611880" cy="274320"/>
          </a:xfrm>
          <a:prstGeom prst="roundRect">
            <a:avLst>
              <a:gd name="adj" fmla="val 50000"/>
            </a:avLst>
          </a:prstGeom>
          <a:solidFill>
            <a:srgbClr val="FF8A1F">
              <a:alpha val="18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119872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STRATEGIES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119872" y="1664208"/>
            <a:ext cx="3611880" cy="859536"/>
          </a:xfrm>
          <a:prstGeom prst="roundRect">
            <a:avLst>
              <a:gd name="adj" fmla="val 1276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229600" y="1773936"/>
            <a:ext cx="274320" cy="27432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22960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8622792" y="17556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PS-specified ~10% S&amp;P noise (stress 25%)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8257032" y="208483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rank-order median + Top-Hat strip impulsive noise in 0.8 ms, keeping &lt; 0.2 px centroid accuracy.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8119872" y="2596896"/>
            <a:ext cx="3611880" cy="859536"/>
          </a:xfrm>
          <a:prstGeom prst="roundRect">
            <a:avLst>
              <a:gd name="adj" fmla="val 1276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229600" y="2706624"/>
            <a:ext cx="274320" cy="27432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22960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622792" y="26883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latency &amp; actuator delay (0–200 ms)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8257032" y="3017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projection (H1) compensates frame, compute and motor delay: up to 32% less steady-state lag.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119872" y="3529584"/>
            <a:ext cx="3611880" cy="859536"/>
          </a:xfrm>
          <a:prstGeom prst="roundRect">
            <a:avLst>
              <a:gd name="adj" fmla="val 1276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229600" y="3639312"/>
            <a:ext cx="274320" cy="27432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22960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8622792" y="3621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 dynamics &amp; slew limits (5–10°/s)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8257032" y="39502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 saturated velocity PID (θ̇ ≤ 5.0°/s) prevents torque saturation and models gimbal inertia.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8119872" y="4462272"/>
            <a:ext cx="3611880" cy="859536"/>
          </a:xfrm>
          <a:prstGeom prst="roundRect">
            <a:avLst>
              <a:gd name="adj" fmla="val 1276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229600" y="4572000"/>
            <a:ext cx="274320" cy="27432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82296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2"/>
          <p:cNvSpPr txBox="1"/>
          <p:nvPr/>
        </p:nvSpPr>
        <p:spPr>
          <a:xfrm>
            <a:off x="8622792" y="45537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outages &amp; cloud/fog drops</a:t>
            </a:r>
            <a:endParaRPr lang="en-US" sz="1050" dirty="0"/>
          </a:p>
        </p:txBody>
      </p:sp>
      <p:sp>
        <p:nvSpPr>
          <p:cNvPr id="58" name="Text 53"/>
          <p:cNvSpPr txBox="1"/>
          <p:nvPr/>
        </p:nvSpPr>
        <p:spPr>
          <a:xfrm>
            <a:off x="8257032" y="488289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Uncertainty-guided reacquisition (H2) scans the growing covariance ellipse, re-locking up to 97% faster.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8119872" y="5394960"/>
            <a:ext cx="3611880" cy="859536"/>
          </a:xfrm>
          <a:prstGeom prst="roundRect">
            <a:avLst>
              <a:gd name="adj" fmla="val 1276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229600" y="5504688"/>
            <a:ext cx="274320" cy="274320"/>
          </a:xfrm>
          <a:prstGeom prst="ellipse">
            <a:avLst/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822960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7"/>
          <p:cNvSpPr txBox="1"/>
          <p:nvPr/>
        </p:nvSpPr>
        <p:spPr>
          <a:xfrm>
            <a:off x="8622792" y="5486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evaluator verification</a:t>
            </a:r>
            <a:endParaRPr lang="en-US" sz="1050" dirty="0"/>
          </a:p>
        </p:txBody>
      </p:sp>
      <p:sp>
        <p:nvSpPr>
          <p:cNvPr id="63" name="Text 58"/>
          <p:cNvSpPr txBox="1"/>
          <p:nvPr/>
        </p:nvSpPr>
        <p:spPr>
          <a:xfrm>
            <a:off x="8257032" y="581558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bypass ingests external real/synthetic video; 1-click macOS DMG (61 MB) &amp; Windows EXE for jury testing.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530352"/>
          </a:xfrm>
          <a:prstGeom prst="roundRect">
            <a:avLst>
              <a:gd name="adj" fmla="val 50000"/>
            </a:avLst>
          </a:prstGeom>
          <a:solidFill>
            <a:srgbClr val="FF8A1F">
              <a:alpha val="12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PHOENIX: AI-Based Virtual Camera Tracking for Mobile FSOC  |  SIH26169 (ISRO / 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164592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0312"/>
            <a:ext cx="1508760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8C"/>
          </a:solidFill>
          <a:ln w="12700">
            <a:solidFill>
              <a:srgbClr val="0F3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08176"/>
            <a:ext cx="420624" cy="420624"/>
          </a:xfrm>
          <a:prstGeom prst="ellipse">
            <a:avLst/>
          </a:prstGeom>
          <a:solidFill>
            <a:srgbClr val="4CC9F0">
              <a:alpha val="18000"/>
            </a:srgbClr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51790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5568" y="140817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/ SAC FLIGHT TEAMS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1965960"/>
            <a:ext cx="2423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development: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PAT validation cycles from 6 months to 48 hours.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validation: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coarse tracking before hardware fabrication.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logging: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error audits matching ISRO criteria.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19272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56432" y="1408176"/>
            <a:ext cx="420624" cy="420624"/>
          </a:xfrm>
          <a:prstGeom prst="ellipse">
            <a:avLst/>
          </a:prstGeom>
          <a:solidFill>
            <a:srgbClr val="FF8A1F">
              <a:alpha val="18000"/>
            </a:srgbClr>
          </a:solidFill>
          <a:ln w="12700">
            <a:solidFill>
              <a:srgbClr val="FF8A1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1790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77640" y="140817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SPACE DEFENSE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3456432" y="1965960"/>
            <a:ext cx="2423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Jam-proof comms: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optical links immune to RF EW.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 readiness: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coarse-tracking foundation for satellite quantum key distribution.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FSOC: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UAV-to-ground high-bandwidth disaster and defense links.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81344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18504" y="1408176"/>
            <a:ext cx="420624" cy="420624"/>
          </a:xfrm>
          <a:prstGeom prst="ellipse">
            <a:avLst/>
          </a:prstGeom>
          <a:solidFill>
            <a:srgbClr val="3DF2A5">
              <a:alpha val="18000"/>
            </a:srgbClr>
          </a:solidFill>
          <a:ln w="12700">
            <a:solidFill>
              <a:srgbClr val="3DF2A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51790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39712" y="140817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SPACE &amp; OISL MISSIONS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318504" y="1965960"/>
            <a:ext cx="2423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Inter-satellite crosslinks: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algorithms for LEO mega-constellations.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&amp; planetary probes: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coarse alignment for deep-space laser transceivers.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simulation: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space scintillation and reaction-wheel jitter.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043416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180576" y="1408176"/>
            <a:ext cx="420624" cy="420624"/>
          </a:xfrm>
          <a:prstGeom prst="ellipse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1517904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701784" y="1408176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ACADEMIA &amp; STARTUPS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9180576" y="1965960"/>
            <a:ext cx="2423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Democratized research: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zero-capex platform for university FSOC labs.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benchmarking: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barrier for spacetech startups.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standards: </a:t>
            </a:r>
            <a:pPr indent="0" marL="0">
              <a:buNone/>
            </a:pPr>
            <a:r>
              <a:rPr lang="en-US" sz="10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codebase fostering indigenous space-comms innovation.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57200" y="3611880"/>
            <a:ext cx="11274552" cy="2542032"/>
          </a:xfrm>
          <a:prstGeom prst="roundRect">
            <a:avLst>
              <a:gd name="adj" fmla="val 4317"/>
            </a:avLst>
          </a:prstGeom>
          <a:solidFill>
            <a:srgbClr val="0B1430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0080" y="3739896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FF8A1F">
              <a:alpha val="18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40080" y="37398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IMPACT PIPELINE — MEASURABLE PERFORMANCE BREAKTHROUGHS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40080" y="4142232"/>
            <a:ext cx="2103120" cy="329184"/>
          </a:xfrm>
          <a:prstGeom prst="homePlate">
            <a:avLst/>
          </a:prstGeom>
          <a:solidFill>
            <a:srgbClr val="4CC9F0">
              <a:alpha val="8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49808" y="4142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DEPLOY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640080" y="4544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Native Runtime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4800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app (macOS 61 MB DMG / Windows EXE) runs 100% offline in &lt; 30 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40080" y="544068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4234A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0080" y="5458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640080" y="5769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&amp; Windows native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2834640" y="4142232"/>
            <a:ext cx="2103120" cy="329184"/>
          </a:xfrm>
          <a:prstGeom prst="homePlate">
            <a:avLst/>
          </a:prstGeom>
          <a:solidFill>
            <a:srgbClr val="4CC9F0">
              <a:alpha val="8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2944368" y="4142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SIMULATE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2834640" y="4544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SIL Testbed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2834640" y="4800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109.1 μrad/px scale, loop latency (0–200 ms), PS ~10% S&amp;P and platform motion.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2834640" y="544068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4234A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2834640" y="5458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109.1 μrad/px</a:t>
            </a:r>
            <a:endParaRPr lang="en-US" sz="1500" dirty="0"/>
          </a:p>
        </p:txBody>
      </p:sp>
      <p:sp>
        <p:nvSpPr>
          <p:cNvPr id="47" name="Text 40"/>
          <p:cNvSpPr txBox="1"/>
          <p:nvPr/>
        </p:nvSpPr>
        <p:spPr>
          <a:xfrm>
            <a:off x="2834640" y="5769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4°×3° FOV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5029200" y="4142232"/>
            <a:ext cx="2103120" cy="329184"/>
          </a:xfrm>
          <a:prstGeom prst="homePlate">
            <a:avLst/>
          </a:prstGeom>
          <a:solidFill>
            <a:srgbClr val="4CC9F0">
              <a:alpha val="8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138928" y="4142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ACQUIRE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5029200" y="4544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Latency-Compensated Lock</a:t>
            </a:r>
            <a:endParaRPr lang="en-US" sz="1050" dirty="0"/>
          </a:p>
        </p:txBody>
      </p:sp>
      <p:sp>
        <p:nvSpPr>
          <p:cNvPr id="51" name="Text 44"/>
          <p:cNvSpPr txBox="1"/>
          <p:nvPr/>
        </p:nvSpPr>
        <p:spPr>
          <a:xfrm>
            <a:off x="5029200" y="4800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acquisition in ≤ 0.8 s (SLA ≤ 2.0 s); forward projection cuts lag by up to 32%.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5029200" y="544068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4234A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5029200" y="5458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0.8 s</a:t>
            </a:r>
            <a:endParaRPr lang="en-US" sz="1500" dirty="0"/>
          </a:p>
        </p:txBody>
      </p:sp>
      <p:sp>
        <p:nvSpPr>
          <p:cNvPr id="54" name="Text 47"/>
          <p:cNvSpPr txBox="1"/>
          <p:nvPr/>
        </p:nvSpPr>
        <p:spPr>
          <a:xfrm>
            <a:off x="5029200" y="5769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≤ 2 s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7223760" y="4142232"/>
            <a:ext cx="2103120" cy="329184"/>
          </a:xfrm>
          <a:prstGeom prst="homePlate">
            <a:avLst/>
          </a:prstGeom>
          <a:solidFill>
            <a:srgbClr val="4CC9F0">
              <a:alpha val="8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333488" y="4142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TRACK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7223760" y="4544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Coarse Centroiding</a:t>
            </a:r>
            <a:endParaRPr lang="en-US" sz="1050" dirty="0"/>
          </a:p>
        </p:txBody>
      </p:sp>
      <p:sp>
        <p:nvSpPr>
          <p:cNvPr id="58" name="Text 51"/>
          <p:cNvSpPr txBox="1"/>
          <p:nvPr/>
        </p:nvSpPr>
        <p:spPr>
          <a:xfrm>
            <a:off x="7223760" y="4800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lock at RMSE ≤ 1.5 px nominal; all evaluated trials stayed inside the PS ≤ 10 px cone.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7223760" y="544068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4234A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7223760" y="5458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px</a:t>
            </a:r>
            <a:endParaRPr lang="en-US" sz="1500" dirty="0"/>
          </a:p>
        </p:txBody>
      </p:sp>
      <p:sp>
        <p:nvSpPr>
          <p:cNvPr id="61" name="Text 54"/>
          <p:cNvSpPr txBox="1"/>
          <p:nvPr/>
        </p:nvSpPr>
        <p:spPr>
          <a:xfrm>
            <a:off x="7223760" y="5769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cone: ≤ 10 px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9418320" y="4142232"/>
            <a:ext cx="2103120" cy="329184"/>
          </a:xfrm>
          <a:prstGeom prst="homePlate">
            <a:avLst/>
          </a:prstGeom>
          <a:solidFill>
            <a:srgbClr val="FF8A1F">
              <a:alpha val="85000"/>
            </a:srgbClr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9528048" y="4142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AUDIT</a:t>
            </a:r>
            <a:endParaRPr lang="en-US" sz="1050" dirty="0"/>
          </a:p>
        </p:txBody>
      </p:sp>
      <p:sp>
        <p:nvSpPr>
          <p:cNvPr id="64" name="Text 57"/>
          <p:cNvSpPr txBox="1"/>
          <p:nvPr/>
        </p:nvSpPr>
        <p:spPr>
          <a:xfrm>
            <a:off x="9418320" y="4544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Benchmark Engine</a:t>
            </a:r>
            <a:endParaRPr lang="en-US" sz="1050" dirty="0"/>
          </a:p>
        </p:txBody>
      </p:sp>
      <p:sp>
        <p:nvSpPr>
          <p:cNvPr id="65" name="Text 58"/>
          <p:cNvSpPr txBox="1"/>
          <p:nvPr/>
        </p:nvSpPr>
        <p:spPr>
          <a:xfrm>
            <a:off x="9418320" y="48006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Auto-exports timestamped CSV compliance audits; verifies H1 (latency) &amp; H2 (reacquisition).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9418320" y="544068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4234A"/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9418320" y="5458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 / +32%</a:t>
            </a:r>
            <a:endParaRPr lang="en-US" sz="1500" dirty="0"/>
          </a:p>
        </p:txBody>
      </p:sp>
      <p:sp>
        <p:nvSpPr>
          <p:cNvPr id="68" name="Text 61"/>
          <p:cNvSpPr txBox="1"/>
          <p:nvPr/>
        </p:nvSpPr>
        <p:spPr>
          <a:xfrm>
            <a:off x="9418320" y="5769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H2 empirical gains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530352"/>
          </a:xfrm>
          <a:prstGeom prst="roundRect">
            <a:avLst>
              <a:gd name="adj" fmla="val 50000"/>
            </a:avLst>
          </a:prstGeom>
          <a:solidFill>
            <a:srgbClr val="FF8A1F">
              <a:alpha val="12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11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786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PHOENIX: AI-Based Virtual Camera Tracking for Mobile FSOC  |  SIH26169 (ISRO / 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164592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0312"/>
            <a:ext cx="1508760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8C"/>
          </a:solidFill>
          <a:ln w="12700">
            <a:solidFill>
              <a:srgbClr val="0F3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73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903720" cy="274320"/>
          </a:xfrm>
          <a:prstGeom prst="roundRect">
            <a:avLst>
              <a:gd name="adj" fmla="val 50000"/>
            </a:avLst>
          </a:prstGeom>
          <a:solidFill>
            <a:srgbClr val="4CC9F0">
              <a:alpha val="18000"/>
            </a:srgbClr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28016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RESEARCH CITATIONS (2023–2025)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1783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(IEEE ICSOS, 2025)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1671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for Optical Satellite Communications: The ALIGN UK Mission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PAT handover: coarse-to-fine transition dynamics and ≤ 2 s acquisition SLA.</a:t>
            </a:r>
            <a:endParaRPr lang="en-US" sz="88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282549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10.1109/icsos66026.2025.11443125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005072" y="1691640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1480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645152" y="1783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Sun, Wang, Wu &amp; Liu (MDPI Photonics, 2024)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142232" y="21671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Tracking of FSO Communication System on Mobile Platforms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4142232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 dynamics: multi-axis jitter rejection (±20 px/frame).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4142232" y="282549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10.3390/photonics11100900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3191256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3282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3282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Saha, Qin, Li, Ye &amp; Jayasuriya (CVPR, 2024)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366674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Turb-Seg-Res: Segment-then-Restore for Dynamic Videos with Atmospheric Turbulence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40325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segmentation under refractive shimmer.</a:t>
            </a:r>
            <a:endParaRPr lang="en-US" sz="880" dirty="0"/>
          </a:p>
        </p:txBody>
      </p:sp>
      <p:sp>
        <p:nvSpPr>
          <p:cNvPr id="30" name="Text 27"/>
          <p:cNvSpPr txBox="1"/>
          <p:nvPr/>
        </p:nvSpPr>
        <p:spPr>
          <a:xfrm>
            <a:off x="594360" y="432511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10.1109/CVPR52733.2024.02389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005072" y="3191256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0" y="3282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645152" y="3282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Qin, Saha, Chung, Jayasuriya, Ye &amp; Li (ECCV, 2024)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142232" y="366674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Moving Object Segmentation with Atmospheric Turbulence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4142232" y="40325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faint moving beacons under haze, fog and scintillation.</a:t>
            </a:r>
            <a:endParaRPr lang="en-US" sz="880" dirty="0"/>
          </a:p>
        </p:txBody>
      </p:sp>
      <p:sp>
        <p:nvSpPr>
          <p:cNvPr id="36" name="Text 33"/>
          <p:cNvSpPr txBox="1"/>
          <p:nvPr/>
        </p:nvSpPr>
        <p:spPr>
          <a:xfrm>
            <a:off x="4142232" y="432511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10.1007/978-3-031-72658-3_2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690872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66928" y="4782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097280" y="4782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Xie, Liu, Mo &amp; Zeng (MDPI Remote Sensing, 2023)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94360" y="51663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Extraction of Laser Spots Captured by Infrared Detectors Combining Observation Data</a:t>
            </a:r>
            <a:endParaRPr lang="en-US" sz="92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5321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Gaussian diffusion: &lt; 0.2 px centroid accuracy under noise.</a:t>
            </a:r>
            <a:endParaRPr lang="en-US" sz="880" dirty="0"/>
          </a:p>
        </p:txBody>
      </p:sp>
      <p:sp>
        <p:nvSpPr>
          <p:cNvPr id="42" name="Text 39"/>
          <p:cNvSpPr txBox="1"/>
          <p:nvPr/>
        </p:nvSpPr>
        <p:spPr>
          <a:xfrm>
            <a:off x="594360" y="582472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10.3390/rs15082129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005072" y="4690872"/>
            <a:ext cx="3355848" cy="1389888"/>
          </a:xfrm>
          <a:prstGeom prst="roundRect">
            <a:avLst>
              <a:gd name="adj" fmla="val 7895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114800" y="4782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4645152" y="4782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&amp; Kaddoum (IEEE COMST, 2017)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4142232" y="51663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Communication in Space: Challenges and Mitigation Techniques</a:t>
            </a:r>
            <a:endParaRPr lang="en-US" sz="920" dirty="0"/>
          </a:p>
        </p:txBody>
      </p:sp>
      <p:sp>
        <p:nvSpPr>
          <p:cNvPr id="47" name="Text 44"/>
          <p:cNvSpPr txBox="1"/>
          <p:nvPr/>
        </p:nvSpPr>
        <p:spPr>
          <a:xfrm>
            <a:off x="4142232" y="55321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survey for Beer–Lambert extinction and scintillation channels.</a:t>
            </a:r>
            <a:endParaRPr lang="en-US" sz="880" dirty="0"/>
          </a:p>
        </p:txBody>
      </p:sp>
      <p:sp>
        <p:nvSpPr>
          <p:cNvPr id="48" name="Text 45"/>
          <p:cNvSpPr txBox="1"/>
          <p:nvPr/>
        </p:nvSpPr>
        <p:spPr>
          <a:xfrm>
            <a:off x="4142232" y="582472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</a:t>
            </a:r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10.1109/COMST.2016.2603518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589520" y="1280160"/>
            <a:ext cx="4142232" cy="274320"/>
          </a:xfrm>
          <a:prstGeom prst="roundRect">
            <a:avLst>
              <a:gd name="adj" fmla="val 50000"/>
            </a:avLst>
          </a:prstGeom>
          <a:solidFill>
            <a:srgbClr val="FF8A1F">
              <a:alpha val="18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589520" y="128016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PROOF &amp; VERIFICATION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589520" y="1691640"/>
            <a:ext cx="4142232" cy="777240"/>
          </a:xfrm>
          <a:prstGeom prst="roundRect">
            <a:avLst>
              <a:gd name="adj" fmla="val 14118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0" y="1828800"/>
            <a:ext cx="292608" cy="292608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8138160" y="17556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GitHub repository</a:t>
            </a:r>
            <a:endParaRPr lang="en-US" sz="1050" dirty="0"/>
          </a:p>
        </p:txBody>
      </p:sp>
      <p:sp>
        <p:nvSpPr>
          <p:cNvPr id="54" name="Text 50">
            <a:hlinkClick r:id="rId10" tooltip=""/>
          </p:cNvPr>
          <p:cNvSpPr txBox="1"/>
          <p:nvPr/>
        </p:nvSpPr>
        <p:spPr>
          <a:xfrm>
            <a:off x="7726680" y="2066544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github.com/jvstin47/Phoenix-X-AI-Based-Virtual-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3DF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Camera-Tracking-System-SIH26169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7589520" y="2578608"/>
            <a:ext cx="4142232" cy="1481328"/>
          </a:xfrm>
          <a:prstGeom prst="roundRect">
            <a:avLst>
              <a:gd name="adj" fmla="val 7407"/>
            </a:avLst>
          </a:prstGeom>
          <a:solidFill>
            <a:srgbClr val="0F1A38">
              <a:alpha val="92000"/>
            </a:srgbClr>
          </a:solidFill>
          <a:ln w="9525">
            <a:solidFill>
              <a:srgbClr val="263A6B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726680" y="265176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 &amp; ENGINEERING DELIVERABLES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7726680" y="2907792"/>
            <a:ext cx="38679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boundary: </a:t>
            </a:r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PAT &amp; reacquisition (109.1 μrad/px). Fine pointing (FSM, QPD, BER, link budget) is handled at hand-over.</a:t>
            </a:r>
            <a:endParaRPr lang="en-US" sz="88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engine: </a:t>
            </a:r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src/experiments/scientific_benchmark.py (SNR, latency H1, reacquisition H2, maneuver sweeps).</a:t>
            </a:r>
            <a:endParaRPr lang="en-US" sz="88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releases: </a:t>
            </a:r>
            <a:pPr indent="0" marL="0">
              <a:buNone/>
            </a:pPr>
            <a:r>
              <a:rPr lang="en-US" sz="88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macOS 61 MB DMG (arm64) + Windows 1-click CI/CD binaries.</a:t>
            </a:r>
            <a:endParaRPr lang="en-US" sz="880" dirty="0"/>
          </a:p>
        </p:txBody>
      </p:sp>
      <p:sp>
        <p:nvSpPr>
          <p:cNvPr id="58" name="Shape 54"/>
          <p:cNvSpPr/>
          <p:nvPr/>
        </p:nvSpPr>
        <p:spPr>
          <a:xfrm>
            <a:off x="7589520" y="4169664"/>
            <a:ext cx="4142232" cy="2139696"/>
          </a:xfrm>
          <a:prstGeom prst="roundRect">
            <a:avLst>
              <a:gd name="adj" fmla="val 5128"/>
            </a:avLst>
          </a:prstGeom>
          <a:solidFill>
            <a:srgbClr val="0F1A38">
              <a:alpha val="96000"/>
            </a:srgbClr>
          </a:solidFill>
          <a:ln w="9525">
            <a:solidFill>
              <a:srgbClr val="3DF2A5"/>
            </a:solidFill>
            <a:prstDash val="solid"/>
          </a:ln>
        </p:spPr>
      </p:sp>
      <p:pic>
        <p:nvPicPr>
          <p:cNvPr id="59" name="Image 2" descr="assets/cockpit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772400" y="4224528"/>
            <a:ext cx="3776472" cy="1783080"/>
          </a:xfrm>
          <a:prstGeom prst="rect">
            <a:avLst/>
          </a:prstGeom>
        </p:spPr>
      </p:pic>
      <p:sp>
        <p:nvSpPr>
          <p:cNvPr id="60" name="Text 55"/>
          <p:cNvSpPr txBox="1"/>
          <p:nvPr/>
        </p:nvSpPr>
        <p:spPr>
          <a:xfrm>
            <a:off x="7726680" y="603504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software cockpit (main.py)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X – SIH26169</dc:title>
  <dc:subject>PptxGenJS Presentation</dc:subject>
  <dc:creator>Team Phoenix X</dc:creator>
  <cp:lastModifiedBy>Team Phoenix X</cp:lastModifiedBy>
  <cp:revision>1</cp:revision>
  <dcterms:created xsi:type="dcterms:W3CDTF">2026-10-03T02:28:10Z</dcterms:created>
  <dcterms:modified xsi:type="dcterms:W3CDTF">2026-10-03T02:28:10Z</dcterms:modified>
</cp:coreProperties>
</file>