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352" y="1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347001"/>
            <a:ext cx="6005719" cy="616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sz="2200"/>
              <a:t>SIH 26169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0" sz="1400"/>
              <a:t>Development of an AI-Based Virtual Camera Tracking System for Coarse Alignment of Mobile Free Space Optical Communication (FSOC) Terminals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700"/>
              <a:t>Space Technology &amp;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sz="1700"/>
              <a:t>Software (ISRO / Space Applications Centre)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sz="1900"/>
              <a:t>Team ID: 141943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sz="2400"/>
              <a:t>Phoenix X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sz="2800" b="1">
                <a:latin typeface="Times New Roman"/>
              </a:rPr>
              <a:t>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3523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Phoenix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594360" y="89611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C757D"/>
                </a:solidFill>
                <a:latin typeface="Arial"/>
              </a:defRPr>
            </a:pPr>
            <a:r>
              <a:t>PROJECT PHOENIX: AI-Based Virtual Camera Tracking System for Mobile FSOC  |  SIH 26169 (ISRO / SAC)</a:t>
            </a:r>
          </a:p>
        </p:txBody>
      </p:sp>
      <p:sp>
        <p:nvSpPr>
          <p:cNvPr id="15364" name="Rectangle 15363"/>
          <p:cNvSpPr/>
          <p:nvPr/>
        </p:nvSpPr>
        <p:spPr>
          <a:xfrm>
            <a:off x="594360" y="1234440"/>
            <a:ext cx="3520440" cy="4937760"/>
          </a:xfrm>
          <a:prstGeom prst="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685800" y="1325880"/>
            <a:ext cx="333756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C00000"/>
                </a:solidFill>
              </a:defRPr>
            </a:pPr>
            <a:r>
              <a:t>TRADITIONAL FSOC POINTING</a:t>
            </a:r>
            <a:br/>
            <a:r>
              <a:t>(Current Operational Limitations)</a:t>
            </a:r>
          </a:p>
          <a:p>
            <a:pPr>
              <a:spcAft>
                <a:spcPts val="300"/>
              </a:spcAft>
              <a:defRPr sz="950">
                <a:solidFill>
                  <a:srgbClr val="212529"/>
                </a:solidFill>
              </a:defRPr>
            </a:pPr>
            <a:r>
              <a:t>• Manual / Open-Loop Pointing: Uncertainty cones lead to prolonged search &amp; lost laser links.</a:t>
            </a:r>
          </a:p>
          <a:p>
            <a:pPr>
              <a:spcAft>
                <a:spcPts val="300"/>
              </a:spcAft>
              <a:defRPr sz="950">
                <a:solidFill>
                  <a:srgbClr val="212529"/>
                </a:solidFill>
              </a:defRPr>
            </a:pPr>
            <a:r>
              <a:t>• Scintillation &amp; Fog Blindness: Atmospheric turbulence drops SNR below detection thresholds.</a:t>
            </a:r>
          </a:p>
          <a:p>
            <a:pPr>
              <a:spcAft>
                <a:spcPts val="300"/>
              </a:spcAft>
              <a:defRPr sz="950">
                <a:solidFill>
                  <a:srgbClr val="212529"/>
                </a:solidFill>
              </a:defRPr>
            </a:pPr>
            <a:r>
              <a:t>• Noise Centroid Hijacking: 10% Salt &amp; Pepper noise corrupts naive first-order moment calculations.</a:t>
            </a:r>
          </a:p>
          <a:p>
            <a:pPr>
              <a:spcAft>
                <a:spcPts val="300"/>
              </a:spcAft>
              <a:defRPr sz="950">
                <a:solidFill>
                  <a:srgbClr val="212529"/>
                </a:solidFill>
              </a:defRPr>
            </a:pPr>
            <a:r>
              <a:t>• Motor Slew Violations: Abrupt gimbal commands exceed motor inertia limits (5-10°/s).</a:t>
            </a:r>
          </a:p>
          <a:p>
            <a:pPr>
              <a:spcAft>
                <a:spcPts val="300"/>
              </a:spcAft>
              <a:defRPr sz="950">
                <a:solidFill>
                  <a:srgbClr val="212529"/>
                </a:solidFill>
              </a:defRPr>
            </a:pPr>
            <a:r>
              <a:t>• ₹50L+ Testbed Cost: Demands expensive physical vacuum chambers and piezo steering benches.</a:t>
            </a:r>
          </a:p>
          <a:p>
            <a:br/>
            <a:pPr>
              <a:spcAft>
                <a:spcPts val="400"/>
              </a:spcAft>
              <a:defRPr b="1" sz="1100">
                <a:solidFill>
                  <a:srgbClr val="107C41"/>
                </a:solidFill>
              </a:defRPr>
            </a:pPr>
            <a:r>
              <a:t>PHOENIX COARSE TRACKING</a:t>
            </a:r>
            <a:br/>
            <a:r>
              <a:t>(Our Autonomous Software Solution)</a:t>
            </a:r>
          </a:p>
          <a:p>
            <a:pPr>
              <a:spcAft>
                <a:spcPts val="300"/>
              </a:spcAft>
              <a:defRPr sz="950">
                <a:solidFill>
                  <a:srgbClr val="212529"/>
                </a:solidFill>
              </a:defRPr>
            </a:pPr>
            <a:r>
              <a:t>✔ Closed-Loop SIL Tracking: Rapid lock in ≤ 0.8 s across a 2000x2000 global universe.</a:t>
            </a:r>
          </a:p>
          <a:p>
            <a:pPr>
              <a:spcAft>
                <a:spcPts val="300"/>
              </a:spcAft>
              <a:defRPr sz="950">
                <a:solidFill>
                  <a:srgbClr val="212529"/>
                </a:solidFill>
              </a:defRPr>
            </a:pPr>
            <a:r>
              <a:t>✔ Vectorized Rank Denoising: Completely strips 10% S&amp;P noise in 0.8 ms before detection.</a:t>
            </a:r>
          </a:p>
          <a:p>
            <a:pPr>
              <a:spcAft>
                <a:spcPts val="300"/>
              </a:spcAft>
              <a:defRPr sz="950">
                <a:solidFill>
                  <a:srgbClr val="212529"/>
                </a:solidFill>
              </a:defRPr>
            </a:pPr>
            <a:r>
              <a:t>✔ Sub-Pixel 2D Gaussian Fit: Centroid error &lt; 0.2 px (far exceeding ISRO's ≤ 10 px mandate).</a:t>
            </a:r>
          </a:p>
          <a:p>
            <a:pPr>
              <a:spcAft>
                <a:spcPts val="300"/>
              </a:spcAft>
              <a:defRPr sz="950">
                <a:solidFill>
                  <a:srgbClr val="212529"/>
                </a:solidFill>
              </a:defRPr>
            </a:pPr>
            <a:r>
              <a:t>✔ Clamped Slew-Rate Servo: Enforces 5-10°/s limits with velocity feedforward anti-windup PID.</a:t>
            </a:r>
          </a:p>
          <a:p>
            <a:pPr>
              <a:spcAft>
                <a:spcPts val="300"/>
              </a:spcAft>
              <a:defRPr sz="950">
                <a:solidFill>
                  <a:srgbClr val="212529"/>
                </a:solidFill>
              </a:defRPr>
            </a:pPr>
            <a:r>
              <a:t>✔ Zero-Capex Accessibility: 100% software-based test platform running at ≥ 35 FPS on CPU.</a:t>
            </a:r>
          </a:p>
        </p:txBody>
      </p:sp>
      <p:sp>
        <p:nvSpPr>
          <p:cNvPr id="15366" name="Rectangle 15365"/>
          <p:cNvSpPr/>
          <p:nvPr/>
        </p:nvSpPr>
        <p:spPr>
          <a:xfrm>
            <a:off x="4251960" y="1234440"/>
            <a:ext cx="3977639" cy="4937760"/>
          </a:xfrm>
          <a:prstGeom prst="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4389120" y="1325880"/>
            <a:ext cx="370332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102542"/>
                </a:solidFill>
              </a:defRPr>
            </a:pPr>
            <a:r>
              <a:t>PROPOSED SOLUTION ARCHITECTURE</a:t>
            </a:r>
            <a:br/>
            <a:r>
              <a:t>(Three-Tier Decoupled Pipeline)</a:t>
            </a:r>
          </a:p>
          <a:p>
            <a:pPr>
              <a:spcAft>
                <a:spcPts val="200"/>
              </a:spcAft>
              <a:defRPr b="1" sz="1050">
                <a:solidFill>
                  <a:srgbClr val="0D6EFD"/>
                </a:solidFill>
              </a:defRPr>
            </a:pPr>
            <a:r>
              <a:t>TIER 1: KINEMATICS &amp; VIRTUAL GIMBAL</a:t>
            </a:r>
          </a:p>
          <a:p>
            <a:pPr>
              <a:spcAft>
                <a:spcPts val="200"/>
              </a:spcAft>
              <a:defRPr sz="919">
                <a:solidFill>
                  <a:srgbClr val="212529"/>
                </a:solidFill>
              </a:defRPr>
            </a:pPr>
            <a:r>
              <a:t>• 2000x2000 px world coordinate space resolving 22.5 arcsec/px.</a:t>
            </a:r>
          </a:p>
          <a:p>
            <a:pPr>
              <a:spcAft>
                <a:spcPts val="200"/>
              </a:spcAft>
              <a:defRPr sz="919">
                <a:solidFill>
                  <a:srgbClr val="212529"/>
                </a:solidFill>
              </a:defRPr>
            </a:pPr>
            <a:r>
              <a:t>• Non-linear trajectory generation: Lemniscate of Bernoulli (Fig-8), Circular, Sinusoidal, and Singer random walk.</a:t>
            </a:r>
          </a:p>
          <a:p>
            <a:pPr>
              <a:spcAft>
                <a:spcPts val="200"/>
              </a:spcAft>
              <a:defRPr sz="919">
                <a:solidFill>
                  <a:srgbClr val="212529"/>
                </a:solidFill>
              </a:defRPr>
            </a:pPr>
            <a:r>
              <a:t>• 640x480 Monochrome FPA windowing with physical pan/tilt slew constraints (5-10°/s) and S-curve inertia.</a:t>
            </a:r>
          </a:p>
          <a:p>
            <a:pPr>
              <a:spcAft>
                <a:spcPts val="200"/>
              </a:spcAft>
              <a:defRPr b="1" sz="1050">
                <a:solidFill>
                  <a:srgbClr val="0D6EFD"/>
                </a:solidFill>
              </a:defRPr>
            </a:pPr>
            <a:r>
              <a:t>TIER 2: OPTICAL PHYSICS &amp; ATMOSPHERIC CHANNEL</a:t>
            </a:r>
          </a:p>
          <a:p>
            <a:pPr>
              <a:spcAft>
                <a:spcPts val="200"/>
              </a:spcAft>
              <a:defRPr sz="919">
                <a:solidFill>
                  <a:srgbClr val="212529"/>
                </a:solidFill>
              </a:defRPr>
            </a:pPr>
            <a:r>
              <a:t>• Diffraction-limited Airy disc spot generator (5x5 to 20x20 px).</a:t>
            </a:r>
          </a:p>
          <a:p>
            <a:pPr>
              <a:spcAft>
                <a:spcPts val="200"/>
              </a:spcAft>
              <a:defRPr sz="919">
                <a:solidFill>
                  <a:srgbClr val="212529"/>
                </a:solidFill>
              </a:defRPr>
            </a:pPr>
            <a:r>
              <a:t>• Beer-Lambert transmission attenuation (Clear, Fog, Haze, Rain).</a:t>
            </a:r>
          </a:p>
          <a:p>
            <a:pPr>
              <a:spcAft>
                <a:spcPts val="200"/>
              </a:spcAft>
              <a:defRPr sz="919">
                <a:solidFill>
                  <a:srgbClr val="212529"/>
                </a:solidFill>
              </a:defRPr>
            </a:pPr>
            <a:r>
              <a:t>• Vectorized disturbance injection: Poisson shot noise, Gaussian thermal sensor noise, and multi-harmonic platform jitter (±20 px/frame).</a:t>
            </a:r>
          </a:p>
          <a:p>
            <a:pPr>
              <a:spcAft>
                <a:spcPts val="200"/>
              </a:spcAft>
              <a:defRPr b="1" sz="1050">
                <a:solidFill>
                  <a:srgbClr val="0D6EFD"/>
                </a:solidFill>
              </a:defRPr>
            </a:pPr>
            <a:r>
              <a:t>TIER 3: EDGE AI PERCEPTION &amp; IMM-KALMAN CONTROL</a:t>
            </a:r>
          </a:p>
          <a:p>
            <a:pPr>
              <a:spcAft>
                <a:spcPts val="200"/>
              </a:spcAft>
              <a:defRPr sz="919">
                <a:solidFill>
                  <a:srgbClr val="212529"/>
                </a:solidFill>
              </a:defRPr>
            </a:pPr>
            <a:r>
              <a:t>• Stage 1: Rank-order median filtering (clears impulsive noise).</a:t>
            </a:r>
          </a:p>
          <a:p>
            <a:pPr>
              <a:spcAft>
                <a:spcPts val="200"/>
              </a:spcAft>
              <a:defRPr sz="919">
                <a:solidFill>
                  <a:srgbClr val="212529"/>
                </a:solidFill>
              </a:defRPr>
            </a:pPr>
            <a:r>
              <a:t>• Stage 2: Saliency heatmap regression isolates ROI candidates.</a:t>
            </a:r>
          </a:p>
          <a:p>
            <a:pPr>
              <a:spcAft>
                <a:spcPts val="200"/>
              </a:spcAft>
              <a:defRPr sz="919">
                <a:solidFill>
                  <a:srgbClr val="212529"/>
                </a:solidFill>
              </a:defRPr>
            </a:pPr>
            <a:r>
              <a:t>• Stage 3: Continuous 2D Gaussian gray-diffusion surface fit.</a:t>
            </a:r>
          </a:p>
          <a:p>
            <a:pPr>
              <a:spcAft>
                <a:spcPts val="200"/>
              </a:spcAft>
              <a:defRPr sz="919">
                <a:solidFill>
                  <a:srgbClr val="212529"/>
                </a:solidFill>
              </a:defRPr>
            </a:pPr>
            <a:r>
              <a:t>• Stage 4: Interacting Multiple Model (IMM-KF) predictive servo.</a:t>
            </a:r>
          </a:p>
        </p:txBody>
      </p:sp>
      <p:sp>
        <p:nvSpPr>
          <p:cNvPr id="15368" name="Rectangle 15367"/>
          <p:cNvSpPr/>
          <p:nvPr/>
        </p:nvSpPr>
        <p:spPr>
          <a:xfrm>
            <a:off x="8366760" y="1234440"/>
            <a:ext cx="3200400" cy="4937760"/>
          </a:xfrm>
          <a:prstGeom prst="rect">
            <a:avLst/>
          </a:prstGeom>
          <a:solidFill>
            <a:srgbClr val="F6F8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8458200" y="1325880"/>
            <a:ext cx="301752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C00000"/>
                </a:solidFill>
              </a:defRPr>
            </a:pPr>
            <a:r>
              <a:t>INNOVATION &amp; UNIQUENESS</a:t>
            </a:r>
            <a:br/>
            <a:r>
              <a:t>(Key Technical Differentiators)</a:t>
            </a:r>
          </a:p>
          <a:p>
            <a:pPr>
              <a:spcAft>
                <a:spcPts val="100"/>
              </a:spcAft>
              <a:defRPr b="1" sz="1000">
                <a:solidFill>
                  <a:srgbClr val="102542"/>
                </a:solidFill>
              </a:defRPr>
            </a:pPr>
            <a:r>
              <a:t>★ SUB-PIXEL GRAY-DIFFUSION</a:t>
            </a:r>
          </a:p>
          <a:p>
            <a:pPr>
              <a:spcAft>
                <a:spcPts val="400"/>
              </a:spcAft>
              <a:defRPr sz="880">
                <a:solidFill>
                  <a:srgbClr val="212529"/>
                </a:solidFill>
              </a:defRPr>
            </a:pPr>
            <a:r>
              <a:t>Analytical bivariate Gaussian fitting eliminates pixel quantization errors, guaranteeing &lt; 0.2 px centroid accuracy under dense noise.</a:t>
            </a:r>
          </a:p>
          <a:p>
            <a:pPr>
              <a:spcAft>
                <a:spcPts val="100"/>
              </a:spcAft>
              <a:defRPr b="1" sz="1000">
                <a:solidFill>
                  <a:srgbClr val="102542"/>
                </a:solidFill>
              </a:defRPr>
            </a:pPr>
            <a:r>
              <a:t>★ IMM MULTI-MODEL FILTER</a:t>
            </a:r>
          </a:p>
          <a:p>
            <a:pPr>
              <a:spcAft>
                <a:spcPts val="400"/>
              </a:spcAft>
              <a:defRPr sz="880">
                <a:solidFill>
                  <a:srgbClr val="212529"/>
                </a:solidFill>
              </a:defRPr>
            </a:pPr>
            <a:r>
              <a:t>Blends Constant Velocity (CV) and Coordinated Turn (CT) kinematic states, eliminating tracking lag during sharp Figure-8 reversals.</a:t>
            </a:r>
          </a:p>
          <a:p>
            <a:pPr>
              <a:spcAft>
                <a:spcPts val="100"/>
              </a:spcAft>
              <a:defRPr b="1" sz="1000">
                <a:solidFill>
                  <a:srgbClr val="102542"/>
                </a:solidFill>
              </a:defRPr>
            </a:pPr>
            <a:r>
              <a:t>★ ISRO BENCHMARK-2 BYPASS</a:t>
            </a:r>
          </a:p>
          <a:p>
            <a:pPr>
              <a:spcAft>
                <a:spcPts val="400"/>
              </a:spcAft>
              <a:defRPr sz="880">
                <a:solidFill>
                  <a:srgbClr val="212529"/>
                </a:solidFill>
              </a:defRPr>
            </a:pPr>
            <a:r>
              <a:t>Dedicated decoupled ingestion pipeline that takes raw external .mp4 video files, bypasses PTZ, and auto-generates RMSE audits.</a:t>
            </a:r>
          </a:p>
          <a:p>
            <a:pPr>
              <a:spcAft>
                <a:spcPts val="100"/>
              </a:spcAft>
              <a:defRPr b="1" sz="1000">
                <a:solidFill>
                  <a:srgbClr val="102542"/>
                </a:solidFill>
              </a:defRPr>
            </a:pPr>
            <a:r>
              <a:t>★ DETERMINISTIC CPU RUNTIME</a:t>
            </a:r>
          </a:p>
          <a:p>
            <a:pPr>
              <a:spcAft>
                <a:spcPts val="400"/>
              </a:spcAft>
              <a:defRPr sz="880">
                <a:solidFill>
                  <a:srgbClr val="212529"/>
                </a:solidFill>
              </a:defRPr>
            </a:pPr>
            <a:r>
              <a:t>Under 21 ms total frame latency, delivering ≥ 35 FPS on standard consumer dual-core CPUs with zero discrete GPU requirement.</a:t>
            </a:r>
          </a:p>
          <a:p>
            <a:pPr>
              <a:spcAft>
                <a:spcPts val="100"/>
              </a:spcAft>
              <a:defRPr b="1" sz="1000">
                <a:solidFill>
                  <a:srgbClr val="102542"/>
                </a:solidFill>
              </a:defRPr>
            </a:pPr>
            <a:r>
              <a:t>★ ZERO-CAPEX SIL PLATFORM</a:t>
            </a:r>
          </a:p>
          <a:p>
            <a:pPr>
              <a:spcAft>
                <a:spcPts val="400"/>
              </a:spcAft>
              <a:defRPr sz="880">
                <a:solidFill>
                  <a:srgbClr val="212529"/>
                </a:solidFill>
              </a:defRPr>
            </a:pPr>
            <a:r>
              <a:t>Saves ₹50L+ per testing campaign, enabling repeatable Monte Carlo stress testing against space optical anomalies.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Phoenix 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94360" y="89611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C757D"/>
                </a:solidFill>
                <a:latin typeface="Arial"/>
              </a:defRPr>
            </a:pPr>
            <a:r>
              <a:t>PROJECT PHOENIX: AI-Based Virtual Camera Tracking System for Mobile FSOC  |  SIH 26169 (ISRO / SAC)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594360" y="1234440"/>
            <a:ext cx="5349240" cy="4937760"/>
          </a:xfrm>
          <a:prstGeom prst="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731520" y="1325880"/>
            <a:ext cx="507492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102542"/>
                </a:solidFill>
              </a:defRPr>
            </a:pPr>
            <a:r>
              <a:t>IMPLEMENTATION WORKFLOW &amp; CONTROL PIPELINE</a:t>
            </a:r>
          </a:p>
          <a:p>
            <a:pPr>
              <a:spcAft>
                <a:spcPts val="100"/>
              </a:spcAft>
              <a:defRPr b="1" sz="1000">
                <a:solidFill>
                  <a:srgbClr val="0D6EFD"/>
                </a:solidFill>
              </a:defRPr>
            </a:pPr>
            <a:r>
              <a:t>1. Global Universe Kinematic Propagation</a:t>
            </a:r>
          </a:p>
          <a:p>
            <a:pPr>
              <a:spcAft>
                <a:spcPts val="400"/>
              </a:spcAft>
              <a:defRPr sz="880">
                <a:solidFill>
                  <a:srgbClr val="212529"/>
                </a:solidFill>
              </a:defRPr>
            </a:pPr>
            <a:r>
              <a:t>Beacon moves across 2000x2000 space via parametric trajectories (Lemniscate, Circular, Sinusoidal, Singer Walk). Resolves angular scale to 22.5 arcsec/px.</a:t>
            </a:r>
          </a:p>
          <a:p>
            <a:pPr>
              <a:spcAft>
                <a:spcPts val="100"/>
              </a:spcAft>
              <a:defRPr b="1" sz="1000">
                <a:solidFill>
                  <a:srgbClr val="0D6EFD"/>
                </a:solidFill>
              </a:defRPr>
            </a:pPr>
            <a:r>
              <a:t>2. Platform Multi-Harmonic Jitter Synthesis</a:t>
            </a:r>
          </a:p>
          <a:p>
            <a:pPr>
              <a:spcAft>
                <a:spcPts val="400"/>
              </a:spcAft>
              <a:defRPr sz="880">
                <a:solidFill>
                  <a:srgbClr val="212529"/>
                </a:solidFill>
              </a:defRPr>
            </a:pPr>
            <a:r>
              <a:t>Injects ±20 px/frame 6-DoF angular disturbances simulating satellite reaction wheel resonance and aircraft aerodynamic vibration.</a:t>
            </a:r>
          </a:p>
          <a:p>
            <a:pPr>
              <a:spcAft>
                <a:spcPts val="100"/>
              </a:spcAft>
              <a:defRPr b="1" sz="1000">
                <a:solidFill>
                  <a:srgbClr val="0D6EFD"/>
                </a:solidFill>
              </a:defRPr>
            </a:pPr>
            <a:r>
              <a:t>3. Optical &amp; Atmospheric Channel Degradation</a:t>
            </a:r>
          </a:p>
          <a:p>
            <a:pPr>
              <a:spcAft>
                <a:spcPts val="400"/>
              </a:spcAft>
              <a:defRPr sz="880">
                <a:solidFill>
                  <a:srgbClr val="212529"/>
                </a:solidFill>
              </a:defRPr>
            </a:pPr>
            <a:r>
              <a:t>Renders diffraction-limited Airy disc spot profile, convolving Beer-Lambert fog/haze attenuation, Poisson shot noise, and 10% Salt &amp; Pepper noise.</a:t>
            </a:r>
          </a:p>
          <a:p>
            <a:pPr>
              <a:spcAft>
                <a:spcPts val="100"/>
              </a:spcAft>
              <a:defRPr b="1" sz="1000">
                <a:solidFill>
                  <a:srgbClr val="0D6EFD"/>
                </a:solidFill>
              </a:defRPr>
            </a:pPr>
            <a:r>
              <a:t>4. Virtual PTZ Pinhole Viewport Windowing</a:t>
            </a:r>
          </a:p>
          <a:p>
            <a:pPr>
              <a:spcAft>
                <a:spcPts val="400"/>
              </a:spcAft>
              <a:defRPr sz="880">
                <a:solidFill>
                  <a:srgbClr val="212529"/>
                </a:solidFill>
              </a:defRPr>
            </a:pPr>
            <a:r>
              <a:t>Crops 640x480 active sensor feed (4°x3° FOV) based on motorized gimbal pan/tilt angles with physical inertia and rate limits.</a:t>
            </a:r>
          </a:p>
          <a:p>
            <a:pPr>
              <a:spcAft>
                <a:spcPts val="100"/>
              </a:spcAft>
              <a:defRPr b="1" sz="1000">
                <a:solidFill>
                  <a:srgbClr val="0D6EFD"/>
                </a:solidFill>
              </a:defRPr>
            </a:pPr>
            <a:r>
              <a:t>5. Rank Denoising &amp; Sub-Pixel AI Centroiding</a:t>
            </a:r>
          </a:p>
          <a:p>
            <a:pPr>
              <a:spcAft>
                <a:spcPts val="400"/>
              </a:spcAft>
              <a:defRPr sz="880">
                <a:solidFill>
                  <a:srgbClr val="212529"/>
                </a:solidFill>
              </a:defRPr>
            </a:pPr>
            <a:r>
              <a:t>Rank-order median filtering clears impulsive noise in 0.8 ms. Deep Saliency heatmap isolates ROI. 2D Gaussian diffusion surface fits centroid with &lt; 0.2 px precision.</a:t>
            </a:r>
          </a:p>
          <a:p>
            <a:pPr>
              <a:spcAft>
                <a:spcPts val="100"/>
              </a:spcAft>
              <a:defRPr b="1" sz="1000">
                <a:solidFill>
                  <a:srgbClr val="0D6EFD"/>
                </a:solidFill>
              </a:defRPr>
            </a:pPr>
            <a:r>
              <a:t>6. IMM-Kalman Prediction &amp; Gimbal Servo Command</a:t>
            </a:r>
          </a:p>
          <a:p>
            <a:pPr>
              <a:spcAft>
                <a:spcPts val="400"/>
              </a:spcAft>
              <a:defRPr sz="880">
                <a:solidFill>
                  <a:srgbClr val="212529"/>
                </a:solidFill>
              </a:defRPr>
            </a:pPr>
            <a:r>
              <a:t>IMM filter blends CV &amp; CT states to predict velocity (dx/dt, dy/dt). Feeds anti-windup PID servo, strictly clamped to statutory 5-10°/s slew limits.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6080760" y="1234440"/>
            <a:ext cx="5486400" cy="4937760"/>
          </a:xfrm>
          <a:prstGeom prst="rect">
            <a:avLst/>
          </a:prstGeom>
          <a:solidFill>
            <a:srgbClr val="F6F8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6217920" y="1325880"/>
            <a:ext cx="521208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102542"/>
                </a:solidFill>
              </a:defRPr>
            </a:pPr>
            <a:r>
              <a:t>FULL-STACK TECHNOLOGY ECOSYSTEM</a:t>
            </a:r>
          </a:p>
          <a:p>
            <a:pPr>
              <a:spcAft>
                <a:spcPts val="300"/>
              </a:spcAft>
              <a:defRPr b="1" sz="950">
                <a:solidFill>
                  <a:srgbClr val="C00000"/>
                </a:solidFill>
              </a:defRPr>
            </a:pPr>
            <a:r>
              <a:t>■ Core Architecture: </a:t>
            </a:r>
            <a:r>
              <a:rPr b="0" sz="900">
                <a:solidFill>
                  <a:srgbClr val="212529"/>
                </a:solidFill>
              </a:rPr>
              <a:t>Python 3.11+ Native (High-IPC execution on ARM64 Apple Silicon &amp; x86_64 Windows)</a:t>
            </a:r>
          </a:p>
          <a:p>
            <a:pPr>
              <a:spcAft>
                <a:spcPts val="300"/>
              </a:spcAft>
              <a:defRPr b="1" sz="950">
                <a:solidFill>
                  <a:srgbClr val="C00000"/>
                </a:solidFill>
              </a:defRPr>
            </a:pPr>
            <a:r>
              <a:t>■ Simulation Engine: </a:t>
            </a:r>
            <a:r>
              <a:rPr b="0" sz="900">
                <a:solidFill>
                  <a:srgbClr val="212529"/>
                </a:solidFill>
              </a:rPr>
              <a:t>NumPy (Vectorized coordinate transformations &amp; multi-harmonic platform vibration arrays)</a:t>
            </a:r>
          </a:p>
          <a:p>
            <a:pPr>
              <a:spcAft>
                <a:spcPts val="300"/>
              </a:spcAft>
              <a:defRPr b="1" sz="950">
                <a:solidFill>
                  <a:srgbClr val="C00000"/>
                </a:solidFill>
              </a:defRPr>
            </a:pPr>
            <a:r>
              <a:t>■ Optical Physics: </a:t>
            </a:r>
            <a:r>
              <a:rPr b="0" sz="900">
                <a:solidFill>
                  <a:srgbClr val="212529"/>
                </a:solidFill>
              </a:rPr>
              <a:t>OpenCV &amp; SciPy (Airy disc diffraction convolution, Poisson noise, Beer-Lambert attenuation)</a:t>
            </a:r>
          </a:p>
          <a:p>
            <a:pPr>
              <a:spcAft>
                <a:spcPts val="300"/>
              </a:spcAft>
              <a:defRPr b="1" sz="950">
                <a:solidFill>
                  <a:srgbClr val="C00000"/>
                </a:solidFill>
              </a:defRPr>
            </a:pPr>
            <a:r>
              <a:t>■ Noise Suppression: </a:t>
            </a:r>
            <a:r>
              <a:rPr b="0" sz="900">
                <a:solidFill>
                  <a:srgbClr val="212529"/>
                </a:solidFill>
              </a:rPr>
              <a:t>SIMD-accelerated Median Rank Filtering (100% rejection of 10% S&amp;P noise in 0.8 ms)</a:t>
            </a:r>
          </a:p>
          <a:p>
            <a:pPr>
              <a:spcAft>
                <a:spcPts val="300"/>
              </a:spcAft>
              <a:defRPr b="1" sz="950">
                <a:solidFill>
                  <a:srgbClr val="C00000"/>
                </a:solidFill>
              </a:defRPr>
            </a:pPr>
            <a:r>
              <a:t>■ Edge AI Perception: </a:t>
            </a:r>
            <a:r>
              <a:rPr b="0" sz="900">
                <a:solidFill>
                  <a:srgbClr val="212529"/>
                </a:solidFill>
              </a:rPr>
              <a:t>PyTorch / ONNX Runtime (Quantized INT8 heatmap candidate localizer for low-contrast fog)</a:t>
            </a:r>
          </a:p>
          <a:p>
            <a:pPr>
              <a:spcAft>
                <a:spcPts val="300"/>
              </a:spcAft>
              <a:defRPr b="1" sz="950">
                <a:solidFill>
                  <a:srgbClr val="C00000"/>
                </a:solidFill>
              </a:defRPr>
            </a:pPr>
            <a:r>
              <a:t>■ Sub-Pixel Centroiding: </a:t>
            </a:r>
            <a:r>
              <a:rPr b="0" sz="900">
                <a:solidFill>
                  <a:srgbClr val="212529"/>
                </a:solidFill>
              </a:rPr>
              <a:t>Continuous 2D Gaussian gray-diffusion surface fitting (&lt; 0.2 px sub-pixel resolution)</a:t>
            </a:r>
          </a:p>
          <a:p>
            <a:pPr>
              <a:spcAft>
                <a:spcPts val="300"/>
              </a:spcAft>
              <a:defRPr b="1" sz="950">
                <a:solidFill>
                  <a:srgbClr val="C00000"/>
                </a:solidFill>
              </a:defRPr>
            </a:pPr>
            <a:r>
              <a:t>■ Kinematic Estimation: </a:t>
            </a:r>
            <a:r>
              <a:rPr b="0" sz="900">
                <a:solidFill>
                  <a:srgbClr val="212529"/>
                </a:solidFill>
              </a:rPr>
              <a:t>Interacting Multiple Model (IMM) Filter combining Constant Velocity &amp; Coordinated Turn</a:t>
            </a:r>
          </a:p>
          <a:p>
            <a:pPr>
              <a:spcAft>
                <a:spcPts val="300"/>
              </a:spcAft>
              <a:defRPr b="1" sz="950">
                <a:solidFill>
                  <a:srgbClr val="C00000"/>
                </a:solidFill>
              </a:defRPr>
            </a:pPr>
            <a:r>
              <a:t>■ Servo Control Loop: </a:t>
            </a:r>
            <a:r>
              <a:rPr b="0" sz="900">
                <a:solidFill>
                  <a:srgbClr val="212529"/>
                </a:solidFill>
              </a:rPr>
              <a:t>Feedforward Predictive Anti-Windup PID (Strict 5-10°/s physical slew rate clamping)</a:t>
            </a:r>
          </a:p>
          <a:p>
            <a:pPr>
              <a:spcAft>
                <a:spcPts val="300"/>
              </a:spcAft>
              <a:defRPr b="1" sz="950">
                <a:solidFill>
                  <a:srgbClr val="C00000"/>
                </a:solidFill>
              </a:defRPr>
            </a:pPr>
            <a:r>
              <a:t>■ Tactical Cockpit GUI: </a:t>
            </a:r>
            <a:r>
              <a:rPr b="0" sz="900">
                <a:solidFill>
                  <a:srgbClr val="212529"/>
                </a:solidFill>
              </a:rPr>
              <a:t>PyQt6 / QPainter Hardware-Accelerated Viewport (Dual Universe/Camera HUD @ 60 Hz)</a:t>
            </a:r>
          </a:p>
          <a:p>
            <a:pPr>
              <a:spcAft>
                <a:spcPts val="300"/>
              </a:spcAft>
              <a:defRPr b="1" sz="950">
                <a:solidFill>
                  <a:srgbClr val="C00000"/>
                </a:solidFill>
              </a:defRPr>
            </a:pPr>
            <a:r>
              <a:t>■ Compliance Suite: </a:t>
            </a:r>
            <a:r>
              <a:rPr b="0" sz="900">
                <a:solidFill>
                  <a:srgbClr val="212529"/>
                </a:solidFill>
              </a:rPr>
              <a:t>Automated CSV/PDF Benchmark-2 audit engine logging RMSE, latency, and lock retention</a:t>
            </a:r>
          </a:p>
          <a:p>
            <a:pPr>
              <a:spcAft>
                <a:spcPts val="300"/>
              </a:spcAft>
              <a:defRPr b="1" sz="950">
                <a:solidFill>
                  <a:srgbClr val="C00000"/>
                </a:solidFill>
              </a:defRPr>
            </a:pPr>
            <a:r>
              <a:t>■ Cross-Platform CI: </a:t>
            </a:r>
            <a:r>
              <a:rPr b="0" sz="900">
                <a:solidFill>
                  <a:srgbClr val="212529"/>
                </a:solidFill>
              </a:rPr>
              <a:t>GitHub Actions CI pipeline compiling standalone Windows .exe and macOS app binaries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Phoenix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94360" y="89611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C757D"/>
                </a:solidFill>
                <a:latin typeface="Arial"/>
              </a:defRPr>
            </a:pPr>
            <a:r>
              <a:t>PROJECT PHOENIX: AI-Based Virtual Camera Tracking System for Mobile FSOC  |  SIH 26169 (ISRO / SAC)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594360" y="1234440"/>
            <a:ext cx="3291840" cy="4937760"/>
          </a:xfrm>
          <a:prstGeom prst="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685800" y="1325880"/>
            <a:ext cx="310896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102542"/>
                </a:solidFill>
              </a:defRPr>
            </a:pPr>
            <a:r>
              <a:t>FEASIBILITY ANALYSIS</a:t>
            </a:r>
            <a:br/>
            <a:r>
              <a:t>(Quantitative SLAs)</a:t>
            </a:r>
          </a:p>
          <a:p>
            <a:pPr>
              <a:spcAft>
                <a:spcPts val="100"/>
              </a:spcAft>
              <a:defRPr b="1" sz="950">
                <a:solidFill>
                  <a:srgbClr val="0D6EFD"/>
                </a:solidFill>
              </a:defRPr>
            </a:pPr>
            <a:r>
              <a:t>TECHNICAL FEASIBILITY</a:t>
            </a:r>
          </a:p>
          <a:p>
            <a:pPr>
              <a:spcAft>
                <a:spcPts val="150"/>
              </a:spcAft>
              <a:defRPr sz="850">
                <a:solidFill>
                  <a:srgbClr val="212529"/>
                </a:solidFill>
              </a:defRPr>
            </a:pPr>
            <a:r>
              <a:t>• FRAME LATENCY BUDGET (33.3 ms Ceiling):</a:t>
            </a:r>
          </a:p>
          <a:p>
            <a:pPr>
              <a:spcAft>
                <a:spcPts val="150"/>
              </a:spcAft>
              <a:defRPr sz="850">
                <a:solidFill>
                  <a:srgbClr val="212529"/>
                </a:solidFill>
              </a:defRPr>
            </a:pPr>
            <a:r>
              <a:t>  - Denoising: 0.8 ms</a:t>
            </a:r>
          </a:p>
          <a:p>
            <a:pPr>
              <a:spcAft>
                <a:spcPts val="150"/>
              </a:spcAft>
              <a:defRPr sz="850">
                <a:solidFill>
                  <a:srgbClr val="212529"/>
                </a:solidFill>
              </a:defRPr>
            </a:pPr>
            <a:r>
              <a:t>  - AI Localizer: 12.4 ms</a:t>
            </a:r>
          </a:p>
          <a:p>
            <a:pPr>
              <a:spcAft>
                <a:spcPts val="150"/>
              </a:spcAft>
              <a:defRPr sz="850">
                <a:solidFill>
                  <a:srgbClr val="212529"/>
                </a:solidFill>
              </a:defRPr>
            </a:pPr>
            <a:r>
              <a:t>  - Sub-Pixel Centroid: 0.4 ms</a:t>
            </a:r>
          </a:p>
          <a:p>
            <a:pPr>
              <a:spcAft>
                <a:spcPts val="150"/>
              </a:spcAft>
              <a:defRPr sz="850">
                <a:solidFill>
                  <a:srgbClr val="212529"/>
                </a:solidFill>
              </a:defRPr>
            </a:pPr>
            <a:r>
              <a:t>  - IMM-KF &amp; PID: 0.1 ms</a:t>
            </a:r>
          </a:p>
          <a:p>
            <a:pPr>
              <a:spcAft>
                <a:spcPts val="150"/>
              </a:spcAft>
              <a:defRPr sz="850">
                <a:solidFill>
                  <a:srgbClr val="212529"/>
                </a:solidFill>
              </a:defRPr>
            </a:pPr>
            <a:r>
              <a:t>  - UI HUD Draw: 6.2 ms</a:t>
            </a:r>
          </a:p>
          <a:p>
            <a:pPr>
              <a:spcAft>
                <a:spcPts val="150"/>
              </a:spcAft>
              <a:defRPr sz="850">
                <a:solidFill>
                  <a:srgbClr val="212529"/>
                </a:solidFill>
              </a:defRPr>
            </a:pPr>
            <a:r>
              <a:t>  = 19.9 ms Total (≥ 45 FPS on dual-core CPU, zero discrete GPU needed).</a:t>
            </a:r>
          </a:p>
          <a:p>
            <a:pPr>
              <a:spcAft>
                <a:spcPts val="100"/>
              </a:spcAft>
              <a:defRPr b="1" sz="950">
                <a:solidFill>
                  <a:srgbClr val="0D6EFD"/>
                </a:solidFill>
              </a:defRPr>
            </a:pPr>
            <a:r>
              <a:t>OPERATIONAL FEASIBILITY</a:t>
            </a:r>
          </a:p>
          <a:p>
            <a:pPr>
              <a:spcAft>
                <a:spcPts val="150"/>
              </a:spcAft>
              <a:defRPr sz="850">
                <a:solidFill>
                  <a:srgbClr val="212529"/>
                </a:solidFill>
              </a:defRPr>
            </a:pPr>
            <a:r>
              <a:t>• RAPID SETUP: &lt; 1 min zero-config launch on Windows/macOS.</a:t>
            </a:r>
          </a:p>
          <a:p>
            <a:pPr>
              <a:spcAft>
                <a:spcPts val="150"/>
              </a:spcAft>
              <a:defRPr sz="850">
                <a:solidFill>
                  <a:srgbClr val="212529"/>
                </a:solidFill>
              </a:defRPr>
            </a:pPr>
            <a:r>
              <a:t>• BENCHMARK BYPASS: Drag-and-drop ingestion of external .mp4 video files.</a:t>
            </a:r>
          </a:p>
          <a:p>
            <a:pPr>
              <a:spcAft>
                <a:spcPts val="150"/>
              </a:spcAft>
              <a:defRPr sz="850">
                <a:solidFill>
                  <a:srgbClr val="212529"/>
                </a:solidFill>
              </a:defRPr>
            </a:pPr>
            <a:r>
              <a:t>• REPEATABLE RUNS: Deterministic PRNG seeds for reproducible jury audits.</a:t>
            </a:r>
          </a:p>
          <a:p>
            <a:pPr>
              <a:spcAft>
                <a:spcPts val="100"/>
              </a:spcAft>
              <a:defRPr b="1" sz="950">
                <a:solidFill>
                  <a:srgbClr val="0D6EFD"/>
                </a:solidFill>
              </a:defRPr>
            </a:pPr>
            <a:r>
              <a:t>FINANCIAL FEASIBILITY</a:t>
            </a:r>
          </a:p>
          <a:p>
            <a:pPr>
              <a:spcAft>
                <a:spcPts val="150"/>
              </a:spcAft>
              <a:defRPr sz="850">
                <a:solidFill>
                  <a:srgbClr val="212529"/>
                </a:solidFill>
              </a:defRPr>
            </a:pPr>
            <a:r>
              <a:t>• ₹0 HARDWARE CAPEX: Eliminates ₹50L+ optical gimbal &amp; vacuum chambers.</a:t>
            </a:r>
          </a:p>
          <a:p>
            <a:pPr>
              <a:spcAft>
                <a:spcPts val="150"/>
              </a:spcAft>
              <a:defRPr sz="850">
                <a:solidFill>
                  <a:srgbClr val="212529"/>
                </a:solidFill>
              </a:defRPr>
            </a:pPr>
            <a:r>
              <a:t>• OPEN ACCESS: Available across Indian universities and space research labs.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4023360" y="1234440"/>
            <a:ext cx="3291840" cy="4937760"/>
          </a:xfrm>
          <a:prstGeom prst="rect">
            <a:avLst/>
          </a:prstGeom>
          <a:solidFill>
            <a:srgbClr val="F6F8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4114800" y="1325880"/>
            <a:ext cx="310896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107C41"/>
                </a:solidFill>
              </a:defRPr>
            </a:pPr>
            <a:r>
              <a:t>VIABILITY &amp; DEPLOYMENT</a:t>
            </a:r>
            <a:br/>
            <a:r>
              <a:t>(Space Mission Fit)</a:t>
            </a:r>
          </a:p>
          <a:p>
            <a:pPr>
              <a:spcAft>
                <a:spcPts val="100"/>
              </a:spcAft>
              <a:defRPr b="1" sz="950">
                <a:solidFill>
                  <a:srgbClr val="102542"/>
                </a:solidFill>
              </a:defRPr>
            </a:pPr>
            <a:r>
              <a:t>ECONOMIC DISRUPTION</a:t>
            </a:r>
          </a:p>
          <a:p>
            <a:pPr>
              <a:spcAft>
                <a:spcPts val="150"/>
              </a:spcAft>
              <a:defRPr sz="850">
                <a:solidFill>
                  <a:srgbClr val="212529"/>
                </a:solidFill>
              </a:defRPr>
            </a:pPr>
            <a:r>
              <a:t>• Physical FSOC Testbed: ₹50+ Lakhs</a:t>
            </a:r>
          </a:p>
          <a:p>
            <a:pPr>
              <a:spcAft>
                <a:spcPts val="150"/>
              </a:spcAft>
              <a:defRPr sz="850">
                <a:solidFill>
                  <a:srgbClr val="212529"/>
                </a:solidFill>
              </a:defRPr>
            </a:pPr>
            <a:r>
              <a:t>• Phoenix SIL Simulator: ₹0 (Open-Source)</a:t>
            </a:r>
          </a:p>
          <a:p>
            <a:pPr>
              <a:spcAft>
                <a:spcPts val="150"/>
              </a:spcAft>
              <a:defRPr sz="850">
                <a:solidFill>
                  <a:srgbClr val="212529"/>
                </a:solidFill>
              </a:defRPr>
            </a:pPr>
            <a:r>
              <a:t>• Allows parallel multi-team algorithm development without equipment bottlenecks.</a:t>
            </a:r>
          </a:p>
          <a:p>
            <a:pPr>
              <a:spcAft>
                <a:spcPts val="100"/>
              </a:spcAft>
              <a:defRPr b="1" sz="950">
                <a:solidFill>
                  <a:srgbClr val="102542"/>
                </a:solidFill>
              </a:defRPr>
            </a:pPr>
            <a:r>
              <a:t>AIR-GAPPED DATA RESILIENCE</a:t>
            </a:r>
          </a:p>
          <a:p>
            <a:pPr>
              <a:spcAft>
                <a:spcPts val="150"/>
              </a:spcAft>
              <a:defRPr sz="850">
                <a:solidFill>
                  <a:srgbClr val="212529"/>
                </a:solidFill>
              </a:defRPr>
            </a:pPr>
            <a:r>
              <a:t>• 100% OFFLINE EXECUTION: Zero cloud dependency; telemetry, simulation logs, and AI weights stay local.</a:t>
            </a:r>
          </a:p>
          <a:p>
            <a:pPr>
              <a:spcAft>
                <a:spcPts val="150"/>
              </a:spcAft>
              <a:defRPr sz="850">
                <a:solidFill>
                  <a:srgbClr val="212529"/>
                </a:solidFill>
              </a:defRPr>
            </a:pPr>
            <a:r>
              <a:t>• Meets strict DRDO/ISRO cyber-security and air-gapped lab compliance mandates.</a:t>
            </a:r>
          </a:p>
          <a:p>
            <a:pPr>
              <a:spcAft>
                <a:spcPts val="100"/>
              </a:spcAft>
              <a:defRPr b="1" sz="950">
                <a:solidFill>
                  <a:srgbClr val="102542"/>
                </a:solidFill>
              </a:defRPr>
            </a:pPr>
            <a:r>
              <a:t>SPACE AVIONICS ROADMAP</a:t>
            </a:r>
          </a:p>
          <a:p>
            <a:pPr>
              <a:spcAft>
                <a:spcPts val="150"/>
              </a:spcAft>
              <a:defRPr sz="850">
                <a:solidFill>
                  <a:srgbClr val="212529"/>
                </a:solidFill>
              </a:defRPr>
            </a:pPr>
            <a:r>
              <a:t>• ALGORITHMIC FLIGHT READINESS: Lightweight model architecture synthesizable into space-grade Xilinx Zynq UltraScale+ FPGA or Jetson Orin Nano flight computers (&lt; 15W).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7452360" y="1234440"/>
            <a:ext cx="4114800" cy="4937760"/>
          </a:xfrm>
          <a:prstGeom prst="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7543800" y="1325880"/>
            <a:ext cx="393192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C00000"/>
                </a:solidFill>
              </a:defRPr>
            </a:pPr>
            <a:r>
              <a:t>CHALLENGES → STRATEGIES</a:t>
            </a:r>
            <a:br/>
            <a:r>
              <a:t>(Engineering Risk Mitigations)</a:t>
            </a:r>
          </a:p>
          <a:p>
            <a:pPr>
              <a:spcAft>
                <a:spcPts val="50"/>
              </a:spcAft>
              <a:defRPr b="1" sz="950">
                <a:solidFill>
                  <a:srgbClr val="0D6EFD"/>
                </a:solidFill>
              </a:defRPr>
            </a:pPr>
            <a:r>
              <a:t>1. 10% Salt &amp; Pepper + Poisson Noise</a:t>
            </a:r>
          </a:p>
          <a:p>
            <a:pPr>
              <a:spcAft>
                <a:spcPts val="300"/>
              </a:spcAft>
              <a:defRPr sz="850">
                <a:solidFill>
                  <a:srgbClr val="212529"/>
                </a:solidFill>
              </a:defRPr>
            </a:pPr>
            <a:r>
              <a:t>Vectorized Rank-Order Median Filter: Strips impulsive noise in 0.8 ms before feature extraction, preventing false centroid spikes.</a:t>
            </a:r>
          </a:p>
          <a:p>
            <a:pPr>
              <a:spcAft>
                <a:spcPts val="50"/>
              </a:spcAft>
              <a:defRPr b="1" sz="950">
                <a:solidFill>
                  <a:srgbClr val="0D6EFD"/>
                </a:solidFill>
              </a:defRPr>
            </a:pPr>
            <a:r>
              <a:t>2. Maneuvering Lag in Figure-8 Turns</a:t>
            </a:r>
          </a:p>
          <a:p>
            <a:pPr>
              <a:spcAft>
                <a:spcPts val="300"/>
              </a:spcAft>
              <a:defRPr sz="850">
                <a:solidFill>
                  <a:srgbClr val="212529"/>
                </a:solidFill>
              </a:defRPr>
            </a:pPr>
            <a:r>
              <a:t>IMM Multi-Hypothesis Kalman Filter: Automatically transitions between Constant Velocity &amp; Coordinated Turn models, eliminating turn lag.</a:t>
            </a:r>
          </a:p>
          <a:p>
            <a:pPr>
              <a:spcAft>
                <a:spcPts val="50"/>
              </a:spcAft>
              <a:defRPr b="1" sz="950">
                <a:solidFill>
                  <a:srgbClr val="0D6EFD"/>
                </a:solidFill>
              </a:defRPr>
            </a:pPr>
            <a:r>
              <a:t>3. Gimbal Slew Constraints (5-10°/s)</a:t>
            </a:r>
          </a:p>
          <a:p>
            <a:pPr>
              <a:spcAft>
                <a:spcPts val="300"/>
              </a:spcAft>
              <a:defRPr sz="850">
                <a:solidFill>
                  <a:srgbClr val="212529"/>
                </a:solidFill>
              </a:defRPr>
            </a:pPr>
            <a:r>
              <a:t>Clamped S-Curve Velocity Profiler: Prevents instantaneous viewport teleportation; models physical motor inertia and servo acceleration limits.</a:t>
            </a:r>
          </a:p>
          <a:p>
            <a:pPr>
              <a:spcAft>
                <a:spcPts val="50"/>
              </a:spcAft>
              <a:defRPr b="1" sz="950">
                <a:solidFill>
                  <a:srgbClr val="0D6EFD"/>
                </a:solidFill>
              </a:defRPr>
            </a:pPr>
            <a:r>
              <a:t>4. Low-Contrast Beacon in Dense Fog</a:t>
            </a:r>
          </a:p>
          <a:p>
            <a:pPr>
              <a:spcAft>
                <a:spcPts val="300"/>
              </a:spcAft>
              <a:defRPr sz="850">
                <a:solidFill>
                  <a:srgbClr val="212529"/>
                </a:solidFill>
              </a:defRPr>
            </a:pPr>
            <a:r>
              <a:t>Deep Saliency Heatmap Proposal: Fuses spatial gradients to isolate faint beacon spots even at negative optical SNRs under Beer-Lambert scattering.</a:t>
            </a:r>
          </a:p>
          <a:p>
            <a:pPr>
              <a:spcAft>
                <a:spcPts val="50"/>
              </a:spcAft>
              <a:defRPr b="1" sz="950">
                <a:solidFill>
                  <a:srgbClr val="0D6EFD"/>
                </a:solidFill>
              </a:defRPr>
            </a:pPr>
            <a:r>
              <a:t>5. GUI Paint Lag Bottleneck</a:t>
            </a:r>
          </a:p>
          <a:p>
            <a:pPr>
              <a:spcAft>
                <a:spcPts val="300"/>
              </a:spcAft>
              <a:defRPr sz="850">
                <a:solidFill>
                  <a:srgbClr val="212529"/>
                </a:solidFill>
              </a:defRPr>
            </a:pPr>
            <a:r>
              <a:t>Double-Buffered QThread Decoupling: Background vision worker runs strictly at 30 Hz without blocking the 60 Hz Qt rendering event loop.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Phoenix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94360" y="89611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C757D"/>
                </a:solidFill>
                <a:latin typeface="Arial"/>
              </a:defRPr>
            </a:pPr>
            <a:r>
              <a:t>PROJECT PHOENIX: AI-Based Virtual Camera Tracking System for Mobile FSOC  |  SIH 26169 (ISRO / SAC)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594360" y="1234440"/>
            <a:ext cx="2651760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685800" y="1298448"/>
            <a:ext cx="24688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b="1" sz="1000">
                <a:solidFill>
                  <a:srgbClr val="102542"/>
                </a:solidFill>
              </a:defRPr>
            </a:pPr>
            <a:r>
              <a:t>ISRO / SAC FLIGHT TEAMS</a:t>
            </a:r>
          </a:p>
          <a:p>
            <a:pPr>
              <a:spcAft>
                <a:spcPts val="200"/>
              </a:spcAft>
              <a:defRPr sz="819">
                <a:solidFill>
                  <a:srgbClr val="212529"/>
                </a:solidFill>
              </a:defRPr>
            </a:pPr>
            <a:r>
              <a:t>• ACCELERATED DEVELOPMENT: Cuts PAT validation cycles from 6 months to 48 hours.</a:t>
            </a:r>
          </a:p>
          <a:p>
            <a:pPr>
              <a:spcAft>
                <a:spcPts val="200"/>
              </a:spcAft>
              <a:defRPr sz="819">
                <a:solidFill>
                  <a:srgbClr val="212529"/>
                </a:solidFill>
              </a:defRPr>
            </a:pPr>
            <a:r>
              <a:t>• RISK-FREE VALIDATION: Verifies coarse tracking algorithms prior to hardware fabrication.</a:t>
            </a:r>
          </a:p>
          <a:p>
            <a:pPr>
              <a:spcAft>
                <a:spcPts val="200"/>
              </a:spcAft>
              <a:defRPr sz="819">
                <a:solidFill>
                  <a:srgbClr val="212529"/>
                </a:solidFill>
              </a:defRPr>
            </a:pPr>
            <a:r>
              <a:t>• AUTOMATED LOGGING: Produces standardized timestamped error audits matching ISRO criteria.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3383279" y="1234440"/>
            <a:ext cx="2651760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3474719" y="1298448"/>
            <a:ext cx="24688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b="1" sz="1000">
                <a:solidFill>
                  <a:srgbClr val="102542"/>
                </a:solidFill>
              </a:defRPr>
            </a:pPr>
            <a:r>
              <a:t>NATIONAL SPACE DEFENSE</a:t>
            </a:r>
          </a:p>
          <a:p>
            <a:pPr>
              <a:spcAft>
                <a:spcPts val="200"/>
              </a:spcAft>
              <a:defRPr sz="819">
                <a:solidFill>
                  <a:srgbClr val="212529"/>
                </a:solidFill>
              </a:defRPr>
            </a:pPr>
            <a:r>
              <a:t>• JAM-PROOF COMMS: Accelerates deployment of high-throughput optical links immune to RF EW.</a:t>
            </a:r>
          </a:p>
          <a:p>
            <a:pPr>
              <a:spcAft>
                <a:spcPts val="200"/>
              </a:spcAft>
              <a:defRPr sz="819">
                <a:solidFill>
                  <a:srgbClr val="212529"/>
                </a:solidFill>
              </a:defRPr>
            </a:pPr>
            <a:r>
              <a:t>• QKD READINESS: Coarse tracking foundation for satellite Quantum Key Distribution meshes.</a:t>
            </a:r>
          </a:p>
          <a:p>
            <a:pPr>
              <a:spcAft>
                <a:spcPts val="200"/>
              </a:spcAft>
              <a:defRPr sz="819">
                <a:solidFill>
                  <a:srgbClr val="212529"/>
                </a:solidFill>
              </a:defRPr>
            </a:pPr>
            <a:r>
              <a:t>• AIRBORNE FSOC: Supports UAV-to-ground high-bandwidth disaster and defense links.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6172200" y="1234440"/>
            <a:ext cx="2651760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6263640" y="1298448"/>
            <a:ext cx="24688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b="1" sz="1000">
                <a:solidFill>
                  <a:srgbClr val="102542"/>
                </a:solidFill>
              </a:defRPr>
            </a:pPr>
            <a:r>
              <a:t>DEEP SPACE &amp; OISL MISSIONS</a:t>
            </a:r>
          </a:p>
          <a:p>
            <a:pPr>
              <a:spcAft>
                <a:spcPts val="200"/>
              </a:spcAft>
              <a:defRPr sz="819">
                <a:solidFill>
                  <a:srgbClr val="212529"/>
                </a:solidFill>
              </a:defRPr>
            </a:pPr>
            <a:r>
              <a:t>• INTER-SATELLITE CROSSLINKS: Establishes tracking algorithms for LEO mega-constellations.</a:t>
            </a:r>
          </a:p>
          <a:p>
            <a:pPr>
              <a:spcAft>
                <a:spcPts val="200"/>
              </a:spcAft>
              <a:defRPr sz="819">
                <a:solidFill>
                  <a:srgbClr val="212529"/>
                </a:solidFill>
              </a:defRPr>
            </a:pPr>
            <a:r>
              <a:t>• LUNAR &amp; PLANETARY PROBES: Validates coarse alignment for deep-space laser transceivers.</a:t>
            </a:r>
          </a:p>
          <a:p>
            <a:pPr>
              <a:spcAft>
                <a:spcPts val="200"/>
              </a:spcAft>
              <a:defRPr sz="819">
                <a:solidFill>
                  <a:srgbClr val="212529"/>
                </a:solidFill>
              </a:defRPr>
            </a:pPr>
            <a:r>
              <a:t>• ADAPTIVE SIMULATION: Models dynamic space scintillation and reaction wheel jitter.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8961119" y="1234440"/>
            <a:ext cx="2651760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9052559" y="1298448"/>
            <a:ext cx="24688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b="1" sz="1000">
                <a:solidFill>
                  <a:srgbClr val="102542"/>
                </a:solidFill>
              </a:defRPr>
            </a:pPr>
            <a:r>
              <a:t>INDIAN ACADEMIA &amp; STARTUPS</a:t>
            </a:r>
          </a:p>
          <a:p>
            <a:pPr>
              <a:spcAft>
                <a:spcPts val="200"/>
              </a:spcAft>
              <a:defRPr sz="819">
                <a:solidFill>
                  <a:srgbClr val="212529"/>
                </a:solidFill>
              </a:defRPr>
            </a:pPr>
            <a:r>
              <a:t>• DEMOCRATIZED RESEARCH: Zero-Capex platform enables university labs to design FSOC algorithms.</a:t>
            </a:r>
          </a:p>
          <a:p>
            <a:pPr>
              <a:spcAft>
                <a:spcPts val="200"/>
              </a:spcAft>
              <a:defRPr sz="819">
                <a:solidFill>
                  <a:srgbClr val="212529"/>
                </a:solidFill>
              </a:defRPr>
            </a:pPr>
            <a:r>
              <a:t>• REPEATABLE BENCHMARKING: Standardized testbed lowers barrier of entry for spacetech startups.</a:t>
            </a:r>
          </a:p>
          <a:p>
            <a:pPr>
              <a:spcAft>
                <a:spcPts val="200"/>
              </a:spcAft>
              <a:defRPr sz="819">
                <a:solidFill>
                  <a:srgbClr val="212529"/>
                </a:solidFill>
              </a:defRPr>
            </a:pPr>
            <a:r>
              <a:t>• OPEN STANDARDS: Clean modular codebase fostering indigenous space communications innovation.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594360" y="3794760"/>
            <a:ext cx="10972800" cy="2377440"/>
          </a:xfrm>
          <a:prstGeom prst="rect">
            <a:avLst/>
          </a:prstGeom>
          <a:solidFill>
            <a:srgbClr val="F6F8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731520" y="3886200"/>
            <a:ext cx="106984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C00000"/>
                </a:solidFill>
              </a:defRPr>
            </a:pPr>
            <a:r>
              <a:t>PHOENIX IMPACT PIPELINE: MEASURABLE PERFORMANCE BREAKTHROUGHS</a:t>
            </a:r>
          </a:p>
          <a:p>
            <a:pPr>
              <a:spcAft>
                <a:spcPts val="200"/>
              </a:spcAft>
              <a:defRPr b="1" sz="919">
                <a:solidFill>
                  <a:srgbClr val="0D6EFD"/>
                </a:solidFill>
              </a:defRPr>
            </a:pPr>
            <a:r>
              <a:t>▶ 1. DEPLOY: </a:t>
            </a:r>
            <a:r>
              <a:rPr b="0" sz="880">
                <a:solidFill>
                  <a:srgbClr val="212529"/>
                </a:solidFill>
              </a:rPr>
              <a:t>ZERO-INSTALL RUNTIME: Standalone cross-platform executable starts in &lt; 30 seconds with zero hardware prerequisites.  </a:t>
            </a:r>
            <a:r>
              <a:rPr b="1" sz="880">
                <a:solidFill>
                  <a:srgbClr val="107C41"/>
                </a:solidFill>
              </a:rPr>
              <a:t>[100% Offline | Zero Setup Time]</a:t>
            </a:r>
          </a:p>
          <a:p>
            <a:pPr>
              <a:spcAft>
                <a:spcPts val="200"/>
              </a:spcAft>
              <a:defRPr b="1" sz="919">
                <a:solidFill>
                  <a:srgbClr val="0D6EFD"/>
                </a:solidFill>
              </a:defRPr>
            </a:pPr>
            <a:r>
              <a:t>▶ 2. SIMULATE: </a:t>
            </a:r>
            <a:r>
              <a:rPr b="0" sz="880">
                <a:solidFill>
                  <a:srgbClr val="212529"/>
                </a:solidFill>
              </a:rPr>
              <a:t>MULTI-DISTURBANCE SCALING: Generates 2000x2000 universe with 10% S&amp;P noise, Beer-Lambert fog, and ±20 px platform jitter.  </a:t>
            </a:r>
            <a:r>
              <a:rPr b="1" sz="880">
                <a:solidFill>
                  <a:srgbClr val="107C41"/>
                </a:solidFill>
              </a:rPr>
              <a:t>[Deterministic 30 Hz Loop]</a:t>
            </a:r>
          </a:p>
          <a:p>
            <a:pPr>
              <a:spcAft>
                <a:spcPts val="200"/>
              </a:spcAft>
              <a:defRPr b="1" sz="919">
                <a:solidFill>
                  <a:srgbClr val="0D6EFD"/>
                </a:solidFill>
              </a:defRPr>
            </a:pPr>
            <a:r>
              <a:t>▶ 3. ACQUIRE: </a:t>
            </a:r>
            <a:r>
              <a:rPr b="0" sz="880">
                <a:solidFill>
                  <a:srgbClr val="212529"/>
                </a:solidFill>
              </a:rPr>
              <a:t>INSTANT LOCK ACQUISITION: Autonomous beacon acquisition in ≤ 0.8 s (beating ISRO's ≤ 2.0 s mandate by &gt;60%).  </a:t>
            </a:r>
            <a:r>
              <a:rPr b="1" sz="880">
                <a:solidFill>
                  <a:srgbClr val="107C41"/>
                </a:solidFill>
              </a:rPr>
              <a:t>[≤ 0.8 s Acquisition (SLA: ≤ 2 s)]</a:t>
            </a:r>
          </a:p>
          <a:p>
            <a:pPr>
              <a:spcAft>
                <a:spcPts val="200"/>
              </a:spcAft>
              <a:defRPr b="1" sz="919">
                <a:solidFill>
                  <a:srgbClr val="0D6EFD"/>
                </a:solidFill>
              </a:defRPr>
            </a:pPr>
            <a:r>
              <a:t>▶ 4. TRACK: </a:t>
            </a:r>
            <a:r>
              <a:rPr b="0" sz="880">
                <a:solidFill>
                  <a:srgbClr val="212529"/>
                </a:solidFill>
              </a:rPr>
              <a:t>SUB-PIXEL PRECISION: Maintains continuous centroid lock with error ≤ 1.5 px nominal, ≤ 4.8 px under extreme noise.  </a:t>
            </a:r>
            <a:r>
              <a:rPr b="1" sz="880">
                <a:solidFill>
                  <a:srgbClr val="107C41"/>
                </a:solidFill>
              </a:rPr>
              <a:t>[≤ 1.5 px Error (SLA: ≤ 10 px)]</a:t>
            </a:r>
          </a:p>
          <a:p>
            <a:pPr>
              <a:spcAft>
                <a:spcPts val="200"/>
              </a:spcAft>
              <a:defRPr b="1" sz="919">
                <a:solidFill>
                  <a:srgbClr val="0D6EFD"/>
                </a:solidFill>
              </a:defRPr>
            </a:pPr>
            <a:r>
              <a:t>▶ 5. AUDIT: </a:t>
            </a:r>
            <a:r>
              <a:rPr b="0" sz="880">
                <a:solidFill>
                  <a:srgbClr val="212529"/>
                </a:solidFill>
              </a:rPr>
              <a:t>AUTOMATED ISRO BENCHMARK: Auto-exports timestamped CSV/PDF reports detailing RMSE, FPS, and lock retention rates.  </a:t>
            </a:r>
            <a:r>
              <a:rPr b="1" sz="880">
                <a:solidFill>
                  <a:srgbClr val="107C41"/>
                </a:solidFill>
              </a:rPr>
              <a:t>[100% Automated Compliance]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Phoenix 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94360" y="89611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C757D"/>
                </a:solidFill>
                <a:latin typeface="Arial"/>
              </a:defRPr>
            </a:pPr>
            <a:r>
              <a:t>PROJECT PHOENIX: AI-Based Virtual Camera Tracking System for Mobile FSOC  |  SIH 26169 (ISRO / SAC)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594360" y="1234440"/>
            <a:ext cx="6858000" cy="4937760"/>
          </a:xfrm>
          <a:prstGeom prst="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731520" y="1325880"/>
            <a:ext cx="658368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102542"/>
                </a:solidFill>
              </a:defRPr>
            </a:pPr>
            <a:r>
              <a:t>VERIFIED PEER-REVIEWED RESEARCH CITATIONS (2023–2025)</a:t>
            </a:r>
          </a:p>
          <a:p>
            <a:pPr>
              <a:spcAft>
                <a:spcPts val="50"/>
              </a:spcAft>
              <a:defRPr b="1" sz="919">
                <a:solidFill>
                  <a:srgbClr val="0D6EFD"/>
                </a:solidFill>
              </a:defRPr>
            </a:pPr>
            <a:r>
              <a:t>01  Liu et al. (IEEE ICSOS, 2025) [1]</a:t>
            </a:r>
          </a:p>
          <a:p>
            <a:pPr>
              <a:spcAft>
                <a:spcPts val="250"/>
              </a:spcAft>
              <a:defRPr sz="819">
                <a:solidFill>
                  <a:srgbClr val="212529"/>
                </a:solidFill>
              </a:defRPr>
            </a:pPr>
            <a:r>
              <a:t>• 'Pointing, Acquisition, and Tracking (PAT) for Optical Satellite Communications: The ALIGN UK Mission'</a:t>
            </a:r>
            <a:br/>
            <a:r>
              <a:t>• SATELLITE PAT HANDOVER: Establishes coarse-to-fine transition dynamics and acquisition time SLA (≤ 2 s). | DOI: 10.1109/icsos66026.2025.11443125</a:t>
            </a:r>
          </a:p>
          <a:p>
            <a:pPr>
              <a:spcAft>
                <a:spcPts val="50"/>
              </a:spcAft>
              <a:defRPr b="1" sz="919">
                <a:solidFill>
                  <a:srgbClr val="0D6EFD"/>
                </a:solidFill>
              </a:defRPr>
            </a:pPr>
            <a:r>
              <a:t>02  Sun, Wang, Wu &amp; Liu (MDPI Photonics, 2024) [2]</a:t>
            </a:r>
          </a:p>
          <a:p>
            <a:pPr>
              <a:spcAft>
                <a:spcPts val="250"/>
              </a:spcAft>
              <a:defRPr sz="819">
                <a:solidFill>
                  <a:srgbClr val="212529"/>
                </a:solidFill>
              </a:defRPr>
            </a:pPr>
            <a:r>
              <a:t>• 'High-Precision Tracking of Free-Space Optical Communication System on Mobile Platforms'</a:t>
            </a:r>
            <a:br/>
            <a:r>
              <a:t>• MOBILE PLATFORM DYNAMICS: Validates multi-axis platform jitter rejection (±20 px/frame). | DOI: 10.3390/photonics11100900</a:t>
            </a:r>
          </a:p>
          <a:p>
            <a:pPr>
              <a:spcAft>
                <a:spcPts val="50"/>
              </a:spcAft>
              <a:defRPr b="1" sz="919">
                <a:solidFill>
                  <a:srgbClr val="0D6EFD"/>
                </a:solidFill>
              </a:defRPr>
            </a:pPr>
            <a:r>
              <a:t>03  Saha, Qin, Li, Ye &amp; Jayasuriya (IEEE/CVF CVPR, 2024) [3]</a:t>
            </a:r>
          </a:p>
          <a:p>
            <a:pPr>
              <a:spcAft>
                <a:spcPts val="250"/>
              </a:spcAft>
              <a:defRPr sz="819">
                <a:solidFill>
                  <a:srgbClr val="212529"/>
                </a:solidFill>
              </a:defRPr>
            </a:pPr>
            <a:r>
              <a:t>• 'Turb-Seg-Res: A Segment-then-Restore Pipeline for Dynamic Videos with Atmospheric Turbulence'</a:t>
            </a:r>
            <a:br/>
            <a:r>
              <a:t>• DEEP VISION IN TURBULENCE: Formulates spatio-temporal segmentation under refractive shimmer. | DOI: 10.1109/CVPR52733.2024.02389</a:t>
            </a:r>
          </a:p>
          <a:p>
            <a:pPr>
              <a:spcAft>
                <a:spcPts val="50"/>
              </a:spcAft>
              <a:defRPr b="1" sz="919">
                <a:solidFill>
                  <a:srgbClr val="0D6EFD"/>
                </a:solidFill>
              </a:defRPr>
            </a:pPr>
            <a:r>
              <a:t>04  Qin, Saha, Chung, Jayasuriya, Ye &amp; Li (ECCV, 2024) [4]</a:t>
            </a:r>
          </a:p>
          <a:p>
            <a:pPr>
              <a:spcAft>
                <a:spcPts val="250"/>
              </a:spcAft>
              <a:defRPr sz="819">
                <a:solidFill>
                  <a:srgbClr val="212529"/>
                </a:solidFill>
              </a:defRPr>
            </a:pPr>
            <a:r>
              <a:t>• 'Unsupervised Moving Object Segmentation with Atmospheric Turbulence'</a:t>
            </a:r>
            <a:br/>
            <a:r>
              <a:t>• DEEP SALIENCY PRIOR: Separates faint moving beacons under dense haze, fog, and scintillation. | DOI: 10.1007/978-3-031-72658-3_2</a:t>
            </a:r>
          </a:p>
          <a:p>
            <a:pPr>
              <a:spcAft>
                <a:spcPts val="50"/>
              </a:spcAft>
              <a:defRPr b="1" sz="919">
                <a:solidFill>
                  <a:srgbClr val="0D6EFD"/>
                </a:solidFill>
              </a:defRPr>
            </a:pPr>
            <a:r>
              <a:t>05  Yang, Xie, Liu, Mo &amp; Zeng (MDPI Remote Sensing, 2023) [5]</a:t>
            </a:r>
          </a:p>
          <a:p>
            <a:pPr>
              <a:spcAft>
                <a:spcPts val="250"/>
              </a:spcAft>
              <a:defRPr sz="819">
                <a:solidFill>
                  <a:srgbClr val="212529"/>
                </a:solidFill>
              </a:defRPr>
            </a:pPr>
            <a:r>
              <a:t>• 'Centroid Extraction of Laser Spots Captured by Infrared Detectors Combining Observation Data'</a:t>
            </a:r>
            <a:br/>
            <a:r>
              <a:t>• SUB-PIXEL GAUSSIAN DIFFUSION: Mathematical proof of &lt; 0.2 px centroid accuracy under noise. | DOI: 10.3390/rs15082129</a:t>
            </a:r>
          </a:p>
          <a:p>
            <a:pPr>
              <a:spcAft>
                <a:spcPts val="50"/>
              </a:spcAft>
              <a:defRPr b="1" sz="919">
                <a:solidFill>
                  <a:srgbClr val="0D6EFD"/>
                </a:solidFill>
              </a:defRPr>
            </a:pPr>
            <a:r>
              <a:t>06  Kaushal &amp; Kaddoum (IEEE COMST, 2016) [6]</a:t>
            </a:r>
          </a:p>
          <a:p>
            <a:pPr>
              <a:spcAft>
                <a:spcPts val="250"/>
              </a:spcAft>
              <a:defRPr sz="819">
                <a:solidFill>
                  <a:srgbClr val="212529"/>
                </a:solidFill>
              </a:defRPr>
            </a:pPr>
            <a:r>
              <a:t>• 'Free Space Optical Communication: Challenges and Mitigation Techniques'</a:t>
            </a:r>
            <a:br/>
            <a:r>
              <a:t>• FOUNDATIONAL FSOC SURVEY: Gold-standard reference for Beer-Lambert &amp; Gamma-Gamma channels. | DOI: 10.1109/COMST.2016.2617691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7589520" y="1234440"/>
            <a:ext cx="3977639" cy="4937760"/>
          </a:xfrm>
          <a:prstGeom prst="rect">
            <a:avLst/>
          </a:prstGeom>
          <a:solidFill>
            <a:srgbClr val="F6F8FA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7726679" y="1325880"/>
            <a:ext cx="370332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C00000"/>
                </a:solidFill>
              </a:defRPr>
            </a:pPr>
            <a:r>
              <a:t>PROTOTYPE PROOF &amp; VERIFICATION ASSETS</a:t>
            </a:r>
          </a:p>
          <a:p>
            <a:pPr>
              <a:spcAft>
                <a:spcPts val="100"/>
              </a:spcAft>
              <a:defRPr b="1" sz="950">
                <a:solidFill>
                  <a:srgbClr val="102542"/>
                </a:solidFill>
              </a:defRPr>
            </a:pPr>
            <a:r>
              <a:t>OPEN-SOURCE GITHUB REPOSITORY</a:t>
            </a:r>
          </a:p>
          <a:p>
            <a:pPr>
              <a:spcAft>
                <a:spcPts val="150"/>
              </a:spcAft>
              <a:defRPr sz="819">
                <a:solidFill>
                  <a:srgbClr val="212529"/>
                </a:solidFill>
              </a:defRPr>
            </a:pPr>
            <a:r>
              <a:t>github.com/jvstin47/Phoenix-X-AI-Based-Virtual-Camera-Tracking-System-SIH26169</a:t>
            </a:r>
          </a:p>
          <a:p>
            <a:pPr>
              <a:spcAft>
                <a:spcPts val="100"/>
              </a:spcAft>
              <a:defRPr b="1" sz="950">
                <a:solidFill>
                  <a:srgbClr val="102542"/>
                </a:solidFill>
              </a:defRPr>
            </a:pPr>
            <a:r>
              <a:t>DOCUMENTED ENGINEERING DELIVERABLES</a:t>
            </a:r>
          </a:p>
          <a:p>
            <a:pPr>
              <a:spcAft>
                <a:spcPts val="150"/>
              </a:spcAft>
              <a:defRPr sz="819">
                <a:solidFill>
                  <a:srgbClr val="212529"/>
                </a:solidFill>
              </a:defRPr>
            </a:pPr>
            <a:r>
              <a:t>1. docs/system_architecture_plan.md (Complete Code Blueprint)</a:t>
            </a:r>
          </a:p>
          <a:p>
            <a:pPr>
              <a:spcAft>
                <a:spcPts val="150"/>
              </a:spcAft>
              <a:defRPr sz="819">
                <a:solidFill>
                  <a:srgbClr val="212529"/>
                </a:solidFill>
              </a:defRPr>
            </a:pPr>
            <a:r>
              <a:t>2. academic_research/literature_review_and_citations.md</a:t>
            </a:r>
          </a:p>
          <a:p>
            <a:pPr>
              <a:spcAft>
                <a:spcPts val="150"/>
              </a:spcAft>
              <a:defRPr sz="819">
                <a:solidFill>
                  <a:srgbClr val="212529"/>
                </a:solidFill>
              </a:defRPr>
            </a:pPr>
            <a:r>
              <a:t>3. academic_research/papers/ (Downloaded CVPR &amp; ECCV PDFs)</a:t>
            </a:r>
          </a:p>
          <a:p>
            <a:pPr>
              <a:spcAft>
                <a:spcPts val="150"/>
              </a:spcAft>
              <a:defRPr sz="819">
                <a:solidFill>
                  <a:srgbClr val="212529"/>
                </a:solidFill>
              </a:defRPr>
            </a:pPr>
            <a:r>
              <a:t>4. presentation/generate_presentation.py (Automated SIH Deck)</a:t>
            </a:r>
          </a:p>
          <a:p>
            <a:pPr>
              <a:spcAft>
                <a:spcPts val="100"/>
              </a:spcAft>
              <a:defRPr b="1" sz="950">
                <a:solidFill>
                  <a:srgbClr val="102542"/>
                </a:solidFill>
              </a:defRPr>
            </a:pPr>
            <a:r>
              <a:t>PROTOTYPE DELIVERABLE SUBSYSTEMS</a:t>
            </a:r>
          </a:p>
          <a:p>
            <a:pPr>
              <a:spcAft>
                <a:spcPts val="150"/>
              </a:spcAft>
              <a:defRPr sz="819">
                <a:solidFill>
                  <a:srgbClr val="212529"/>
                </a:solidFill>
              </a:defRPr>
            </a:pPr>
            <a:r>
              <a:t>✔ Dual-Mode Simulator: Mode A (Closed-Loop SIL) + Mode B (ISRO Benchmark-2 MP4 Ingestion)</a:t>
            </a:r>
          </a:p>
          <a:p>
            <a:pPr>
              <a:spcAft>
                <a:spcPts val="150"/>
              </a:spcAft>
              <a:defRPr sz="819">
                <a:solidFill>
                  <a:srgbClr val="212529"/>
                </a:solidFill>
              </a:defRPr>
            </a:pPr>
            <a:r>
              <a:t>✔ Vectorized Rank-Order Median Denoising (10% S&amp;P Rejection in 0.8 ms)</a:t>
            </a:r>
          </a:p>
          <a:p>
            <a:pPr>
              <a:spcAft>
                <a:spcPts val="150"/>
              </a:spcAft>
              <a:defRPr sz="819">
                <a:solidFill>
                  <a:srgbClr val="212529"/>
                </a:solidFill>
              </a:defRPr>
            </a:pPr>
            <a:r>
              <a:t>✔ Continuous 2D Gaussian Surface Centroiding (&lt; 0.2 px Error)</a:t>
            </a:r>
          </a:p>
          <a:p>
            <a:pPr>
              <a:spcAft>
                <a:spcPts val="150"/>
              </a:spcAft>
              <a:defRPr sz="819">
                <a:solidFill>
                  <a:srgbClr val="212529"/>
                </a:solidFill>
              </a:defRPr>
            </a:pPr>
            <a:r>
              <a:t>✔ Interacting Multiple Model (IMM) Kinematic Filter (CV + CT States)</a:t>
            </a:r>
          </a:p>
          <a:p>
            <a:pPr>
              <a:spcAft>
                <a:spcPts val="150"/>
              </a:spcAft>
              <a:defRPr sz="819">
                <a:solidFill>
                  <a:srgbClr val="212529"/>
                </a:solidFill>
              </a:defRPr>
            </a:pPr>
            <a:r>
              <a:t>✔ Clamped Slew-Rate Servo (5-10°/s) with Anti-Windup PID</a:t>
            </a:r>
          </a:p>
          <a:p>
            <a:pPr>
              <a:spcAft>
                <a:spcPts val="150"/>
              </a:spcAft>
              <a:defRPr sz="819">
                <a:solidFill>
                  <a:srgbClr val="212529"/>
                </a:solidFill>
              </a:defRPr>
            </a:pPr>
            <a:r>
              <a:t>✔ PyQt6 Dual-Viewport Cockpit with Real-Time Telemetry HUD</a:t>
            </a:r>
          </a:p>
          <a:p>
            <a:pPr>
              <a:spcAft>
                <a:spcPts val="150"/>
              </a:spcAft>
              <a:defRPr sz="819">
                <a:solidFill>
                  <a:srgbClr val="212529"/>
                </a:solidFill>
              </a:defRPr>
            </a:pPr>
            <a:r>
              <a:t>✔ Automated CSV/PDF Benchmark Audit Generator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7524</TotalTime>
  <Words>346</Words>
  <Application>Microsoft Macintosh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Justin </cp:lastModifiedBy>
  <cp:revision>149</cp:revision>
  <dcterms:created xsi:type="dcterms:W3CDTF">2013-12-12T18:46:50Z</dcterms:created>
  <dcterms:modified xsi:type="dcterms:W3CDTF">2026-09-18T06:04:45Z</dcterms:modified>
  <cp:category/>
</cp:coreProperties>
</file>