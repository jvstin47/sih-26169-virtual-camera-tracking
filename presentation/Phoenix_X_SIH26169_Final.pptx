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hyperlink" Target="https://doi.org/10.1109/icsos66026.2025.11443125" TargetMode="External"/><Relationship Id="rId7" Type="http://schemas.openxmlformats.org/officeDocument/2006/relationships/hyperlink" Target="https://doi.org/10.3390/photonics11100900" TargetMode="External"/><Relationship Id="rId8" Type="http://schemas.openxmlformats.org/officeDocument/2006/relationships/hyperlink" Target="https://doi.org/10.1109/CVPR52733.2024.02389" TargetMode="External"/><Relationship Id="rId9" Type="http://schemas.openxmlformats.org/officeDocument/2006/relationships/hyperlink" Target="https://doi.org/10.1007/978-3-031-72658-3_2" TargetMode="External"/><Relationship Id="rId10" Type="http://schemas.openxmlformats.org/officeDocument/2006/relationships/hyperlink" Target="https://doi.org/10.3390/rs15082129" TargetMode="External"/><Relationship Id="rId11" Type="http://schemas.openxmlformats.org/officeDocument/2006/relationships/hyperlink" Target="https://doi.org/10.1109/COMST.2016.2603518" TargetMode="External"/><Relationship Id="rId1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520" y="960120"/>
            <a:ext cx="2319302" cy="2577483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 spc="100">
                <a:solidFill>
                  <a:srgbClr val="B35A00"/>
                </a:solidFill>
                <a:latin typeface="Calibri"/>
              </a:rPr>
              <a:t>SPACE TECHNOLOGY &amp; SMART AUTOMATION  |  ISRO / SPACE APPLICATIONS CENTRE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161288"/>
            <a:ext cx="7680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1F497D"/>
                </a:solidFill>
                <a:latin typeface="Calibri"/>
              </a:rPr>
              <a:t>PROJECT PHOENIX</a:t>
            </a: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D9700F"/>
                </a:solidFill>
                <a:latin typeface="Calibri"/>
              </a:rPr>
              <a:t>FSOC TRACKER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3113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en-US">
                <a:solidFill>
                  <a:srgbClr val="566074"/>
                </a:solidFill>
                <a:latin typeface="Calibri"/>
              </a:rPr>
              <a:t>AI-based virtual camera tracking system for coarse alignment of mobile Free-Space Optical Communication (FSOC) terminals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889504"/>
            <a:ext cx="7360920" cy="3474720"/>
          </a:xfrm>
          <a:prstGeom prst="roundRect">
            <a:avLst>
              <a:gd name="adj" fmla="val 3684"/>
            </a:avLst>
          </a:prstGeom>
          <a:solidFill>
            <a:srgbClr val="F6F9FC"/>
          </a:solidFill>
          <a:ln w="15240">
            <a:solidFill>
              <a:srgbClr val="C5DEF5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540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en-US">
                <a:solidFill>
                  <a:srgbClr val="D9700F"/>
                </a:solidFill>
                <a:latin typeface="Calibri"/>
              </a:rPr>
              <a:t>SIH26169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0540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236976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Space Technology &amp; Smart Automation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371246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5800" y="3803904"/>
            <a:ext cx="68122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995928"/>
            <a:ext cx="68122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A10000"/>
                </a:solidFill>
                <a:latin typeface="Calibri"/>
              </a:rPr>
              <a:t>Development of an AI-Based Virtual Camera Tracking System for Coarse Alignment of Mobile Free Space Optical Communication (FSOC) Terminals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4791456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85800" y="48828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SPONSORING ORGANIZATION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8828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06577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ISRO / Space Applications Centre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0657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Software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5800" y="5486400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85800" y="557784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NAME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557784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Phoenix 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760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141943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36758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120">
                <a:solidFill>
                  <a:srgbClr val="0070C0"/>
                </a:solidFill>
                <a:latin typeface="Calibri"/>
              </a:rPr>
              <a:t>HEADLINE CAPABILITIES</a:t>
            </a:r>
          </a:p>
        </p:txBody>
      </p:sp>
      <p:sp>
        <p:nvSpPr>
          <p:cNvPr id="60" name="Oval 59"/>
          <p:cNvSpPr/>
          <p:nvPr/>
        </p:nvSpPr>
        <p:spPr>
          <a:xfrm>
            <a:off x="8092440" y="40416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103370"/>
            <a:ext cx="150876" cy="1508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85632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Closed-Loop SIL Lock in ≤ 0.8 s across 2000x2000 space</a:t>
            </a:r>
          </a:p>
        </p:txBody>
      </p:sp>
      <p:sp>
        <p:nvSpPr>
          <p:cNvPr id="63" name="Oval 62"/>
          <p:cNvSpPr/>
          <p:nvPr/>
        </p:nvSpPr>
        <p:spPr>
          <a:xfrm>
            <a:off x="8092440" y="44988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560570"/>
            <a:ext cx="150876" cy="15087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485632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Continuous 2D Gaussian Fit: Centroid RMSE &lt; 0.2 px (SLA: ≤ 10 px)</a:t>
            </a:r>
          </a:p>
        </p:txBody>
      </p:sp>
      <p:sp>
        <p:nvSpPr>
          <p:cNvPr id="66" name="Oval 65"/>
          <p:cNvSpPr/>
          <p:nvPr/>
        </p:nvSpPr>
        <p:spPr>
          <a:xfrm>
            <a:off x="8092440" y="49560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017770"/>
            <a:ext cx="150876" cy="1508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85632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Dual-Mode IMM-Kalman Filter (Constant Velocity + Coordinated Turn)</a:t>
            </a:r>
          </a:p>
        </p:txBody>
      </p:sp>
      <p:sp>
        <p:nvSpPr>
          <p:cNvPr id="69" name="Oval 68"/>
          <p:cNvSpPr/>
          <p:nvPr/>
        </p:nvSpPr>
        <p:spPr>
          <a:xfrm>
            <a:off x="8092440" y="54132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474970"/>
            <a:ext cx="150876" cy="15087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85632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Vectorized 5x5 Rank-Order Median Filter: 10% S&amp;P cleared in 0.8 ms</a:t>
            </a:r>
          </a:p>
        </p:txBody>
      </p:sp>
      <p:sp>
        <p:nvSpPr>
          <p:cNvPr id="72" name="Oval 71"/>
          <p:cNvSpPr/>
          <p:nvPr/>
        </p:nvSpPr>
        <p:spPr>
          <a:xfrm>
            <a:off x="8092440" y="58704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932170"/>
            <a:ext cx="150876" cy="15087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485632" y="5852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Clamped Slew-Rate Servo (5.0°/s) | ≥ 35 FPS Deterministic CPU</a:t>
            </a:r>
          </a:p>
        </p:txBody>
      </p:sp>
      <p:pic>
        <p:nvPicPr>
          <p:cNvPr id="75" name="Picture 74" descr="01_satellite_ground_laser_lin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188720"/>
            <a:ext cx="36118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>
                <a:latin typeface="Times New Roman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325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EF3F2"/>
          </a:solidFill>
          <a:ln w="15240">
            <a:solidFill>
              <a:srgbClr val="F5D0C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777240" y="1472184"/>
            <a:ext cx="925189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5D0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77240" y="1472184"/>
            <a:ext cx="92518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991B1B"/>
                </a:solidFill>
                <a:latin typeface="Calibri"/>
              </a:rPr>
              <a:t>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77240" y="178308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A10000"/>
                </a:solidFill>
                <a:latin typeface="Calibri"/>
              </a:rPr>
              <a:t>Current Operational Limitations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77240" y="2002536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Manual / Open-Loop Pointing: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Uncertainty cones lead to prolonged search &amp; lost laser links.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Scintillation &amp; Fog Blindness: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Atmospheric turbulence drops SNR below detection thresholds.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Noise Centroid Hijacking: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10% Salt &amp; Pepper noise corrupts naive first-order moment calculations.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Motor Slew Violations: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Abrupt gimbal commands exceed motor inertia limits (5-10°/s).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₹50L+ Testbed Cost: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Demands expensive physical vacuum chambers and piezo steering benches.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40"/>
            <a:ext cx="3520440" cy="2514600"/>
          </a:xfrm>
          <a:prstGeom prst="roundRect">
            <a:avLst>
              <a:gd name="adj" fmla="val 4363"/>
            </a:avLst>
          </a:prstGeom>
          <a:solidFill>
            <a:srgbClr val="EBF4FC"/>
          </a:solidFill>
          <a:ln w="15240">
            <a:solidFill>
              <a:srgbClr val="C5DEF5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777240" y="3895344"/>
            <a:ext cx="1324782" cy="256032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C5DE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777240" y="3895344"/>
            <a:ext cx="132478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F2240"/>
                </a:solidFill>
                <a:latin typeface="Calibri"/>
              </a:rPr>
              <a:t>OUR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777240" y="420624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475569"/>
                </a:solidFill>
                <a:latin typeface="Calibri"/>
              </a:rPr>
              <a:t>Autonomous Software Tracking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77240" y="4425696"/>
            <a:ext cx="315468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FFB35C"/>
              </a:buClr>
              <a:buFont typeface="Arial"/>
              <a:buChar char="•"/>
            </a:pPr>
            <a:r>
              <a:rPr b="1" sz="850">
                <a:solidFill>
                  <a:srgbClr val="0F2240"/>
                </a:solidFill>
              </a:rPr>
              <a:t>• Closed-Loop SIL Tracking: </a:t>
            </a:r>
            <a:r>
              <a:rPr b="0" sz="800">
                <a:solidFill>
                  <a:srgbClr val="212B36"/>
                </a:solidFill>
              </a:rPr>
              <a:t>Instant lock in ≤ 0.8 s across 2000x2000 universe (22.5 arcsec/px).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240"/>
                </a:solidFill>
              </a:rPr>
              <a:t>• Vectorized Rank Denoising: </a:t>
            </a:r>
            <a:r>
              <a:rPr b="0" sz="800">
                <a:solidFill>
                  <a:srgbClr val="212B36"/>
                </a:solidFill>
              </a:rPr>
              <a:t>5x5 median kernel strips 100% of 10% S&amp;P noise in 0.8 ms.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240"/>
                </a:solidFill>
              </a:rPr>
              <a:t>• Sub-Pixel 2D Gaussian Fit: </a:t>
            </a:r>
            <a:r>
              <a:rPr b="0" sz="800">
                <a:solidFill>
                  <a:srgbClr val="212B36"/>
                </a:solidFill>
              </a:rPr>
              <a:t>Centroid error &lt; 0.2 px (far beating ISRO's ≤ 10 px mandate by 50x).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240"/>
                </a:solidFill>
              </a:rPr>
              <a:t>• Clamped Slew-Rate Servo: </a:t>
            </a:r>
            <a:r>
              <a:rPr b="0" sz="800">
                <a:solidFill>
                  <a:srgbClr val="212B36"/>
                </a:solidFill>
              </a:rPr>
              <a:t>Anti-windup PID enforces statutory 5.0°/s slew limit with velocity feedforward.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F2240"/>
                </a:solidFill>
              </a:rPr>
              <a:t>• Deterministic CPU Runtime: </a:t>
            </a:r>
            <a:r>
              <a:rPr b="0" sz="800">
                <a:solidFill>
                  <a:srgbClr val="212B36"/>
                </a:solidFill>
              </a:rPr>
              <a:t>100% offline, ≥ 35 FPS on consumer dual-core CPU with zero GPU requirement.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51960" y="1325880"/>
            <a:ext cx="204404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4251960" y="1325880"/>
            <a:ext cx="204404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SOLUTION ARCHITECTURE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4251960" y="1618488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Three-Tier Decoupled Pipeline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251960" y="1856231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4379976" y="1965960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E0EEFC"/>
          </a:solidFill>
          <a:ln w="12700">
            <a:solidFill>
              <a:srgbClr val="C5DE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379976" y="1965960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0E7490"/>
                </a:solidFill>
                <a:latin typeface="Calibri"/>
              </a:rPr>
              <a:t>TIER 1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020056" y="1956815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Kinematics &amp; Virtual Gimbal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416552" y="2240279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b="1" sz="800">
                <a:solidFill>
                  <a:srgbClr val="0F2240"/>
                </a:solidFill>
              </a:rPr>
              <a:t>• Coordinate Geometry: </a:t>
            </a:r>
            <a:r>
              <a:rPr sz="780">
                <a:solidFill>
                  <a:srgbClr val="212B36"/>
                </a:solidFill>
              </a:rPr>
              <a:t>2000x2000 px world resolving 22.5 arcsec/px (4°x3° FOV).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Kinematic Trajectories: </a:t>
            </a:r>
            <a:r>
              <a:rPr sz="780">
                <a:solidFill>
                  <a:srgbClr val="212B36"/>
                </a:solidFill>
              </a:rPr>
              <a:t>Singer acceleration walk, Lemniscate: (x²+y²)² = 2a²(x²-y²).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Pinhole Windowing: </a:t>
            </a:r>
            <a:r>
              <a:rPr sz="780">
                <a:solidFill>
                  <a:srgbClr val="212B36"/>
                </a:solidFill>
              </a:rPr>
              <a:t>Camera matrix K crops 640x480 active FPA with motor rate limits (5-10°/s).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251960" y="3291839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4379976" y="340156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E0EEFC"/>
          </a:solidFill>
          <a:ln w="12700">
            <a:solidFill>
              <a:srgbClr val="C5DE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4379976" y="340156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0E7490"/>
                </a:solidFill>
                <a:latin typeface="Calibri"/>
              </a:rPr>
              <a:t>TIER 2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020056" y="3392423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Optical Physics &amp; Atmospheric Channel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416552" y="3675887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b="1" sz="800">
                <a:solidFill>
                  <a:srgbClr val="0F2240"/>
                </a:solidFill>
              </a:rPr>
              <a:t>• Airy Disc Optics: </a:t>
            </a:r>
            <a:r>
              <a:rPr sz="780">
                <a:solidFill>
                  <a:srgbClr val="212B36"/>
                </a:solidFill>
              </a:rPr>
              <a:t>Diffraction PSF I(θ) = I₀ [2J₁(u)/u]² (spot size 5x5 to 20x20 px).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Beer-Lambert Extinction: </a:t>
            </a:r>
            <a:r>
              <a:rPr sz="780">
                <a:solidFill>
                  <a:srgbClr val="212B36"/>
                </a:solidFill>
              </a:rPr>
              <a:t>Atmospheric transmission I = I₀ exp(-γR) with dynamic fog/haze.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Disturbance Injection: </a:t>
            </a:r>
            <a:r>
              <a:rPr sz="780">
                <a:solidFill>
                  <a:srgbClr val="212B36"/>
                </a:solidFill>
              </a:rPr>
              <a:t>Poisson shot noise, Kolmogorov turbulence phase variance σ_R², 10% S&amp;P.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251960" y="4727448"/>
            <a:ext cx="3977639" cy="1517904"/>
          </a:xfrm>
          <a:prstGeom prst="roundRect">
            <a:avLst>
              <a:gd name="adj" fmla="val 602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4379976" y="4837176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E0EEFC"/>
          </a:solidFill>
          <a:ln w="12700">
            <a:solidFill>
              <a:srgbClr val="C5DE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4379976" y="48371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0E7490"/>
                </a:solidFill>
                <a:latin typeface="Calibri"/>
              </a:rPr>
              <a:t>TIER 3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5020056" y="4828032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Edge AI Perception &amp; IMM-Kalman Control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416552" y="5111496"/>
            <a:ext cx="3666744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b="1" sz="800">
                <a:solidFill>
                  <a:srgbClr val="0F2240"/>
                </a:solidFill>
              </a:rPr>
              <a:t>• Stage 1 Rank Denoising: </a:t>
            </a:r>
            <a:r>
              <a:rPr sz="780">
                <a:solidFill>
                  <a:srgbClr val="212B36"/>
                </a:solidFill>
              </a:rPr>
              <a:t>Vectorized 5x5 median kernel strips 100% impulsive noise in 0.8 ms.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Stage 2 Saliency Proposal: </a:t>
            </a:r>
            <a:r>
              <a:rPr sz="780">
                <a:solidFill>
                  <a:srgbClr val="212B36"/>
                </a:solidFill>
              </a:rPr>
              <a:t>Spatio-temporal gradient heatmap isolates candidate beacon ROI.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Stage 3 Gaussian Fit: </a:t>
            </a:r>
            <a:r>
              <a:rPr sz="780">
                <a:solidFill>
                  <a:srgbClr val="212B36"/>
                </a:solidFill>
              </a:rPr>
              <a:t>Continuous surface fit: I(x,y) = A exp(-r²/2σ²) + B ⟹ RMSE &lt; 0.2 px.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F2240"/>
                </a:solidFill>
              </a:rPr>
              <a:t>• Stage 4 IMM Servo Loop: </a:t>
            </a:r>
            <a:r>
              <a:rPr sz="780">
                <a:solidFill>
                  <a:srgbClr val="212B36"/>
                </a:solidFill>
              </a:rPr>
              <a:t>Kalman filter blends CV &amp; CT states; feeds anti-windup PID clamped to ≤ 5°/s.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8366760" y="1325880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8366760" y="1325880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B35A00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366760" y="161848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Key Technical Differentiators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366760" y="1856231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EF8EE"/>
          </a:solidFill>
          <a:ln w="12700">
            <a:solidFill>
              <a:srgbClr val="F4E0C3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6" name="Oval 15395"/>
          <p:cNvSpPr/>
          <p:nvPr/>
        </p:nvSpPr>
        <p:spPr>
          <a:xfrm>
            <a:off x="8485632" y="1975103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7" name="Picture 15396" descr="Sub-Pixel Gray-Diffus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045055"/>
            <a:ext cx="170992" cy="170992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8897112" y="1956815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2240"/>
                </a:solidFill>
              </a:rPr>
              <a:t>Sub-Pixel Gray-Diffusion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503920" y="2240279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212B36"/>
                </a:solidFill>
              </a:defRPr>
            </a:pPr>
            <a:r>
              <a:t>I(x,y) = A exp(-r²/2σ²); analytical Gaussian surface fitting eliminates pixel quantization, guaranteeing &lt; 0.2 px centroid accuracy under dense noise.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8366760" y="2734056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EBF4FC"/>
          </a:solidFill>
          <a:ln w="12700">
            <a:solidFill>
              <a:srgbClr val="C5DEF5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1" name="Oval 15400"/>
          <p:cNvSpPr/>
          <p:nvPr/>
        </p:nvSpPr>
        <p:spPr>
          <a:xfrm>
            <a:off x="8485632" y="2852927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2" name="Picture 15401" descr="IMM Multi-Model Filt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922879"/>
            <a:ext cx="170992" cy="170992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8897112" y="2834639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2240"/>
                </a:solidFill>
              </a:rPr>
              <a:t>IMM Multi-Model Filter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503920" y="3118103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212B36"/>
                </a:solidFill>
              </a:defRPr>
            </a:pPr>
            <a:r>
              <a:t>Mode mixing μ_k^(j) = (1/c) Λ_k^(j) ∑ p_ij μ_(k-1)^(i); dynamically blends Constant Velocity &amp; Coordinated Turn states, eliminating lag during Figure-8 reversals.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8366760" y="3611879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EF3F2"/>
          </a:solidFill>
          <a:ln w="12700">
            <a:solidFill>
              <a:srgbClr val="F5D0C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6" name="Oval 15405"/>
          <p:cNvSpPr/>
          <p:nvPr/>
        </p:nvSpPr>
        <p:spPr>
          <a:xfrm>
            <a:off x="8485632" y="3730752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7" name="Picture 15406" descr="ISRO Benchmark-2 Bypas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3800703"/>
            <a:ext cx="170992" cy="170992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8897112" y="3712463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2240"/>
                </a:solidFill>
              </a:rPr>
              <a:t>Anti-Windup Slew Servo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503920" y="3995928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212B36"/>
                </a:solidFill>
              </a:defRPr>
            </a:pPr>
            <a:r>
              <a:t>θ_dot = sat_[-5°, 5°](Kp e + Kd e_dot + Ki ∫e); enforces strict 5-10°/s motor slew limits with predictive velocity feedforward, avoiding overshoot.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8366760" y="4489704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EEF7F2"/>
          </a:solidFill>
          <a:ln w="12700">
            <a:solidFill>
              <a:srgbClr val="C6E4D2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1" name="Oval 15410"/>
          <p:cNvSpPr/>
          <p:nvPr/>
        </p:nvSpPr>
        <p:spPr>
          <a:xfrm>
            <a:off x="8485632" y="4608576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2" name="Picture 15411" descr="Deterministic CPU Runtim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4678527"/>
            <a:ext cx="170992" cy="170992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8897112" y="4590288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2240"/>
                </a:solidFill>
              </a:rPr>
              <a:t>Deterministic CPU Runtime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503920" y="487375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212B36"/>
                </a:solidFill>
              </a:defRPr>
            </a:pPr>
            <a:r>
              <a:t>Total pipeline latency T_frame ≤ 19.9 ms ≪ 33.3 ms (≥ 35 FPS) on consumer dual-core CPU with zero discrete GPU requirement.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8366760" y="5367527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5F3FA"/>
          </a:solidFill>
          <a:ln w="12700">
            <a:solidFill>
              <a:srgbClr val="DCD4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6" name="Oval 15415"/>
          <p:cNvSpPr/>
          <p:nvPr/>
        </p:nvSpPr>
        <p:spPr>
          <a:xfrm>
            <a:off x="8485632" y="5486399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7" name="Picture 15416" descr="Zero-Capex SIL Platfor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5556351"/>
            <a:ext cx="170992" cy="170992"/>
          </a:xfrm>
          <a:prstGeom prst="rect">
            <a:avLst/>
          </a:prstGeom>
        </p:spPr>
      </p:pic>
      <p:sp>
        <p:nvSpPr>
          <p:cNvPr id="15418" name="TextBox 15417"/>
          <p:cNvSpPr txBox="1"/>
          <p:nvPr/>
        </p:nvSpPr>
        <p:spPr>
          <a:xfrm>
            <a:off x="8897112" y="5468112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2240"/>
                </a:solidFill>
              </a:rPr>
              <a:t>Zero-Capex SIL Platform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503920" y="5751575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212B36"/>
                </a:solidFill>
              </a:defRPr>
            </a:pPr>
            <a:r>
              <a:t>Saves ₹50L+ per testing campaign; fully offline air-gapped simulation enables repeatable Monte Carlo stress tests matching ISRO criteria.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5394960" cy="4937759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49808" y="1472184"/>
            <a:ext cx="372233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49808" y="1472184"/>
            <a:ext cx="372233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IMPLEMENTATION WORKFLOW &amp; CONTROL PIPELINE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905256" y="2185415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16" name="Oval 17415"/>
          <p:cNvSpPr/>
          <p:nvPr/>
        </p:nvSpPr>
        <p:spPr>
          <a:xfrm>
            <a:off x="749808" y="183794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83794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88719" y="181051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Global Universe Kinematic Propagation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88719" y="202996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Lemniscate (x²+y²)² = 2a²(x²-y²) &amp; Singer acceleration walk across 2000x2000 space (22.5 arcsec/px).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905256" y="2912363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1" name="Oval 17420"/>
          <p:cNvSpPr/>
          <p:nvPr/>
        </p:nvSpPr>
        <p:spPr>
          <a:xfrm>
            <a:off x="749808" y="2564891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49808" y="256489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188719" y="2537460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Platform Multi-Harmonic Jitter Synthesis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188719" y="2756915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Multi-harmonic angular vibration θ_jit(t) = ∑ A_k sin(2π f_k t + φ_k) injecting ±20 px satellite resonance.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905256" y="3639311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6" name="Oval 17425"/>
          <p:cNvSpPr/>
          <p:nvPr/>
        </p:nvSpPr>
        <p:spPr>
          <a:xfrm>
            <a:off x="749808" y="3291839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749808" y="32918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188719" y="3264408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Optical &amp; Atmospheric Channel Degradation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188719" y="3483863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Diffraction Airy PSF I(θ) = I₀ [2J₁(u)/u]² with Beer-Lambert extinction I = I₀ exp(-γR) &amp; 10% S&amp;P noise.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905256" y="4366259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1" name="Oval 17430"/>
          <p:cNvSpPr/>
          <p:nvPr/>
        </p:nvSpPr>
        <p:spPr>
          <a:xfrm>
            <a:off x="749808" y="4018787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49808" y="401878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188719" y="3991355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Virtual PTZ Pinhole Viewport Windowing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188719" y="4210812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Pinhole projective camera matrix K crops 640x480 active FPA (4°x3° FOV) with pan/tilt inertia.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05256" y="5093207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6" name="Oval 17435"/>
          <p:cNvSpPr/>
          <p:nvPr/>
        </p:nvSpPr>
        <p:spPr>
          <a:xfrm>
            <a:off x="749808" y="4745736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49808" y="47457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188719" y="4718303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Rank Denoising &amp; Sub-Pixel AI Centroiding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88719" y="4937759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Vectorized 5x5 rank-order median filter + continuous 2D Gaussian fit: RMSE &lt; 0.2 px in 0.8 ms.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749808" y="547268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54726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188719" y="544525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IMM-Kalman Prediction &amp; Gimbal Servo Command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188719" y="566470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IMM-KF blends CV &amp; CT states; feeds anti-windup PID servo clamped to statutory ≤ 5.0°/s slew limit.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172200" y="1325880"/>
            <a:ext cx="5470855" cy="4937759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6373368" y="1472184"/>
            <a:ext cx="2843235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373368" y="1472184"/>
            <a:ext cx="284323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FULL-STACK TECHNOLOGY ECOSYSTEM</a:t>
            </a:r>
          </a:p>
        </p:txBody>
      </p:sp>
      <p:pic>
        <p:nvPicPr>
          <p:cNvPr id="17447" name="Picture 17446" descr="05_distributed_3node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193792" cy="228600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6309360" y="4251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IMM Kinematics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909560" y="425196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B36"/>
                </a:solidFill>
              </a:defRPr>
            </a:pPr>
            <a:r>
              <a:t>Dual-mode Kalman filter combining CV and CT models to eliminate lag: μ_k^(j)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30936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Servo Control Loop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909560" y="475488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B36"/>
                </a:solidFill>
              </a:defRPr>
            </a:pPr>
            <a:r>
              <a:t>Feedforward predictive anti-windup PID (strict 5.0°/s slew clamping: sat_[-5,5])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6309360" y="4700016"/>
            <a:ext cx="5193792" cy="0"/>
          </a:xfrm>
          <a:prstGeom prst="line">
            <a:avLst/>
          </a:prstGeom>
          <a:ln w="1016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TextBox 17452"/>
          <p:cNvSpPr txBox="1"/>
          <p:nvPr/>
        </p:nvSpPr>
        <p:spPr>
          <a:xfrm>
            <a:off x="6309360" y="5257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Tactical Cockpit GUI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909560" y="525780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B36"/>
                </a:solidFill>
              </a:defRPr>
            </a:pPr>
            <a:r>
              <a:t>OpenCV Tactical HUD &amp; Live Web Radar (HTTP 8080) with manual PTZ override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6309360" y="5202936"/>
            <a:ext cx="5193792" cy="0"/>
          </a:xfrm>
          <a:prstGeom prst="line">
            <a:avLst/>
          </a:prstGeom>
          <a:ln w="1016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TextBox 17455"/>
          <p:cNvSpPr txBox="1"/>
          <p:nvPr/>
        </p:nvSpPr>
        <p:spPr>
          <a:xfrm>
            <a:off x="6309360" y="5760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Compliance &amp; CI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909560" y="576072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B36"/>
                </a:solidFill>
              </a:defRPr>
            </a:pPr>
            <a:r>
              <a:t>Automated CSV/PDF Benchmark-2 audit engine logging RMSE, latency, &amp; lock retention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6309360" y="5705856"/>
            <a:ext cx="5193792" cy="0"/>
          </a:xfrm>
          <a:prstGeom prst="line">
            <a:avLst/>
          </a:prstGeom>
          <a:ln w="1016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233672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7918704" y="1325880"/>
            <a:ext cx="3596335" cy="4937759"/>
          </a:xfrm>
          <a:prstGeom prst="roundRect">
            <a:avLst>
              <a:gd name="adj" fmla="val 3051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49808" y="1472184"/>
            <a:ext cx="196413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49808" y="1472184"/>
            <a:ext cx="196413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FEASIBILITY ANALYSIS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Quantitative SLAs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749808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TECHNICAL FEASI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" y="2096719"/>
            <a:ext cx="140817" cy="14081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1078992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TECHNICAL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9808" y="2331720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Frame latency budget (33.3 ms ceiling):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1247" y="2551176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Denoising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953512" y="2551176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0.8 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41247" y="2724912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AI Localizer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953512" y="2724912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12.4 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41247" y="2898648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Sub-Pixel Centroid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953512" y="2898648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0.4 ms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41247" y="3072384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IMM-KF &amp; PID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953512" y="3072384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0.1 ms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41247" y="3246120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UI HUD Draw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953512" y="3246120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6.2 ms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49808" y="3438144"/>
            <a:ext cx="3118104" cy="384048"/>
          </a:xfrm>
          <a:prstGeom prst="roundRect">
            <a:avLst>
              <a:gd name="adj" fmla="val 16666"/>
            </a:avLst>
          </a:prstGeom>
          <a:solidFill>
            <a:srgbClr val="EEF7F2"/>
          </a:solidFill>
          <a:ln w="12700">
            <a:solidFill>
              <a:srgbClr val="C6E4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41247" y="3465576"/>
            <a:ext cx="293522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B35A00"/>
                </a:solidFill>
                <a:latin typeface="Calibri"/>
              </a:rPr>
              <a:t>= 19.9 ms Total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41247" y="3639312"/>
            <a:ext cx="293522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 lang="en-US">
                <a:solidFill>
                  <a:srgbClr val="0A6636"/>
                </a:solidFill>
                <a:latin typeface="Calibri"/>
              </a:rPr>
              <a:t>≥ 45 FPS on dual-core CPU, zero discrete GPU needed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749808" y="3950208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OPERATIONAL FEASI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" y="4007815"/>
            <a:ext cx="140817" cy="140817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078992" y="395020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OPERATIONAL FEASIBILITY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49808" y="424281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Rapid Setup: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&lt; 1 min zero-config launch on Windows/macOS.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Benchmark Bypass: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Drag-and-drop ingestion of external .mp4 video files.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Repeatable Runs: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Deterministic PRNG seeds for reproducible jury audits.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749808" y="5084064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FINANCIAL FEASI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" y="5141671"/>
            <a:ext cx="140817" cy="140817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078992" y="508406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FINANCIAL FEASIBILITY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49808" y="5376672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₹0 Hardware Capex: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Eliminates ₹50L+ optical gimbal &amp; vacuum chambers.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Open Access: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Available across Indian universities and space research labs.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434840" y="1472184"/>
            <a:ext cx="2123968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4434840" y="1472184"/>
            <a:ext cx="21239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VIABILITY &amp; DEPLOYMENT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434840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Space Mission Fit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4434840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ECONOMIC DISRUP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447" y="2096719"/>
            <a:ext cx="140817" cy="140817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764024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ECONOMIC DISRUPTION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434840" y="2331720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FEF3F2"/>
          </a:solidFill>
          <a:ln w="12700">
            <a:solidFill>
              <a:srgbClr val="F5D0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526279" y="2331720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Physical FSOC Testbed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993892" y="2331720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A10000"/>
                </a:solidFill>
                <a:latin typeface="Calibri"/>
              </a:rPr>
              <a:t>₹50+ Lakhs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434840" y="2715768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EEF7F2"/>
          </a:solidFill>
          <a:ln w="12700">
            <a:solidFill>
              <a:srgbClr val="C6E4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526279" y="2715768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Phoenix SIL Simulator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993892" y="2715768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0A6636"/>
                </a:solidFill>
                <a:latin typeface="Calibri"/>
              </a:rPr>
              <a:t>₹0 (Open-Source)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434840" y="3154679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en-US">
                <a:solidFill>
                  <a:srgbClr val="1E2638"/>
                </a:solidFill>
                <a:latin typeface="Calibri"/>
              </a:rPr>
              <a:t>Allows parallel multi-team algorithm development without equipment bottlenecks.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4434840" y="3611879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AIR-GAPPED DATA RESILIEN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447" y="3669487"/>
            <a:ext cx="140817" cy="140817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4764024" y="3611879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AIR-GAPPED DATA RESILIENCE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434840" y="3904487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100% Offline Execution: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Zero cloud dependency; telemetry, logs, and AI weights stay local.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0" i="0" lang="en-US">
                <a:solidFill>
                  <a:srgbClr val="1E2638"/>
                </a:solidFill>
                <a:latin typeface="Calibri"/>
              </a:rPr>
              <a:t>Meets strict DRDO/ISRO cyber-security and air-gapped lab compliance mandates.</a:t>
            </a:r>
          </a:p>
        </p:txBody>
      </p:sp>
      <p:sp>
        <p:nvSpPr>
          <p:cNvPr id="17460" name="Oval 17459"/>
          <p:cNvSpPr/>
          <p:nvPr/>
        </p:nvSpPr>
        <p:spPr>
          <a:xfrm>
            <a:off x="4434840" y="4672583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SPACE AVIONICS ROADMA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2447" y="4730191"/>
            <a:ext cx="140817" cy="140817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4764024" y="4672583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1">
                <a:solidFill>
                  <a:srgbClr val="0F2240"/>
                </a:solidFill>
              </a:rPr>
              <a:t>OPTICAL CHANNEL VALIDATION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119872" y="1472184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8119872" y="1472184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CHALLENGES → STRATEGIES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119872" y="1764792"/>
            <a:ext cx="319399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Engineering Risk Mitigations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119872" y="202082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8119872" y="20208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449056" y="200253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10% Salt &amp; Pepper + Poisson Noise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449056" y="228600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→ Vectorized 5x5 rank-order median filter eliminates 100% impulsive salt-and-pepper noise in 0.8 ms before feature extraction.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8119872" y="286664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8119872" y="28666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449056" y="284835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Maneuvering Lag in Figure-8 Turns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449056" y="313182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→ IMM multi-hypothesis Kalman filter (μ_k^(CV) ↔ μ_k^(CT)) dynamically adapts between linear drift and high-g turning with zero lag.</a:t>
            </a:r>
          </a:p>
        </p:txBody>
      </p:sp>
      <p:sp>
        <p:nvSpPr>
          <p:cNvPr id="17475" name="Oval 17474"/>
          <p:cNvSpPr/>
          <p:nvPr/>
        </p:nvSpPr>
        <p:spPr>
          <a:xfrm>
            <a:off x="8119872" y="371246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8119872" y="37124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449056" y="369417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Gimbal Slew Constraints (5-10°/s)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449056" y="397764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→ Anti-windup saturated velocity PID profiler (θ_dot ≤ 5.0°/s) prevents motor torque saturation and models real gimbal inertia.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8119872" y="455828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0" name="TextBox 17479"/>
          <p:cNvSpPr txBox="1"/>
          <p:nvPr/>
        </p:nvSpPr>
        <p:spPr>
          <a:xfrm>
            <a:off x="8119872" y="45582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8449056" y="453999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Low-Contrast Beacon in Dense Fog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8449056" y="482346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→ Deep saliency proposal fuses spatial gradients to isolate faint beacon spots under Beer-Lambert extinction (I = I₀ exp(-γR)).</a:t>
            </a:r>
          </a:p>
        </p:txBody>
      </p:sp>
      <p:sp>
        <p:nvSpPr>
          <p:cNvPr id="17483" name="Oval 17482"/>
          <p:cNvSpPr/>
          <p:nvPr/>
        </p:nvSpPr>
        <p:spPr>
          <a:xfrm>
            <a:off x="8119872" y="540410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4" name="TextBox 17483"/>
          <p:cNvSpPr txBox="1"/>
          <p:nvPr/>
        </p:nvSpPr>
        <p:spPr>
          <a:xfrm>
            <a:off x="8119872" y="54041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8449056" y="538581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900"/>
            </a:pPr>
            <a:r>
              <a:t>Multi-Terminal Network Latency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449056" y="566928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780">
                <a:solidFill>
                  <a:srgbClr val="212B36"/>
                </a:solidFill>
              </a:defRPr>
            </a:pPr>
            <a:r>
              <a:t>→ Non-blocking UDP with 8KB MTU fragmentation decouples 30 Hz edge vision from 60 Hz web cockpit with zero packet lag.</a:t>
            </a:r>
          </a:p>
        </p:txBody>
      </p:sp>
      <p:pic>
        <p:nvPicPr>
          <p:cNvPr id="17487" name="Picture 17486" descr="04_optical_disturbances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4160520"/>
            <a:ext cx="324612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EBF4FC"/>
          </a:solidFill>
          <a:ln w="15240">
            <a:solidFill>
              <a:srgbClr val="C5DEF5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731520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ISRO / SAC FLIGHT TEAM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1595628"/>
            <a:ext cx="210312" cy="2103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243584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ISRO / SAC FLIGHT TEAMS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Accelerated Development: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Cuts PAT validation cycles from 6 months to 48 hours.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Risk-Free Validation: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Verifies coarse tracking algorithms prior to hardware fabrication.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Automated Logging: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Produces standardized timestamped error audits matching ISRO criteria.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70935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EF8EE"/>
          </a:solidFill>
          <a:ln w="15240">
            <a:solidFill>
              <a:srgbClr val="F4E0C3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553815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NATIONAL SPACE DEFEN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971" y="1595628"/>
            <a:ext cx="210312" cy="21031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065879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NATIONAL SPACE DEFENSE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553815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Jam-Proof Comms: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Accelerates deployment of high-throughput optical links immune to RF EW.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QKD Readiness: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Coarse tracking foundation for satellite Quantum Key Distribution meshes.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Airborne FSOC: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Supports UAV-to-ground high-bandwidth disaster and defense links.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3231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5F3FA"/>
          </a:solidFill>
          <a:ln w="15240">
            <a:solidFill>
              <a:srgbClr val="DCD4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6376111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DEEP SPACE &amp; OISL MISSIO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267" y="1595628"/>
            <a:ext cx="210312" cy="210312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888175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DEEP SPACE &amp; OISL MISSIONS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76111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Inter-Satellite Crosslinks: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Establishes tracking algorithms for LEO mega-constellations.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Lunar &amp; Planetary Probes: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Validates coarse alignment for deep-space laser transceivers.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Adaptive Simulation: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Models dynamic space scintillation and reaction-wheel jitter.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015526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EEF7F2"/>
          </a:solidFill>
          <a:ln w="15240">
            <a:solidFill>
              <a:srgbClr val="C6E4D2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9198406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INDIAN ACADEMIA &amp; STARTUP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562" y="1595628"/>
            <a:ext cx="210312" cy="21031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9710470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INDIAN ACADEMIA &amp; STARTUPS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198406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Democratized Research: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Zero-Capex platform enables university labs to design FSOC algorithms.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Repeatable Benchmarking: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Standardized testbed lowers barrier of entry for spacetech startups.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Open Standards: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Clean modular codebase fostering indigenous space-comms innovation.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48640" y="3977640"/>
            <a:ext cx="11094415" cy="2285999"/>
          </a:xfrm>
          <a:prstGeom prst="roundRect">
            <a:avLst>
              <a:gd name="adj" fmla="val 4800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49808" y="4096512"/>
            <a:ext cx="5320710" cy="256032"/>
          </a:xfrm>
          <a:prstGeom prst="roundRect">
            <a:avLst>
              <a:gd name="adj" fmla="val 50000"/>
            </a:avLst>
          </a:prstGeom>
          <a:solidFill>
            <a:srgbClr val="F084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49808" y="4096512"/>
            <a:ext cx="532071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14345C"/>
                </a:solidFill>
                <a:latin typeface="Calibri"/>
              </a:rPr>
              <a:t>PHOENIX IMPACT PIPELINE — MEASURABLE PERFORMANCE BREAKTHROUGHS</a:t>
            </a:r>
          </a:p>
        </p:txBody>
      </p:sp>
      <p:sp>
        <p:nvSpPr>
          <p:cNvPr id="17435" name="Pentagon 17434"/>
          <p:cNvSpPr/>
          <p:nvPr/>
        </p:nvSpPr>
        <p:spPr>
          <a:xfrm>
            <a:off x="749808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  DEPLOY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86384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Zero-Install Runtime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86384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Standalone cross-platform executable starts in &lt; 30 seconds with zero hardware prerequisites.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49808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749808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0F2240"/>
                </a:solidFill>
                <a:latin typeface="Calibri"/>
              </a:rPr>
              <a:t>100% Offline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475569"/>
                </a:solidFill>
                <a:latin typeface="Calibri"/>
              </a:rPr>
              <a:t>Zero setup time</a:t>
            </a:r>
          </a:p>
        </p:txBody>
      </p:sp>
      <p:sp>
        <p:nvSpPr>
          <p:cNvPr id="17442" name="Pentagon 17441"/>
          <p:cNvSpPr/>
          <p:nvPr/>
        </p:nvSpPr>
        <p:spPr>
          <a:xfrm>
            <a:off x="2913827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298697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  SIMULATE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2950403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Multi-Disturbance Scaling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950403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Generates a 2000x2000 universe with 10% S&amp;P noise, Beer-Lambert fog, and ±20 px platform jitter.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913827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2913827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0F2240"/>
                </a:solidFill>
                <a:latin typeface="Calibri"/>
              </a:rPr>
              <a:t>Deterministic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2913827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475569"/>
                </a:solidFill>
                <a:latin typeface="Calibri"/>
              </a:rPr>
              <a:t>30 Hz loop</a:t>
            </a:r>
          </a:p>
        </p:txBody>
      </p:sp>
      <p:sp>
        <p:nvSpPr>
          <p:cNvPr id="17449" name="Pentagon 17448"/>
          <p:cNvSpPr/>
          <p:nvPr/>
        </p:nvSpPr>
        <p:spPr>
          <a:xfrm>
            <a:off x="5077846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150998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  ACQUIRE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114422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Instant Lock Acquisition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5114422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Autonomous beacon acquisition in ≤ 0.8 s, beating ISRO's ≤ 2.0 s mandate by &gt;60%.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077846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5077846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0F2240"/>
                </a:solidFill>
                <a:latin typeface="Calibri"/>
              </a:rPr>
              <a:t>≤ 0.8 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77846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475569"/>
                </a:solidFill>
                <a:latin typeface="Calibri"/>
              </a:rPr>
              <a:t>SLA: ≤ 2 s</a:t>
            </a:r>
          </a:p>
        </p:txBody>
      </p:sp>
      <p:sp>
        <p:nvSpPr>
          <p:cNvPr id="17456" name="Pentagon 17455"/>
          <p:cNvSpPr/>
          <p:nvPr/>
        </p:nvSpPr>
        <p:spPr>
          <a:xfrm>
            <a:off x="7241865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7315017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  TRACK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278441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Sub-Pixel Precision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278441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Maintains continuous centroid lock with error ≤ 1.5 px nominal, ≤ 4.8 px under extreme noise.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41865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41865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0F2240"/>
                </a:solidFill>
                <a:latin typeface="Calibri"/>
              </a:rPr>
              <a:t>≤ 1.5 px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241865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475569"/>
                </a:solidFill>
                <a:latin typeface="Calibri"/>
              </a:rPr>
              <a:t>SLA: ≤ 10 px</a:t>
            </a:r>
          </a:p>
        </p:txBody>
      </p:sp>
      <p:sp>
        <p:nvSpPr>
          <p:cNvPr id="17463" name="Pentagon 17462"/>
          <p:cNvSpPr/>
          <p:nvPr/>
        </p:nvSpPr>
        <p:spPr>
          <a:xfrm>
            <a:off x="9405884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9479036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  AUDIT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442460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Automated ISRO Benchmark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9442460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Auto-exports timestamped CSV/PDF reports detailing RMSE, FPS, and lock retention rates.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9405884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F6F9FC"/>
          </a:solidFill>
          <a:ln w="12700">
            <a:solidFill>
              <a:srgbClr val="DA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405884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0F2240"/>
                </a:solidFill>
                <a:latin typeface="Calibri"/>
              </a:rPr>
              <a:t>100%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405884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475569"/>
                </a:solidFill>
                <a:latin typeface="Calibri"/>
              </a:rPr>
              <a:t>Automated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6903720" cy="4937759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31520" y="1453895"/>
            <a:ext cx="451227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1453895"/>
            <a:ext cx="451227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VERIFIED PEER-REVIEWED RESEARCH CITATIONS (2023–2025)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13232" y="174650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22959" y="1801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61872" y="179222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Liu et al. (IEEE ICSOS, 2025)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61872" y="202082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'Pointing, Acquisition, and Tracking (PAT) for Optical Satellite Communications: The ALIGN UK Mission' — Satellite PAT handover: establishes coarse-to-fine transition dynamics and ≤ 2 s acquisition SLA.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6"/>
              </a:rPr>
              <a:t>10.1109/icsos66026.2025.11443125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13232" y="2519172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2959" y="25740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02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61872" y="2564891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Sun, Wang, Wu &amp; Liu (MDPI Photonics, 2024)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61872" y="2793491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'High-Precision Tracking of Free-Space Optical Communication System on Mobile Platforms' — Mobile platform dynamics: validates multi-axis platform jitter rejection (±20 px/frame).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7"/>
              </a:rPr>
              <a:t>10.3390/photonics11100900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13232" y="3291839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22959" y="334670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61872" y="3337559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Saha, Qin, Li, Ye &amp; Jayasuriya (IEEE/CVF CVPR, 2024)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61872" y="3566159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'Turb-Seg-Res: A Segment-then-Restore Pipeline for Dynamic Videos with Atmospheric Turbulence' — Deep vision in turbulence: formulates spatio-temporal segmentation under refractive shimmer.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8"/>
              </a:rPr>
              <a:t>10.1109/CVPR52733.2024.02389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13232" y="4064508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22959" y="41193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261872" y="4110228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Qin, Saha, Chung, Jayasuriya, Ye &amp; Li (ECCV, 2024)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261872" y="4338828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'Unsupervised Moving Object Segmentation with Atmospheric Turbulence' — Deep saliency prior: separates faint moving beacons under dense haze, fog and scintillation.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9"/>
              </a:rPr>
              <a:t>10.1007/978-3-031-72658-3_2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13232" y="4837176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22959" y="48920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261872" y="4882896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Yang, Xie, Liu, Mo &amp; Zeng (MDPI Remote Sensing, 2023)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261872" y="5111496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'Centroid Extraction of Laser Spots Captured by Infrared Detectors Combining Observation Data' — Sub-pixel Gaussian diffusion: mathematical proof of &lt; 0.2 px centroid accuracy under noise.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10"/>
              </a:rPr>
              <a:t>10.3390/rs15082129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13232" y="560984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56647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0E7490"/>
                </a:solidFill>
                <a:latin typeface="Consolas"/>
              </a:rPr>
              <a:t>06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261872" y="565556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1" sz="850">
                <a:solidFill>
                  <a:srgbClr val="0F2240"/>
                </a:solidFill>
              </a:rPr>
              <a:t>Kaushal &amp; Kaddoum (IEEE COMST, 2017)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261872" y="588416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750">
                <a:solidFill>
                  <a:srgbClr val="212B36"/>
                </a:solidFill>
              </a:rPr>
              <a:t>'Optical Communication in Space: Challenges and Mitigation Techniques' — Foundational survey: gold-standard reference for Beer-Lambert extinction &amp; scintillation channels. </a:t>
            </a:r>
            <a:r>
              <a:rPr b="1" sz="750">
                <a:solidFill>
                  <a:srgbClr val="0E7490"/>
                </a:solidFill>
              </a:rPr>
              <a:t>DOI: </a:t>
            </a:r>
            <a:r>
              <a:rPr sz="750" u="sng">
                <a:solidFill>
                  <a:srgbClr val="0D6EFD"/>
                </a:solidFill>
                <a:hlinkClick r:id="rId11"/>
              </a:rPr>
              <a:t>10.1109/COMST.2016.2603518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635240" y="1325880"/>
            <a:ext cx="4007815" cy="4937759"/>
          </a:xfrm>
          <a:prstGeom prst="roundRect">
            <a:avLst>
              <a:gd name="adj" fmla="val 2737"/>
            </a:avLst>
          </a:prstGeom>
          <a:solidFill>
            <a:srgbClr val="F6F9FC"/>
          </a:solidFill>
          <a:ln w="15240">
            <a:solidFill>
              <a:srgbClr val="DAE3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7836408" y="1453895"/>
            <a:ext cx="3260494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836408" y="1453895"/>
            <a:ext cx="326049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PROTOTYPE PROOF &amp; VERIFICATION ASSETS</a:t>
            </a:r>
          </a:p>
        </p:txBody>
      </p:sp>
      <p:pic>
        <p:nvPicPr>
          <p:cNvPr id="17442" name="Picture 17441" descr="GitHub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01368"/>
            <a:ext cx="182880" cy="18288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8092440" y="1792224"/>
            <a:ext cx="334944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Open-Source GitHub Repository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836408" y="2057400"/>
            <a:ext cx="3605479" cy="438912"/>
          </a:xfrm>
          <a:prstGeom prst="roundRect">
            <a:avLst>
              <a:gd name="adj" fmla="val 16666"/>
            </a:avLst>
          </a:prstGeom>
          <a:solidFill>
            <a:srgbClr val="EBF4FC"/>
          </a:solidFill>
          <a:ln w="12700">
            <a:solidFill>
              <a:srgbClr val="C5DE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927848" y="2057400"/>
            <a:ext cx="342259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0E7490"/>
                </a:solidFill>
                <a:latin typeface="Consolas"/>
              </a:rPr>
              <a:t>github.com/jvstin47/Phoenix-X-AI-Based-Virtual-
Camera-Tracking-System-SIH26169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7836408" y="2606039"/>
            <a:ext cx="36054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47" name="TextBox 17446"/>
          <p:cNvSpPr txBox="1"/>
          <p:nvPr/>
        </p:nvSpPr>
        <p:spPr>
          <a:xfrm>
            <a:off x="7836408" y="2697480"/>
            <a:ext cx="36054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Documented Engineering Deliverables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836408" y="2962656"/>
            <a:ext cx="3605479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00">
                <a:solidFill>
                  <a:srgbClr val="212B36"/>
                </a:solidFill>
              </a:rPr>
              <a:t>1. docs/system_architecture_plan.md (System Blueprint)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12B36"/>
                </a:solidFill>
              </a:rPr>
              <a:t>2. academic_research/ (Literature Review &amp; Papers)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212B36"/>
                </a:solidFill>
              </a:rPr>
              <a:t>3. distributed_demo/ (3-Node Networked Simulation)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818120" y="388620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7490"/>
                </a:solidFill>
              </a:defRPr>
            </a:pPr>
            <a:r>
              <a:t>Operational Software Cockpit (main.py)</a:t>
            </a:r>
          </a:p>
        </p:txBody>
      </p:sp>
      <p:pic>
        <p:nvPicPr>
          <p:cNvPr id="17450" name="Picture 17449" descr="03_tactical_dual_viewport_cockp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8120" y="4160520"/>
            <a:ext cx="361188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