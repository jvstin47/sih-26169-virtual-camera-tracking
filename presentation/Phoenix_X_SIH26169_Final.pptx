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352" y="1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hyperlink" Target="https://doi.org/10.1109/icsos66026.2025.11443125" TargetMode="External"/><Relationship Id="rId7" Type="http://schemas.openxmlformats.org/officeDocument/2006/relationships/hyperlink" Target="https://doi.org/10.3390/photonics11100900" TargetMode="External"/><Relationship Id="rId8" Type="http://schemas.openxmlformats.org/officeDocument/2006/relationships/hyperlink" Target="https://doi.org/10.1109/CVPR52733.2024.02389" TargetMode="External"/><Relationship Id="rId9" Type="http://schemas.openxmlformats.org/officeDocument/2006/relationships/hyperlink" Target="https://doi.org/10.1007/978-3-031-72658-3_2" TargetMode="External"/><Relationship Id="rId10" Type="http://schemas.openxmlformats.org/officeDocument/2006/relationships/hyperlink" Target="https://doi.org/10.3390/rs15082129" TargetMode="External"/><Relationship Id="rId11" Type="http://schemas.openxmlformats.org/officeDocument/2006/relationships/hyperlink" Target="https://doi.org/10.1109/COMST.2016.2603518" TargetMode="External"/><Relationship Id="rId1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32520" y="960120"/>
            <a:ext cx="2319302" cy="2577483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11480" y="868680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 spc="100">
                <a:solidFill>
                  <a:srgbClr val="B35A00"/>
                </a:solidFill>
                <a:latin typeface="Calibri"/>
              </a:rPr>
              <a:t>SPACE TECHNOLOGY &amp; SMART AUTOMATION  |  ISRO / SPACE APPLICATIONS CENTRE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1161288"/>
            <a:ext cx="768096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 lang="en-US">
                <a:solidFill>
                  <a:srgbClr val="1F497D"/>
                </a:solidFill>
                <a:latin typeface="Calibri"/>
              </a:rPr>
              <a:t>PROJECT PHOENIX</a:t>
            </a:r>
          </a:p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 lang="en-US">
                <a:solidFill>
                  <a:srgbClr val="D9700F"/>
                </a:solidFill>
                <a:latin typeface="Calibri"/>
              </a:rPr>
              <a:t>FSOC TRACKER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2231136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1250" b="1">
                <a:solidFill>
                  <a:srgbClr val="0F2240"/>
                </a:solidFill>
              </a:defRPr>
            </a:pPr>
            <a:r>
              <a:t>Software-in-the-Loop (SIL) Testbed for Coarse Tracking &amp; Reacquisition in Mobile FSOC Terminals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2889504"/>
            <a:ext cx="7360920" cy="3474720"/>
          </a:xfrm>
          <a:prstGeom prst="roundRect">
            <a:avLst>
              <a:gd name="adj" fmla="val 3684"/>
            </a:avLst>
          </a:prstGeom>
          <a:solidFill>
            <a:srgbClr val="F6F9FC"/>
          </a:solidFill>
          <a:ln w="15240">
            <a:solidFill>
              <a:srgbClr val="C5DEF5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054096"/>
            <a:ext cx="356616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236976"/>
            <a:ext cx="356616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lang="en-US">
                <a:solidFill>
                  <a:srgbClr val="D9700F"/>
                </a:solidFill>
                <a:latin typeface="Calibri"/>
              </a:rPr>
              <a:t>SIH26169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6280" y="3054096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THEME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323697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1F497D"/>
                </a:solidFill>
                <a:latin typeface="Calibri"/>
              </a:rPr>
              <a:t>Space Technology &amp; Smart Automation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3712464"/>
            <a:ext cx="68122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47" name="TextBox 46"/>
          <p:cNvSpPr txBox="1"/>
          <p:nvPr/>
        </p:nvSpPr>
        <p:spPr>
          <a:xfrm>
            <a:off x="685800" y="3803904"/>
            <a:ext cx="681228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PROBLEM STATEMENT TITLE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995928"/>
            <a:ext cx="68122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lang="en-US">
                <a:solidFill>
                  <a:srgbClr val="A10000"/>
                </a:solidFill>
                <a:latin typeface="Calibri"/>
              </a:rPr>
              <a:t>Development of an AI-Based Virtual Camera Tracking System for Coarse Alignment of Mobile Free Space Optical Communication (FSOC) Terminals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4791456"/>
            <a:ext cx="68122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685800" y="4882896"/>
            <a:ext cx="356616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SPONSORING ORGANIZATION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4882896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06577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1F497D"/>
                </a:solidFill>
                <a:latin typeface="Calibri"/>
              </a:rPr>
              <a:t>ISRO / Space Applications Centre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506577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en-US">
                <a:solidFill>
                  <a:srgbClr val="1F497D"/>
                </a:solidFill>
                <a:latin typeface="Calibri"/>
              </a:rPr>
              <a:t>Software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85800" y="5486400"/>
            <a:ext cx="68122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685800" y="5577840"/>
            <a:ext cx="356616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TEAM NAME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26280" y="5577840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lang="en-US" spc="150">
                <a:solidFill>
                  <a:srgbClr val="0070C0"/>
                </a:solidFill>
                <a:latin typeface="Calibri"/>
              </a:rPr>
              <a:t>TEAM 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760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en-US">
                <a:solidFill>
                  <a:srgbClr val="1F497D"/>
                </a:solidFill>
                <a:latin typeface="Calibri"/>
              </a:rPr>
              <a:t>Phoenix 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26280" y="5760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lang="en-US">
                <a:solidFill>
                  <a:srgbClr val="1F497D"/>
                </a:solidFill>
                <a:latin typeface="Calibri"/>
              </a:rPr>
              <a:t>141943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2440" y="3675887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120">
                <a:solidFill>
                  <a:srgbClr val="0070C0"/>
                </a:solidFill>
                <a:latin typeface="Calibri"/>
              </a:rPr>
              <a:t>HEADLINE CAPABILITIES</a:t>
            </a:r>
          </a:p>
        </p:txBody>
      </p:sp>
      <p:sp>
        <p:nvSpPr>
          <p:cNvPr id="60" name="Oval 59"/>
          <p:cNvSpPr/>
          <p:nvPr/>
        </p:nvSpPr>
        <p:spPr>
          <a:xfrm>
            <a:off x="8092440" y="40416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1" name="Picture 60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4103370"/>
            <a:ext cx="150876" cy="15087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485632" y="40233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12B36"/>
                </a:solidFill>
              </a:defRPr>
            </a:pPr>
            <a:r>
              <a:t>Scale: 109.1 μrad/px (4°x3° FOV default) | Coarse Handover Boundary: ≤ 10 px (≈ 1.09 mrad)</a:t>
            </a:r>
          </a:p>
        </p:txBody>
      </p:sp>
      <p:sp>
        <p:nvSpPr>
          <p:cNvPr id="63" name="Oval 62"/>
          <p:cNvSpPr/>
          <p:nvPr/>
        </p:nvSpPr>
        <p:spPr>
          <a:xfrm>
            <a:off x="8092440" y="44988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4" name="Picture 63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4560570"/>
            <a:ext cx="150876" cy="15087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485632" y="4480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12B36"/>
                </a:solidFill>
              </a:defRPr>
            </a:pPr>
            <a:r>
              <a:t>Primary Innovation: Uncertainty-Guided Elliptical Reacquisition (up to 97% faster re-lock)</a:t>
            </a:r>
          </a:p>
        </p:txBody>
      </p:sp>
      <p:sp>
        <p:nvSpPr>
          <p:cNvPr id="66" name="Oval 65"/>
          <p:cNvSpPr/>
          <p:nvPr/>
        </p:nvSpPr>
        <p:spPr>
          <a:xfrm>
            <a:off x="8092440" y="49560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5017770"/>
            <a:ext cx="150876" cy="15087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485632" y="4937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12B36"/>
                </a:solidFill>
              </a:defRPr>
            </a:pPr>
            <a:r>
              <a:t>Secondary Innovation: Latency-Aware Forward State Prediction (up to 32% lag cut across τ ∈ [0, 200] ms)</a:t>
            </a:r>
          </a:p>
        </p:txBody>
      </p:sp>
      <p:sp>
        <p:nvSpPr>
          <p:cNvPr id="69" name="Oval 68"/>
          <p:cNvSpPr/>
          <p:nvPr/>
        </p:nvSpPr>
        <p:spPr>
          <a:xfrm>
            <a:off x="8092440" y="54132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5474970"/>
            <a:ext cx="150876" cy="150876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85632" y="5394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12B36"/>
                </a:solidFill>
              </a:defRPr>
            </a:pPr>
            <a:r>
              <a:t>Supporting Perception: Top-Hat Morphology + Subpixel IWC (&lt; 0.2 px RMSE under ~10-25% S&amp;P)</a:t>
            </a:r>
          </a:p>
        </p:txBody>
      </p:sp>
      <p:sp>
        <p:nvSpPr>
          <p:cNvPr id="72" name="Oval 71"/>
          <p:cNvSpPr/>
          <p:nvPr/>
        </p:nvSpPr>
        <p:spPr>
          <a:xfrm>
            <a:off x="8092440" y="5870448"/>
            <a:ext cx="274320" cy="274320"/>
          </a:xfrm>
          <a:prstGeom prst="ellipse">
            <a:avLst/>
          </a:prstGeom>
          <a:solidFill>
            <a:srgbClr val="15A4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3" name="Picture 72" descr="Check mar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162" y="5932170"/>
            <a:ext cx="150876" cy="150876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485632" y="5852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rgbClr val="212B36"/>
                </a:solidFill>
              </a:defRPr>
            </a:pPr>
            <a:r>
              <a:t>Evaluator Engine: Dual Mode (Synthetic SIL Dynamics + Offline MP4 Video Bypass with CSV Audit)</a:t>
            </a:r>
          </a:p>
        </p:txBody>
      </p:sp>
      <p:pic>
        <p:nvPicPr>
          <p:cNvPr id="75" name="Picture 74" descr="01_satellite_ground_laser_lin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188720"/>
            <a:ext cx="361188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rPr sz="2800" b="1">
                <a:latin typeface="Times New Roman"/>
              </a:rPr>
              <a:t>PROPOSED SOLUTION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594360" y="132588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FEF3F2"/>
          </a:solidFill>
          <a:ln w="15240">
            <a:solidFill>
              <a:srgbClr val="F5D0CC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65" name="Rounded Rectangle 15364"/>
          <p:cNvSpPr/>
          <p:nvPr/>
        </p:nvSpPr>
        <p:spPr>
          <a:xfrm>
            <a:off x="777240" y="1472184"/>
            <a:ext cx="925189" cy="256032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F5D0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777240" y="1472184"/>
            <a:ext cx="925189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991B1B"/>
                </a:solidFill>
                <a:latin typeface="Calibri"/>
              </a:rPr>
              <a:t>PROBLEM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777240" y="178308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A10000"/>
                </a:solidFill>
                <a:latin typeface="Calibri"/>
              </a:rPr>
              <a:t>Current Operational Limitations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77240" y="2002536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300"/>
              </a:spcAft>
              <a:buClr>
                <a:srgbClr val="C00000"/>
              </a:buClr>
              <a:buFont typeface="Arial"/>
              <a:buChar char="•"/>
            </a:pPr>
            <a:r>
              <a:rPr b="1" sz="819">
                <a:solidFill>
                  <a:srgbClr val="991B1B"/>
                </a:solidFill>
              </a:rPr>
              <a:t>• Uncertainty Blindness: </a:t>
            </a:r>
            <a:r>
              <a:rPr sz="780">
                <a:solidFill>
                  <a:srgbClr val="212B36"/>
                </a:solidFill>
              </a:rPr>
              <a:t>Conventional blind spirals ignore error covariance, causing prolonged link outages.</a:t>
            </a:r>
          </a:p>
          <a:p>
            <a:pPr>
              <a:spcAft>
                <a:spcPts val="300"/>
              </a:spcAft>
            </a:pPr>
            <a:r>
              <a:rPr b="1" sz="819">
                <a:solidFill>
                  <a:srgbClr val="991B1B"/>
                </a:solidFill>
              </a:rPr>
              <a:t>• Uncompensated Loop Latency: </a:t>
            </a:r>
            <a:r>
              <a:rPr sz="780">
                <a:solidFill>
                  <a:srgbClr val="212B36"/>
                </a:solidFill>
              </a:rPr>
              <a:t>Sensor exposure, compute and gimbal delays cause tracking lag and motor overshoot.</a:t>
            </a:r>
          </a:p>
          <a:p>
            <a:pPr>
              <a:spcAft>
                <a:spcPts val="300"/>
              </a:spcAft>
            </a:pPr>
            <a:r>
              <a:rPr b="1" sz="819">
                <a:solidFill>
                  <a:srgbClr val="991B1B"/>
                </a:solidFill>
              </a:rPr>
              <a:t>• Impulsive Noise &amp; Fog: </a:t>
            </a:r>
            <a:r>
              <a:rPr sz="780">
                <a:solidFill>
                  <a:srgbClr val="212B36"/>
                </a:solidFill>
              </a:rPr>
              <a:t>PS ~10% Salt-and-Pepper noise and haze corrupt naive moment centroid calculations.</a:t>
            </a:r>
          </a:p>
          <a:p>
            <a:pPr>
              <a:spcAft>
                <a:spcPts val="300"/>
              </a:spcAft>
            </a:pPr>
            <a:r>
              <a:rPr b="1" sz="819">
                <a:solidFill>
                  <a:srgbClr val="991B1B"/>
                </a:solidFill>
              </a:rPr>
              <a:t>• Gimbal Inertia Violations: </a:t>
            </a:r>
            <a:r>
              <a:rPr sz="780">
                <a:solidFill>
                  <a:srgbClr val="212B36"/>
                </a:solidFill>
              </a:rPr>
              <a:t>Unconstrained velocity commands violate physical motor slew limits (5-10°/s).</a:t>
            </a:r>
          </a:p>
          <a:p>
            <a:pPr>
              <a:spcAft>
                <a:spcPts val="300"/>
              </a:spcAft>
            </a:pPr>
            <a:r>
              <a:rPr b="1" sz="819">
                <a:solidFill>
                  <a:srgbClr val="991B1B"/>
                </a:solidFill>
              </a:rPr>
              <a:t>• ₹50L+ Physical Testbed: </a:t>
            </a:r>
            <a:r>
              <a:rPr sz="780">
                <a:solidFill>
                  <a:srgbClr val="212B36"/>
                </a:solidFill>
              </a:rPr>
              <a:t>Demands expensive physical vacuum chambers and piezo steering benches.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594360" y="3749040"/>
            <a:ext cx="3520440" cy="2514600"/>
          </a:xfrm>
          <a:prstGeom prst="roundRect">
            <a:avLst>
              <a:gd name="adj" fmla="val 4363"/>
            </a:avLst>
          </a:prstGeom>
          <a:solidFill>
            <a:srgbClr val="EBF4FC"/>
          </a:solidFill>
          <a:ln w="15240">
            <a:solidFill>
              <a:srgbClr val="C5DEF5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70" name="Rounded Rectangle 15369"/>
          <p:cNvSpPr/>
          <p:nvPr/>
        </p:nvSpPr>
        <p:spPr>
          <a:xfrm>
            <a:off x="777240" y="3895344"/>
            <a:ext cx="1324782" cy="256032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C5DE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1" name="TextBox 15370"/>
          <p:cNvSpPr txBox="1"/>
          <p:nvPr/>
        </p:nvSpPr>
        <p:spPr>
          <a:xfrm>
            <a:off x="777240" y="3895344"/>
            <a:ext cx="132478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F2240"/>
                </a:solidFill>
                <a:latin typeface="Calibri"/>
              </a:rPr>
              <a:t>OUR SOLUTION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77240" y="420624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475569"/>
                </a:solidFill>
                <a:latin typeface="Calibri"/>
              </a:rPr>
              <a:t>Autonomous Software Tracking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777240" y="4425696"/>
            <a:ext cx="315468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FFB35C"/>
              </a:buClr>
              <a:buFont typeface="Arial"/>
              <a:buChar char="•"/>
            </a:pPr>
            <a:r>
              <a:rPr b="1" sz="830">
                <a:solidFill>
                  <a:srgbClr val="0F2240"/>
                </a:solidFill>
              </a:rPr>
              <a:t>• Coarse PAT Handover: </a:t>
            </a:r>
            <a:r>
              <a:rPr b="0" sz="780">
                <a:solidFill>
                  <a:srgbClr val="212B36"/>
                </a:solidFill>
              </a:rPr>
              <a:t>Brings optical beacon into ≤ 10 px (≈ 1.09 mrad) cone for downstream FSM takeover.</a:t>
            </a:r>
          </a:p>
          <a:p>
            <a:pPr>
              <a:spcAft>
                <a:spcPts val="400"/>
              </a:spcAft>
            </a:pPr>
            <a:r>
              <a:rPr b="1" sz="830">
                <a:solidFill>
                  <a:srgbClr val="0F2240"/>
                </a:solidFill>
              </a:rPr>
              <a:t>• Uncertainty-Guided Search: </a:t>
            </a:r>
            <a:r>
              <a:rPr b="0" sz="780">
                <a:solidFill>
                  <a:srgbClr val="212B36"/>
                </a:solidFill>
              </a:rPr>
              <a:t>Covariance-driven elliptical scanning cuts reacquisition time by up to 97%.</a:t>
            </a:r>
          </a:p>
          <a:p>
            <a:pPr>
              <a:spcAft>
                <a:spcPts val="400"/>
              </a:spcAft>
            </a:pPr>
            <a:r>
              <a:rPr b="1" sz="830">
                <a:solidFill>
                  <a:srgbClr val="0F2240"/>
                </a:solidFill>
              </a:rPr>
              <a:t>• Latency-Compensated Pointing: </a:t>
            </a:r>
            <a:r>
              <a:rPr b="0" sz="780">
                <a:solidFill>
                  <a:srgbClr val="212B36"/>
                </a:solidFill>
              </a:rPr>
              <a:t>Forward Kalman projection compensates loop delay τ ∈ [0, 200] ms (up to 32% lag cut).</a:t>
            </a:r>
          </a:p>
          <a:p>
            <a:pPr>
              <a:spcAft>
                <a:spcPts val="400"/>
              </a:spcAft>
            </a:pPr>
            <a:r>
              <a:rPr b="1" sz="830">
                <a:solidFill>
                  <a:srgbClr val="0F2240"/>
                </a:solidFill>
              </a:rPr>
              <a:t>• Adaptive Beacon Localization: </a:t>
            </a:r>
            <a:r>
              <a:rPr b="0" sz="780">
                <a:solidFill>
                  <a:srgbClr val="212B36"/>
                </a:solidFill>
              </a:rPr>
              <a:t>Top-Hat morphology + Subpixel IWC rejects PS ~10% S&amp;P (stress tested up to 25%).</a:t>
            </a:r>
          </a:p>
          <a:p>
            <a:pPr>
              <a:spcAft>
                <a:spcPts val="400"/>
              </a:spcAft>
            </a:pPr>
            <a:r>
              <a:rPr b="1" sz="830">
                <a:solidFill>
                  <a:srgbClr val="0F2240"/>
                </a:solidFill>
              </a:rPr>
              <a:t>• Dual-Mode Evaluator Testbed: </a:t>
            </a:r>
            <a:r>
              <a:rPr b="0" sz="780">
                <a:solidFill>
                  <a:srgbClr val="212B36"/>
                </a:solidFill>
              </a:rPr>
              <a:t>Runs closed-loop SIL simulator or ingests external .mp4 video with ground-truth CSV audits.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4251960" y="1325880"/>
            <a:ext cx="2044049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5" name="TextBox 15374"/>
          <p:cNvSpPr txBox="1"/>
          <p:nvPr/>
        </p:nvSpPr>
        <p:spPr>
          <a:xfrm>
            <a:off x="4251960" y="1325880"/>
            <a:ext cx="2044049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SOLUTION ARCHITECTURE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4251960" y="1618488"/>
            <a:ext cx="3977639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Three-Tier Decoupled Pipeline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251960" y="1856231"/>
            <a:ext cx="3977639" cy="1335024"/>
          </a:xfrm>
          <a:prstGeom prst="roundRect">
            <a:avLst>
              <a:gd name="adj" fmla="val 6849"/>
            </a:avLst>
          </a:prstGeom>
          <a:solidFill>
            <a:srgbClr val="F6F9FC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78" name="Rounded Rectangle 15377"/>
          <p:cNvSpPr/>
          <p:nvPr/>
        </p:nvSpPr>
        <p:spPr>
          <a:xfrm>
            <a:off x="4379976" y="1965960"/>
            <a:ext cx="566928" cy="219456"/>
          </a:xfrm>
          <a:prstGeom prst="roundRect">
            <a:avLst>
              <a:gd name="adj" fmla="val 25000"/>
            </a:avLst>
          </a:prstGeom>
          <a:solidFill>
            <a:srgbClr val="E0EEFC"/>
          </a:solidFill>
          <a:ln w="12700">
            <a:solidFill>
              <a:srgbClr val="C5DE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9" name="TextBox 15378"/>
          <p:cNvSpPr txBox="1"/>
          <p:nvPr/>
        </p:nvSpPr>
        <p:spPr>
          <a:xfrm>
            <a:off x="4379976" y="1965960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lang="en-US">
                <a:solidFill>
                  <a:srgbClr val="0E7490"/>
                </a:solidFill>
                <a:latin typeface="Calibri"/>
              </a:rPr>
              <a:t>TIER 1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5020056" y="1956815"/>
            <a:ext cx="30632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14345C"/>
                </a:solidFill>
                <a:latin typeface="Calibri"/>
              </a:rPr>
              <a:t>Kinematics &amp; Virtual Gimbal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4416552" y="2240279"/>
            <a:ext cx="3666744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8872" indent="-118872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b="1" sz="800">
                <a:solidFill>
                  <a:srgbClr val="0F2240"/>
                </a:solidFill>
              </a:rPr>
              <a:t>• Scale &amp; Kinematics: </a:t>
            </a:r>
            <a:r>
              <a:rPr sz="780">
                <a:solidFill>
                  <a:srgbClr val="212B36"/>
                </a:solidFill>
              </a:rPr>
              <a:t>2000x2000 px world at 109.1 μrad/px (22.5"/px default 4°x3° FOV).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F2240"/>
                </a:solidFill>
              </a:rPr>
              <a:t>• Dynamic Maneuvers: </a:t>
            </a:r>
            <a:r>
              <a:rPr sz="780">
                <a:solidFill>
                  <a:srgbClr val="212B36"/>
                </a:solidFill>
              </a:rPr>
              <a:t>Singer acceleration walk, Lemniscate: (x²+y²)² = 2a²(x²-y²), ±20 px jitter.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F2240"/>
                </a:solidFill>
              </a:rPr>
              <a:t>• Virtual Pinhole FPA: </a:t>
            </a:r>
            <a:r>
              <a:rPr sz="780">
                <a:solidFill>
                  <a:srgbClr val="212B36"/>
                </a:solidFill>
              </a:rPr>
              <a:t>Camera matrix K crops 640x480 active FPA with motor rate limits (5.0°/s).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4251960" y="3291839"/>
            <a:ext cx="3977639" cy="1335024"/>
          </a:xfrm>
          <a:prstGeom prst="roundRect">
            <a:avLst>
              <a:gd name="adj" fmla="val 6849"/>
            </a:avLst>
          </a:prstGeom>
          <a:solidFill>
            <a:srgbClr val="F6F9FC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4379976" y="3401568"/>
            <a:ext cx="566928" cy="219456"/>
          </a:xfrm>
          <a:prstGeom prst="roundRect">
            <a:avLst>
              <a:gd name="adj" fmla="val 25000"/>
            </a:avLst>
          </a:prstGeom>
          <a:solidFill>
            <a:srgbClr val="E0EEFC"/>
          </a:solidFill>
          <a:ln w="12700">
            <a:solidFill>
              <a:srgbClr val="C5DE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84" name="TextBox 15383"/>
          <p:cNvSpPr txBox="1"/>
          <p:nvPr/>
        </p:nvSpPr>
        <p:spPr>
          <a:xfrm>
            <a:off x="4379976" y="3401568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lang="en-US">
                <a:solidFill>
                  <a:srgbClr val="0E7490"/>
                </a:solidFill>
                <a:latin typeface="Calibri"/>
              </a:rPr>
              <a:t>TIER 2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5020056" y="3392423"/>
            <a:ext cx="30632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14345C"/>
                </a:solidFill>
                <a:latin typeface="Calibri"/>
              </a:rPr>
              <a:t>Optical Physics &amp; Atmospheric Channel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4416552" y="3675887"/>
            <a:ext cx="3666744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8872" indent="-118872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b="1" sz="800">
                <a:solidFill>
                  <a:srgbClr val="0F2240"/>
                </a:solidFill>
              </a:rPr>
              <a:t>• Diffraction Airy Optics: </a:t>
            </a:r>
            <a:r>
              <a:rPr sz="780">
                <a:solidFill>
                  <a:srgbClr val="212B36"/>
                </a:solidFill>
              </a:rPr>
              <a:t>Airy spot profile I(θ) = I₀ [2J₁(u)/u]² (spot size 5x5 to 20x20 px).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F2240"/>
                </a:solidFill>
              </a:rPr>
              <a:t>• Beer-Lambert Extinction: </a:t>
            </a:r>
            <a:r>
              <a:rPr sz="780">
                <a:solidFill>
                  <a:srgbClr val="212B36"/>
                </a:solidFill>
              </a:rPr>
              <a:t>Atmospheric transmission I = I₀ exp(-γR) with dynamic fog and scintillation.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F2240"/>
                </a:solidFill>
              </a:rPr>
              <a:t>• Disturbance Injection: </a:t>
            </a:r>
            <a:r>
              <a:rPr sz="780">
                <a:solidFill>
                  <a:srgbClr val="212B36"/>
                </a:solidFill>
              </a:rPr>
              <a:t>Poisson shot noise, PS-specified ~10% S&amp;P noise (stress tested up to 25%).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4251960" y="4727448"/>
            <a:ext cx="3977639" cy="1517904"/>
          </a:xfrm>
          <a:prstGeom prst="roundRect">
            <a:avLst>
              <a:gd name="adj" fmla="val 6024"/>
            </a:avLst>
          </a:prstGeom>
          <a:solidFill>
            <a:srgbClr val="F6F9FC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4379976" y="4837176"/>
            <a:ext cx="566928" cy="219456"/>
          </a:xfrm>
          <a:prstGeom prst="roundRect">
            <a:avLst>
              <a:gd name="adj" fmla="val 25000"/>
            </a:avLst>
          </a:prstGeom>
          <a:solidFill>
            <a:srgbClr val="E0EEFC"/>
          </a:solidFill>
          <a:ln w="12700">
            <a:solidFill>
              <a:srgbClr val="C5DE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89" name="TextBox 15388"/>
          <p:cNvSpPr txBox="1"/>
          <p:nvPr/>
        </p:nvSpPr>
        <p:spPr>
          <a:xfrm>
            <a:off x="4379976" y="4837176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lang="en-US">
                <a:solidFill>
                  <a:srgbClr val="0E7490"/>
                </a:solidFill>
                <a:latin typeface="Calibri"/>
              </a:rPr>
              <a:t>TIER 3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5020056" y="4828032"/>
            <a:ext cx="30632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14345C"/>
                </a:solidFill>
                <a:latin typeface="Calibri"/>
              </a:rPr>
              <a:t>Edge AI Perception &amp; IMM-Kalman Control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4416552" y="5111496"/>
            <a:ext cx="3666744" cy="1078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8872" indent="-118872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b="1" sz="800">
                <a:solidFill>
                  <a:srgbClr val="0F2240"/>
                </a:solidFill>
              </a:rPr>
              <a:t>• Stage 1 Adaptive Perception: </a:t>
            </a:r>
            <a:r>
              <a:rPr sz="780">
                <a:solidFill>
                  <a:srgbClr val="212B36"/>
                </a:solidFill>
              </a:rPr>
              <a:t>Top-Hat morphology + Subpixel IWC: I(x,y) = A exp(-r²/2σ²) ⟹ RMSE &lt; 0.2 px.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F2240"/>
                </a:solidFill>
              </a:rPr>
              <a:t>• Stage 2 Latency-Aware Pointing: </a:t>
            </a:r>
            <a:r>
              <a:rPr sz="780">
                <a:solidFill>
                  <a:srgbClr val="212B36"/>
                </a:solidFill>
              </a:rPr>
              <a:t>Kalman forward state projection x̂_(t+τ) = F^κ x̂_t compensates loop delay τ.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F2240"/>
                </a:solidFill>
              </a:rPr>
              <a:t>• Stage 3 Covariance Reacquisition: </a:t>
            </a:r>
            <a:r>
              <a:rPr sz="780">
                <a:solidFill>
                  <a:srgbClr val="212B36"/>
                </a:solidFill>
              </a:rPr>
              <a:t>Scans growing uncertainty ellipse (σ_a, σ_b, φ) on temporary signal loss.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F2240"/>
                </a:solidFill>
              </a:rPr>
              <a:t>• Stage 4 Gimbal Servo Loop: </a:t>
            </a:r>
            <a:r>
              <a:rPr sz="780">
                <a:solidFill>
                  <a:srgbClr val="212B36"/>
                </a:solidFill>
              </a:rPr>
              <a:t>Anti-windup PID with velocity feedforward strictly clamped to ≤ 5.0°/s.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8366760" y="1325880"/>
            <a:ext cx="2203886" cy="256032"/>
          </a:xfrm>
          <a:prstGeom prst="roundRect">
            <a:avLst>
              <a:gd name="adj" fmla="val 50000"/>
            </a:avLst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93" name="TextBox 15392"/>
          <p:cNvSpPr txBox="1"/>
          <p:nvPr/>
        </p:nvSpPr>
        <p:spPr>
          <a:xfrm>
            <a:off x="8366760" y="1325880"/>
            <a:ext cx="220388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B35A00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8366760" y="1618488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Key Technical Differentiators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8366760" y="1856231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EF8EE"/>
          </a:solidFill>
          <a:ln w="12700">
            <a:solidFill>
              <a:srgbClr val="F4E0C3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396" name="Oval 15395"/>
          <p:cNvSpPr/>
          <p:nvPr/>
        </p:nvSpPr>
        <p:spPr>
          <a:xfrm>
            <a:off x="8485632" y="1975103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397" name="Picture 15396" descr="Sub-Pixel Gray-Diffusion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2045055"/>
            <a:ext cx="170992" cy="170992"/>
          </a:xfrm>
          <a:prstGeom prst="rect">
            <a:avLst/>
          </a:prstGeom>
        </p:spPr>
      </p:pic>
      <p:sp>
        <p:nvSpPr>
          <p:cNvPr id="15398" name="TextBox 15397"/>
          <p:cNvSpPr txBox="1"/>
          <p:nvPr/>
        </p:nvSpPr>
        <p:spPr>
          <a:xfrm>
            <a:off x="8897112" y="1956815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rgbClr val="0F2240"/>
                </a:solidFill>
              </a:rPr>
              <a:t>Uncertainty-Guided Search</a:t>
            </a:r>
          </a:p>
        </p:txBody>
      </p:sp>
      <p:sp>
        <p:nvSpPr>
          <p:cNvPr id="15399" name="TextBox 15398"/>
          <p:cNvSpPr txBox="1"/>
          <p:nvPr/>
        </p:nvSpPr>
        <p:spPr>
          <a:xfrm>
            <a:off x="8503920" y="2240279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30">
                <a:solidFill>
                  <a:srgbClr val="212B36"/>
                </a:solidFill>
              </a:defRPr>
            </a:pPr>
            <a:r>
              <a:t>Filter covariance P_k expands during outages; scan expands along uncertainty ellipse (σ_a, σ_b, φ), reacquiring up to 97% faster than blind spirals.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8366760" y="2734056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EBF4FC"/>
          </a:solidFill>
          <a:ln w="12700">
            <a:solidFill>
              <a:srgbClr val="C5DEF5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401" name="Oval 15400"/>
          <p:cNvSpPr/>
          <p:nvPr/>
        </p:nvSpPr>
        <p:spPr>
          <a:xfrm>
            <a:off x="8485632" y="2852927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02" name="Picture 15401" descr="IMM Multi-Model Filter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2922879"/>
            <a:ext cx="170992" cy="170992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8897112" y="2834639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rgbClr val="0F2240"/>
                </a:solidFill>
              </a:rPr>
              <a:t>Latency Compensation (H1)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8503920" y="3118103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30">
                <a:solidFill>
                  <a:srgbClr val="212B36"/>
                </a:solidFill>
              </a:defRPr>
            </a:pPr>
            <a:r>
              <a:t>Forward state projection x̂_(t+τ) = F^κ x̂_t compensates cumulative frame/compute/servo delay τ (0-200 ms), cutting tracking lag by up to 32%.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8366760" y="3611879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EF3F2"/>
          </a:solidFill>
          <a:ln w="12700">
            <a:solidFill>
              <a:srgbClr val="F5D0CC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406" name="Oval 15405"/>
          <p:cNvSpPr/>
          <p:nvPr/>
        </p:nvSpPr>
        <p:spPr>
          <a:xfrm>
            <a:off x="8485632" y="3730752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07" name="Picture 15406" descr="ISRO Benchmark-2 Bypas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3800703"/>
            <a:ext cx="170992" cy="170992"/>
          </a:xfrm>
          <a:prstGeom prst="rect">
            <a:avLst/>
          </a:prstGeom>
        </p:spPr>
      </p:pic>
      <p:sp>
        <p:nvSpPr>
          <p:cNvPr id="15408" name="TextBox 15407"/>
          <p:cNvSpPr txBox="1"/>
          <p:nvPr/>
        </p:nvSpPr>
        <p:spPr>
          <a:xfrm>
            <a:off x="8897112" y="3712463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rgbClr val="0F2240"/>
                </a:solidFill>
              </a:rPr>
              <a:t>Top-Hat Morphology + IWC</a:t>
            </a:r>
          </a:p>
        </p:txBody>
      </p:sp>
      <p:sp>
        <p:nvSpPr>
          <p:cNvPr id="15409" name="TextBox 15408"/>
          <p:cNvSpPr txBox="1"/>
          <p:nvPr/>
        </p:nvSpPr>
        <p:spPr>
          <a:xfrm>
            <a:off x="8503920" y="3995928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30">
                <a:solidFill>
                  <a:srgbClr val="212B36"/>
                </a:solidFill>
              </a:defRPr>
            </a:pPr>
            <a:r>
              <a:t>Morphological background suppression + subpixel Intensity-Weighted Centroiding achieves &lt; 0.2 px RMSE, rejecting PS ~10% S&amp;P and 25% stress noise without heavy YOLO.</a:t>
            </a:r>
          </a:p>
        </p:txBody>
      </p:sp>
      <p:sp>
        <p:nvSpPr>
          <p:cNvPr id="15410" name="Rounded Rectangle 15409"/>
          <p:cNvSpPr/>
          <p:nvPr/>
        </p:nvSpPr>
        <p:spPr>
          <a:xfrm>
            <a:off x="8366760" y="4489704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EEF7F2"/>
          </a:solidFill>
          <a:ln w="12700">
            <a:solidFill>
              <a:srgbClr val="C6E4D2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411" name="Oval 15410"/>
          <p:cNvSpPr/>
          <p:nvPr/>
        </p:nvSpPr>
        <p:spPr>
          <a:xfrm>
            <a:off x="8485632" y="4608576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12" name="Picture 15411" descr="Deterministic CPU Runtim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4678527"/>
            <a:ext cx="170992" cy="170992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8897112" y="4590288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rgbClr val="0F2240"/>
                </a:solidFill>
              </a:rPr>
              <a:t>Dual-Mode SIL / MP4 Engine</a:t>
            </a:r>
          </a:p>
        </p:txBody>
      </p:sp>
      <p:sp>
        <p:nvSpPr>
          <p:cNvPr id="15414" name="TextBox 15413"/>
          <p:cNvSpPr txBox="1"/>
          <p:nvPr/>
        </p:nvSpPr>
        <p:spPr>
          <a:xfrm>
            <a:off x="8503920" y="4873752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30">
                <a:solidFill>
                  <a:srgbClr val="212B36"/>
                </a:solidFill>
              </a:defRPr>
            </a:pPr>
            <a:r>
              <a:t>Decoupled SIL testbed &amp; MP4 video benchmark engine: ingests synthetic physics or external camera video with ground-truth CSV error verification.</a:t>
            </a:r>
          </a:p>
        </p:txBody>
      </p:sp>
      <p:sp>
        <p:nvSpPr>
          <p:cNvPr id="15415" name="Rounded Rectangle 15414"/>
          <p:cNvSpPr/>
          <p:nvPr/>
        </p:nvSpPr>
        <p:spPr>
          <a:xfrm>
            <a:off x="8366760" y="5367527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5F3FA"/>
          </a:solidFill>
          <a:ln w="12700">
            <a:solidFill>
              <a:srgbClr val="DCD4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416" name="Oval 15415"/>
          <p:cNvSpPr/>
          <p:nvPr/>
        </p:nvSpPr>
        <p:spPr>
          <a:xfrm>
            <a:off x="8485632" y="5486399"/>
            <a:ext cx="310896" cy="310896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17" name="Picture 15416" descr="Zero-Capex SIL Platform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583" y="5556351"/>
            <a:ext cx="170992" cy="170992"/>
          </a:xfrm>
          <a:prstGeom prst="rect">
            <a:avLst/>
          </a:prstGeom>
        </p:spPr>
      </p:pic>
      <p:sp>
        <p:nvSpPr>
          <p:cNvPr id="15418" name="TextBox 15417"/>
          <p:cNvSpPr txBox="1"/>
          <p:nvPr/>
        </p:nvSpPr>
        <p:spPr>
          <a:xfrm>
            <a:off x="8897112" y="5468112"/>
            <a:ext cx="2542032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rgbClr val="0F2240"/>
                </a:solidFill>
              </a:rPr>
              <a:t>Defined Coarse PAT Scope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8503920" y="5751575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30">
                <a:solidFill>
                  <a:srgbClr val="212B36"/>
                </a:solidFill>
              </a:defRPr>
            </a:pPr>
            <a:r>
              <a:t>Bounded to coarse PAT stage (109.1 μrad/px). Guarantees ≤ 10 px (≈ 1.09 mrad) capture cone for handover to downstream 10 kHz FSM fine-pointing stage.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Times New Roman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1325880"/>
            <a:ext cx="5394960" cy="4937759"/>
          </a:xfrm>
          <a:prstGeom prst="roundRect">
            <a:avLst>
              <a:gd name="adj" fmla="val 2222"/>
            </a:avLst>
          </a:prstGeom>
          <a:solidFill>
            <a:srgbClr val="F6F9FC"/>
          </a:solidFill>
          <a:ln w="1524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749808" y="1472184"/>
            <a:ext cx="3722339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749808" y="1472184"/>
            <a:ext cx="3722339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IMPLEMENTATION WORKFLOW &amp; CONTROL PIPELINE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905256" y="2185415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16" name="Oval 17415"/>
          <p:cNvSpPr/>
          <p:nvPr/>
        </p:nvSpPr>
        <p:spPr>
          <a:xfrm>
            <a:off x="749808" y="1837943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749808" y="183794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188719" y="1810511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Global Universe Kinematic Propagation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188719" y="2029967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80">
                <a:solidFill>
                  <a:srgbClr val="212B36"/>
                </a:solidFill>
              </a:defRPr>
            </a:pPr>
            <a:r>
              <a:t>Global Universe Kinematics: 2000x2000 universe at 109.1 μrad/px (22.5"/px default 4°x3° FOV), propagating Lemniscate and Singer walks.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905256" y="2912363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21" name="Oval 17420"/>
          <p:cNvSpPr/>
          <p:nvPr/>
        </p:nvSpPr>
        <p:spPr>
          <a:xfrm>
            <a:off x="749808" y="2564891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749808" y="256489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188719" y="2537460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Platform Multi-Harmonic Jitter Synthesis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188719" y="2756915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80">
                <a:solidFill>
                  <a:srgbClr val="212B36"/>
                </a:solidFill>
              </a:defRPr>
            </a:pPr>
            <a:r>
              <a:t>Platform Jitter &amp; Dynamics: Enforces 5.0°/s motor slew limit and multi-harmonic platform vibration θ_jit(t) = ∑ A_k sin(2π f_k t + φ_k).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905256" y="3639311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26" name="Oval 17425"/>
          <p:cNvSpPr/>
          <p:nvPr/>
        </p:nvSpPr>
        <p:spPr>
          <a:xfrm>
            <a:off x="749808" y="3291839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749808" y="3291839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188719" y="3264408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Optical &amp; Atmospheric Channel Degradation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188719" y="3483863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80">
                <a:solidFill>
                  <a:srgbClr val="212B36"/>
                </a:solidFill>
              </a:defRPr>
            </a:pPr>
            <a:r>
              <a:t>Physical Optical Degradation: Diffraction Airy PSF I(θ) = I₀ [2J₁(u)/u]², Beer-Lambert fog, Poisson noise, and PS ~10% S&amp;P (stress tested to 25%).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905256" y="4366259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31" name="Oval 17430"/>
          <p:cNvSpPr/>
          <p:nvPr/>
        </p:nvSpPr>
        <p:spPr>
          <a:xfrm>
            <a:off x="749808" y="4018787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749808" y="4018787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188719" y="3991355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Virtual PTZ Pinhole Viewport Windowing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188719" y="4210812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80">
                <a:solidFill>
                  <a:srgbClr val="212B36"/>
                </a:solidFill>
              </a:defRPr>
            </a:pPr>
            <a:r>
              <a:t>Sensor Windowing &amp; Latency Queue: Pinhole matrix K crops 640x480 active FPA; LatencyQueue models cumulative loop delay τ ∈ [0, 200] ms.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905256" y="5093207"/>
            <a:ext cx="0" cy="333757"/>
          </a:xfrm>
          <a:prstGeom prst="line">
            <a:avLst/>
          </a:prstGeom>
          <a:ln w="19050">
            <a:solidFill>
              <a:srgbClr val="F3C9A5"/>
            </a:solidFill>
          </a:ln>
        </p:spPr>
      </p:cxnSp>
      <p:sp>
        <p:nvSpPr>
          <p:cNvPr id="17436" name="Oval 17435"/>
          <p:cNvSpPr/>
          <p:nvPr/>
        </p:nvSpPr>
        <p:spPr>
          <a:xfrm>
            <a:off x="749808" y="4745736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749808" y="474573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188719" y="4718303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Rank Denoising &amp; Sub-Pixel AI Centroiding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1188719" y="4937759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80">
                <a:solidFill>
                  <a:srgbClr val="212B36"/>
                </a:solidFill>
              </a:defRPr>
            </a:pPr>
            <a:r>
              <a:t>Adaptive Localization &amp; Subpixel IWC: Top-Hat background suppression + Intensity-Weighted Centroiding achieves &lt; 0.2 px RMSE without heavy YOLO.</a:t>
            </a:r>
          </a:p>
        </p:txBody>
      </p:sp>
      <p:sp>
        <p:nvSpPr>
          <p:cNvPr id="17440" name="Oval 17439"/>
          <p:cNvSpPr/>
          <p:nvPr/>
        </p:nvSpPr>
        <p:spPr>
          <a:xfrm>
            <a:off x="749808" y="5472683"/>
            <a:ext cx="292608" cy="292608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749808" y="547268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en-US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188719" y="5445251"/>
            <a:ext cx="45537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lang="en-US">
                <a:solidFill>
                  <a:srgbClr val="14345C"/>
                </a:solidFill>
                <a:latin typeface="Calibri"/>
              </a:rPr>
              <a:t>IMM-Kalman Prediction &amp; Gimbal Servo Command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188719" y="5664707"/>
            <a:ext cx="455371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80">
                <a:solidFill>
                  <a:srgbClr val="212B36"/>
                </a:solidFill>
              </a:defRPr>
            </a:pPr>
            <a:r>
              <a:t>Predictive Pointing &amp; Reacquisition: Latency-compensated state projection (H1: 32% lag cut) + Covariance ellipse search on loss (H2: 97% faster re-lock).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6172200" y="1325880"/>
            <a:ext cx="5470855" cy="4937759"/>
          </a:xfrm>
          <a:prstGeom prst="roundRect">
            <a:avLst>
              <a:gd name="adj" fmla="val 2222"/>
            </a:avLst>
          </a:prstGeom>
          <a:solidFill>
            <a:srgbClr val="F6F9FC"/>
          </a:solidFill>
          <a:ln w="1524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6373368" y="1472184"/>
            <a:ext cx="2843235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6373368" y="1472184"/>
            <a:ext cx="284323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FULL-STACK TECHNOLOGY ECOSYSTEM</a:t>
            </a:r>
          </a:p>
        </p:txBody>
      </p:sp>
      <p:pic>
        <p:nvPicPr>
          <p:cNvPr id="17447" name="Picture 17446" descr="05_distributed_3node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28800"/>
            <a:ext cx="5193792" cy="2286000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6309360" y="4251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F2240"/>
                </a:solidFill>
              </a:defRPr>
            </a:pPr>
            <a:r>
              <a:t>State Estimation (H1)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8001000" y="4251960"/>
            <a:ext cx="3502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212B36"/>
                </a:solidFill>
              </a:defRPr>
            </a:pPr>
            <a:r>
              <a:t>Latency-compensated Kalman filter projecting x̂_(t+τ) across loop delay τ (up to 32% lag cut)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6309360" y="4754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F2240"/>
                </a:solidFill>
              </a:defRPr>
            </a:pPr>
            <a:r>
              <a:t>Reacquisition (H2)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001000" y="4754880"/>
            <a:ext cx="3502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212B36"/>
                </a:solidFill>
              </a:defRPr>
            </a:pPr>
            <a:r>
              <a:t>Uncertainty-guided covariance ellipse search cutting link recovery time by up to 97%</a:t>
            </a:r>
          </a:p>
        </p:txBody>
      </p:sp>
      <p:cxnSp>
        <p:nvCxnSpPr>
          <p:cNvPr id="17452" name="Connector 17451"/>
          <p:cNvCxnSpPr/>
          <p:nvPr/>
        </p:nvCxnSpPr>
        <p:spPr>
          <a:xfrm>
            <a:off x="6309360" y="4700016"/>
            <a:ext cx="5193792" cy="0"/>
          </a:xfrm>
          <a:prstGeom prst="line">
            <a:avLst/>
          </a:prstGeom>
          <a:ln w="10160">
            <a:solidFill>
              <a:srgbClr val="DA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3" name="TextBox 17452"/>
          <p:cNvSpPr txBox="1"/>
          <p:nvPr/>
        </p:nvSpPr>
        <p:spPr>
          <a:xfrm>
            <a:off x="6309360" y="5257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F2240"/>
                </a:solidFill>
              </a:defRPr>
            </a:pPr>
            <a:r>
              <a:t>Coarse Handover SLA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001000" y="5257800"/>
            <a:ext cx="3502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212B36"/>
                </a:solidFill>
              </a:defRPr>
            </a:pPr>
            <a:r>
              <a:t>Stabilizes line-of-sight inside ≤ 10 px (≈ 1.09 mrad) cone for downstream FSM / QPD stage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6309360" y="5202936"/>
            <a:ext cx="5193792" cy="0"/>
          </a:xfrm>
          <a:prstGeom prst="line">
            <a:avLst/>
          </a:prstGeom>
          <a:ln w="10160">
            <a:solidFill>
              <a:srgbClr val="DA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TextBox 17455"/>
          <p:cNvSpPr txBox="1"/>
          <p:nvPr/>
        </p:nvSpPr>
        <p:spPr>
          <a:xfrm>
            <a:off x="6309360" y="5760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F2240"/>
                </a:solidFill>
              </a:defRPr>
            </a:pPr>
            <a:r>
              <a:t>Evaluator Engine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8001000" y="5760720"/>
            <a:ext cx="3502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212B36"/>
                </a:solidFill>
              </a:defRPr>
            </a:pPr>
            <a:r>
              <a:t>Dual mode: Real-time SIL simulator + Offline .mp4 video benchmark bypass with CSV audit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6309360" y="5705856"/>
            <a:ext cx="5193792" cy="0"/>
          </a:xfrm>
          <a:prstGeom prst="line">
            <a:avLst/>
          </a:prstGeom>
          <a:ln w="10160">
            <a:solidFill>
              <a:srgbClr val="DA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Times New Roman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1325880"/>
            <a:ext cx="3520440" cy="4937759"/>
          </a:xfrm>
          <a:prstGeom prst="roundRect">
            <a:avLst>
              <a:gd name="adj" fmla="val 3116"/>
            </a:avLst>
          </a:prstGeom>
          <a:solidFill>
            <a:srgbClr val="F6F9FC"/>
          </a:solidFill>
          <a:ln w="1524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4233672" y="1325880"/>
            <a:ext cx="3520440" cy="4937759"/>
          </a:xfrm>
          <a:prstGeom prst="roundRect">
            <a:avLst>
              <a:gd name="adj" fmla="val 3116"/>
            </a:avLst>
          </a:prstGeom>
          <a:solidFill>
            <a:srgbClr val="F6F9FC"/>
          </a:solidFill>
          <a:ln w="1524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7918704" y="1325880"/>
            <a:ext cx="3596335" cy="4937759"/>
          </a:xfrm>
          <a:prstGeom prst="roundRect">
            <a:avLst>
              <a:gd name="adj" fmla="val 3051"/>
            </a:avLst>
          </a:prstGeom>
          <a:solidFill>
            <a:srgbClr val="F6F9FC"/>
          </a:solidFill>
          <a:ln w="1524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749808" y="1472184"/>
            <a:ext cx="1964131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749808" y="1472184"/>
            <a:ext cx="196413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FEASIBILITY ANALYSIS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49808" y="1764792"/>
            <a:ext cx="311810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Quantitative SLAs</a:t>
            </a:r>
          </a:p>
        </p:txBody>
      </p:sp>
      <p:sp>
        <p:nvSpPr>
          <p:cNvPr id="17418" name="Oval 17417"/>
          <p:cNvSpPr/>
          <p:nvPr/>
        </p:nvSpPr>
        <p:spPr>
          <a:xfrm>
            <a:off x="749808" y="2039112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TECHNICAL FEASIBILITY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" y="2096719"/>
            <a:ext cx="140817" cy="1408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1078992" y="2039112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TECHNICAL FEASIBILITY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49808" y="2331720"/>
            <a:ext cx="311810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Frame latency budget (33.3 ms ceiling):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41247" y="2551176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Denoising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2953512" y="255117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0.8 ms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41247" y="2724912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AI Localizer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2953512" y="272491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12.4 ms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41247" y="2898648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Sub-Pixel Centroid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953512" y="289864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0.4 ms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41247" y="3072384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IMM-KF &amp; PID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2953512" y="307238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0.1 ms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41247" y="3246120"/>
            <a:ext cx="2112264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1E2638"/>
                </a:solidFill>
                <a:latin typeface="Calibri"/>
              </a:rPr>
              <a:t>UI HUD Draw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2953512" y="324612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 lang="en-US">
                <a:solidFill>
                  <a:srgbClr val="1E2638"/>
                </a:solidFill>
                <a:latin typeface="Calibri"/>
              </a:rPr>
              <a:t>6.2 ms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49808" y="3438144"/>
            <a:ext cx="3118104" cy="384048"/>
          </a:xfrm>
          <a:prstGeom prst="roundRect">
            <a:avLst>
              <a:gd name="adj" fmla="val 16666"/>
            </a:avLst>
          </a:prstGeom>
          <a:solidFill>
            <a:srgbClr val="EEF7F2"/>
          </a:solidFill>
          <a:ln w="12700">
            <a:solidFill>
              <a:srgbClr val="C6E4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841247" y="3465576"/>
            <a:ext cx="293522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>
                <a:solidFill>
                  <a:srgbClr val="B35A00"/>
                </a:solidFill>
                <a:latin typeface="Calibri"/>
              </a:rPr>
              <a:t>= 19.9 ms Total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41247" y="3639312"/>
            <a:ext cx="2935224" cy="1645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60" b="1" i="0" lang="en-US">
                <a:solidFill>
                  <a:srgbClr val="0A6636"/>
                </a:solidFill>
                <a:latin typeface="Calibri"/>
              </a:rPr>
              <a:t>≥ 45 FPS on dual-core CPU, zero discrete GPU needed</a:t>
            </a:r>
          </a:p>
        </p:txBody>
      </p:sp>
      <p:sp>
        <p:nvSpPr>
          <p:cNvPr id="17435" name="Oval 17434"/>
          <p:cNvSpPr/>
          <p:nvPr/>
        </p:nvSpPr>
        <p:spPr>
          <a:xfrm>
            <a:off x="749808" y="3950208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36" name="Picture 17435" descr="OPERATIONAL FEASIBILITY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" y="4007815"/>
            <a:ext cx="140817" cy="140817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1078992" y="3950208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OPERATIONAL FEASIBILITY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49808" y="4242816"/>
            <a:ext cx="311810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780">
                <a:solidFill>
                  <a:srgbClr val="212B36"/>
                </a:solidFill>
              </a:rPr>
              <a:t>Rapid Setup: &lt; 1 min zero-config launch on Windows/macOS (1-click standalone binaries).</a:t>
            </a:r>
          </a:p>
          <a:p>
            <a:pPr>
              <a:spcAft>
                <a:spcPts val="200"/>
              </a:spcAft>
            </a:pPr>
            <a:r>
              <a:rPr sz="780">
                <a:solidFill>
                  <a:srgbClr val="212B36"/>
                </a:solidFill>
              </a:rPr>
              <a:t>Benchmark Bypass: Decoupled ingestion of external .mp4 video files with ground-truth CSV.</a:t>
            </a:r>
          </a:p>
          <a:p>
            <a:pPr>
              <a:spcAft>
                <a:spcPts val="200"/>
              </a:spcAft>
            </a:pPr>
            <a:r>
              <a:rPr sz="780">
                <a:solidFill>
                  <a:srgbClr val="212B36"/>
                </a:solidFill>
              </a:rPr>
              <a:t>Repeatable Runs: Deterministic PRNG seeds for reproducible jury audits &amp; H1/H2 verification.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749808" y="5084064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40" name="Picture 17439" descr="FINANCIAL FEASIBILITY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415" y="5141671"/>
            <a:ext cx="140817" cy="140817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1078992" y="5084064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FINANCIAL FEASIBILITY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749808" y="5376672"/>
            <a:ext cx="311810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₹0 Hardware Capex: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Eliminates ₹50L+ optical gimbal &amp; vacuum chambers.</a:t>
            </a:r>
          </a:p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Open Access: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Available across Indian universities and space research labs.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434840" y="1472184"/>
            <a:ext cx="2123968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4434840" y="1472184"/>
            <a:ext cx="212396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VIABILITY &amp; DEPLOYMENT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4434840" y="1764792"/>
            <a:ext cx="3118104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Space Mission Fit</a:t>
            </a:r>
          </a:p>
        </p:txBody>
      </p:sp>
      <p:sp>
        <p:nvSpPr>
          <p:cNvPr id="17446" name="Oval 17445"/>
          <p:cNvSpPr/>
          <p:nvPr/>
        </p:nvSpPr>
        <p:spPr>
          <a:xfrm>
            <a:off x="4434840" y="2039112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47" name="Picture 17446" descr="ECONOMIC DISRUPTION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2447" y="2096719"/>
            <a:ext cx="140817" cy="1408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764024" y="2039112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ECONOMIC DISRUPTION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4434840" y="2331720"/>
            <a:ext cx="3118104" cy="329184"/>
          </a:xfrm>
          <a:prstGeom prst="roundRect">
            <a:avLst>
              <a:gd name="adj" fmla="val 19444"/>
            </a:avLst>
          </a:prstGeom>
          <a:solidFill>
            <a:srgbClr val="FEF3F2"/>
          </a:solidFill>
          <a:ln w="12700">
            <a:solidFill>
              <a:srgbClr val="F5D0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4526279" y="2331720"/>
            <a:ext cx="174613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566074"/>
                </a:solidFill>
                <a:latin typeface="Calibri"/>
              </a:rPr>
              <a:t>Physical FSOC Testbed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5993892" y="2331720"/>
            <a:ext cx="1496689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A10000"/>
                </a:solidFill>
                <a:latin typeface="Calibri"/>
              </a:rPr>
              <a:t>₹50+ Lakhs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4434840" y="2715768"/>
            <a:ext cx="3118104" cy="329184"/>
          </a:xfrm>
          <a:prstGeom prst="roundRect">
            <a:avLst>
              <a:gd name="adj" fmla="val 19444"/>
            </a:avLst>
          </a:prstGeom>
          <a:solidFill>
            <a:srgbClr val="EEF7F2"/>
          </a:solidFill>
          <a:ln w="12700">
            <a:solidFill>
              <a:srgbClr val="C6E4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3" name="TextBox 17452"/>
          <p:cNvSpPr txBox="1"/>
          <p:nvPr/>
        </p:nvSpPr>
        <p:spPr>
          <a:xfrm>
            <a:off x="4526279" y="2715768"/>
            <a:ext cx="174613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80" b="0" i="0" lang="en-US">
                <a:solidFill>
                  <a:srgbClr val="566074"/>
                </a:solidFill>
                <a:latin typeface="Calibri"/>
              </a:rPr>
              <a:t>Phoenix SIL Simulator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5993892" y="2715768"/>
            <a:ext cx="1496689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lang="en-US">
                <a:solidFill>
                  <a:srgbClr val="0A6636"/>
                </a:solidFill>
                <a:latin typeface="Calibri"/>
              </a:rPr>
              <a:t>₹0 (Open-Source)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4434840" y="3154679"/>
            <a:ext cx="311810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lang="en-US">
                <a:solidFill>
                  <a:srgbClr val="1E2638"/>
                </a:solidFill>
                <a:latin typeface="Calibri"/>
              </a:rPr>
              <a:t>Allows parallel multi-team algorithm development without equipment bottlenecks.</a:t>
            </a:r>
          </a:p>
        </p:txBody>
      </p:sp>
      <p:sp>
        <p:nvSpPr>
          <p:cNvPr id="17456" name="Oval 17455"/>
          <p:cNvSpPr/>
          <p:nvPr/>
        </p:nvSpPr>
        <p:spPr>
          <a:xfrm>
            <a:off x="4434840" y="3611879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57" name="Picture 17456" descr="AIR-GAPPED DATA RESILIENCE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2447" y="3669487"/>
            <a:ext cx="140817" cy="1408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4764024" y="3611879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 spc="50">
                <a:solidFill>
                  <a:srgbClr val="B35A00"/>
                </a:solidFill>
                <a:latin typeface="Calibri"/>
              </a:rPr>
              <a:t>AIR-GAPPED DATA RESILIENCE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434840" y="3904487"/>
            <a:ext cx="311810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1" i="0" lang="en-US">
                <a:solidFill>
                  <a:srgbClr val="14345C"/>
                </a:solidFill>
                <a:latin typeface="Calibri"/>
              </a:rPr>
              <a:t>100% Offline Execution: </a:t>
            </a:r>
            <a:r>
              <a:rPr sz="919" b="0" i="0" lang="en-US">
                <a:solidFill>
                  <a:srgbClr val="1E2638"/>
                </a:solidFill>
                <a:latin typeface="Calibri"/>
              </a:rPr>
              <a:t>Zero cloud dependency; telemetry, logs, and AI weights stay local.</a:t>
            </a:r>
          </a:p>
          <a:p>
            <a:pPr algn="l" marL="137160" indent="-137160">
              <a:spcBef>
                <a:spcPts val="0"/>
              </a:spcBef>
              <a:spcAft>
                <a:spcPts val="200"/>
              </a:spcAft>
              <a:buClr>
                <a:srgbClr val="D9700F"/>
              </a:buClr>
              <a:buFont typeface="Arial"/>
              <a:buChar char="•"/>
            </a:pPr>
            <a:r>
              <a:rPr sz="919" b="0" i="0" lang="en-US">
                <a:solidFill>
                  <a:srgbClr val="1E2638"/>
                </a:solidFill>
                <a:latin typeface="Calibri"/>
              </a:rPr>
              <a:t>Meets strict DRDO/ISRO cyber-security and air-gapped lab compliance mandates.</a:t>
            </a:r>
          </a:p>
        </p:txBody>
      </p:sp>
      <p:sp>
        <p:nvSpPr>
          <p:cNvPr id="17460" name="Oval 17459"/>
          <p:cNvSpPr/>
          <p:nvPr/>
        </p:nvSpPr>
        <p:spPr>
          <a:xfrm>
            <a:off x="4434840" y="4672583"/>
            <a:ext cx="256032" cy="256032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61" name="Picture 17460" descr="SPACE AVIONICS ROADMAP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2447" y="4730191"/>
            <a:ext cx="140817" cy="140817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4764024" y="4672583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900" b="1">
                <a:solidFill>
                  <a:srgbClr val="0F2240"/>
                </a:solidFill>
              </a:rPr>
              <a:t>OPTICAL CHANNEL VALIDATION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8119872" y="1472184"/>
            <a:ext cx="2203886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5" name="TextBox 17464"/>
          <p:cNvSpPr txBox="1"/>
          <p:nvPr/>
        </p:nvSpPr>
        <p:spPr>
          <a:xfrm>
            <a:off x="8119872" y="1472184"/>
            <a:ext cx="220388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0070C0"/>
                </a:solidFill>
                <a:latin typeface="Calibri"/>
              </a:rPr>
              <a:t>CHALLENGES → STRATEGIES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8119872" y="1764792"/>
            <a:ext cx="3193999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lang="en-US">
                <a:solidFill>
                  <a:srgbClr val="566074"/>
                </a:solidFill>
                <a:latin typeface="Calibri"/>
              </a:rPr>
              <a:t>Engineering Risk Mitigations</a:t>
            </a:r>
          </a:p>
        </p:txBody>
      </p:sp>
      <p:sp>
        <p:nvSpPr>
          <p:cNvPr id="17467" name="Oval 17466"/>
          <p:cNvSpPr/>
          <p:nvPr/>
        </p:nvSpPr>
        <p:spPr>
          <a:xfrm>
            <a:off x="8119872" y="202082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8119872" y="202082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8449056" y="200253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PS-Specified ~10% S&amp;P Noise (Stress to 25%)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8449056" y="228600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  <a:defRPr sz="760">
                <a:solidFill>
                  <a:srgbClr val="212B36"/>
                </a:solidFill>
              </a:defRPr>
            </a:pPr>
            <a:r>
              <a:t>→ Vectorized rank-order median filter + Top-Hat morphology strips impulsive noise in 0.8 ms, maintaining &lt; 0.2 px subpixel centroid accuracy.</a:t>
            </a:r>
          </a:p>
        </p:txBody>
      </p:sp>
      <p:sp>
        <p:nvSpPr>
          <p:cNvPr id="17471" name="Oval 17470"/>
          <p:cNvSpPr/>
          <p:nvPr/>
        </p:nvSpPr>
        <p:spPr>
          <a:xfrm>
            <a:off x="8119872" y="286664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72" name="TextBox 17471"/>
          <p:cNvSpPr txBox="1"/>
          <p:nvPr/>
        </p:nvSpPr>
        <p:spPr>
          <a:xfrm>
            <a:off x="8119872" y="286664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8449056" y="284835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Loop Latency &amp; Actuator Delay (0–200 ms)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8449056" y="313182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  <a:defRPr sz="760">
                <a:solidFill>
                  <a:srgbClr val="212B36"/>
                </a:solidFill>
              </a:defRPr>
            </a:pPr>
            <a:r>
              <a:t>→ Forward state projection (H1) compensates cumulative frame, compute, and motor delay, reducing steady-state pointing lag by up to 32%.</a:t>
            </a:r>
          </a:p>
        </p:txBody>
      </p:sp>
      <p:sp>
        <p:nvSpPr>
          <p:cNvPr id="17475" name="Oval 17474"/>
          <p:cNvSpPr/>
          <p:nvPr/>
        </p:nvSpPr>
        <p:spPr>
          <a:xfrm>
            <a:off x="8119872" y="371246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76" name="TextBox 17475"/>
          <p:cNvSpPr txBox="1"/>
          <p:nvPr/>
        </p:nvSpPr>
        <p:spPr>
          <a:xfrm>
            <a:off x="8119872" y="371246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8449056" y="369417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Gimbal Dynamics &amp; Slew Limits (5–10°/s)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8449056" y="397764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  <a:defRPr sz="760">
                <a:solidFill>
                  <a:srgbClr val="212B36"/>
                </a:solidFill>
              </a:defRPr>
            </a:pPr>
            <a:r>
              <a:t>→ Anti-windup saturated velocity PID profiler (θ_dot ≤ 5.0°/s) prevents motor torque saturation and models real gimbal inertia with zero overshoot.</a:t>
            </a:r>
          </a:p>
        </p:txBody>
      </p:sp>
      <p:sp>
        <p:nvSpPr>
          <p:cNvPr id="17479" name="Oval 17478"/>
          <p:cNvSpPr/>
          <p:nvPr/>
        </p:nvSpPr>
        <p:spPr>
          <a:xfrm>
            <a:off x="8119872" y="455828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80" name="TextBox 17479"/>
          <p:cNvSpPr txBox="1"/>
          <p:nvPr/>
        </p:nvSpPr>
        <p:spPr>
          <a:xfrm>
            <a:off x="8119872" y="455828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81" name="TextBox 17480"/>
          <p:cNvSpPr txBox="1"/>
          <p:nvPr/>
        </p:nvSpPr>
        <p:spPr>
          <a:xfrm>
            <a:off x="8449056" y="453999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Visibility Outages &amp; Cloud/Fog Drops</a:t>
            </a:r>
          </a:p>
        </p:txBody>
      </p:sp>
      <p:sp>
        <p:nvSpPr>
          <p:cNvPr id="17482" name="TextBox 17481"/>
          <p:cNvSpPr txBox="1"/>
          <p:nvPr/>
        </p:nvSpPr>
        <p:spPr>
          <a:xfrm>
            <a:off x="8449056" y="482346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  <a:defRPr sz="760">
                <a:solidFill>
                  <a:srgbClr val="212B36"/>
                </a:solidFill>
              </a:defRPr>
            </a:pPr>
            <a:r>
              <a:t>→ Uncertainty-guided reacquisition (H2) scans growing covariance ellipse, reacquiring lost beacon up to 97% faster than blind spirals.</a:t>
            </a:r>
          </a:p>
        </p:txBody>
      </p:sp>
      <p:sp>
        <p:nvSpPr>
          <p:cNvPr id="17483" name="Oval 17482"/>
          <p:cNvSpPr/>
          <p:nvPr/>
        </p:nvSpPr>
        <p:spPr>
          <a:xfrm>
            <a:off x="8119872" y="5404104"/>
            <a:ext cx="237744" cy="237744"/>
          </a:xfrm>
          <a:prstGeom prst="ellipse">
            <a:avLst/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84" name="TextBox 17483"/>
          <p:cNvSpPr txBox="1"/>
          <p:nvPr/>
        </p:nvSpPr>
        <p:spPr>
          <a:xfrm>
            <a:off x="8119872" y="5404104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8449056" y="5385816"/>
            <a:ext cx="2846527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Independent Evaluator Verification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8449056" y="5669280"/>
            <a:ext cx="2846527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  <a:defRPr sz="760">
                <a:solidFill>
                  <a:srgbClr val="212B36"/>
                </a:solidFill>
              </a:defRPr>
            </a:pPr>
            <a:r>
              <a:t>→ Decoupled MP4 bypass ingests external real/synthetic videos; standalone 1-click macOS DMG (61 MB) &amp; Windows EXE enable immediate jury testing.</a:t>
            </a:r>
          </a:p>
        </p:txBody>
      </p:sp>
      <p:pic>
        <p:nvPicPr>
          <p:cNvPr id="17487" name="Picture 17486" descr="04_optical_disturbances_compari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34840" y="4160520"/>
            <a:ext cx="324612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Times New Roman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1325880"/>
            <a:ext cx="2627528" cy="2514600"/>
          </a:xfrm>
          <a:prstGeom prst="roundRect">
            <a:avLst>
              <a:gd name="adj" fmla="val 4363"/>
            </a:avLst>
          </a:prstGeom>
          <a:solidFill>
            <a:srgbClr val="EBF4FC"/>
          </a:solidFill>
          <a:ln w="15240">
            <a:solidFill>
              <a:srgbClr val="C5DEF5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3" name="Oval 17412"/>
          <p:cNvSpPr/>
          <p:nvPr/>
        </p:nvSpPr>
        <p:spPr>
          <a:xfrm>
            <a:off x="731520" y="1490472"/>
            <a:ext cx="420624" cy="420624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14" name="Picture 17413" descr="ISRO / SAC FLIGHT TEAM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" y="1595628"/>
            <a:ext cx="210312" cy="210312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1243584" y="1490472"/>
            <a:ext cx="180456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80" b="1" i="0" lang="en-US" spc="20">
                <a:solidFill>
                  <a:srgbClr val="14345C"/>
                </a:solidFill>
                <a:latin typeface="Calibri"/>
              </a:rPr>
              <a:t>ISRO / SAC FLIGHT TEAMS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731520" y="2075688"/>
            <a:ext cx="2280056" cy="1636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Accelerated Development: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Cuts PAT validation cycles from 6 months to 48 hours.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Risk-Free Validation: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Verifies coarse tracking algorithms prior to hardware fabrication.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Automated Logging: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Produces standardized timestamped error audits matching ISRO criteria.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370935" y="1325880"/>
            <a:ext cx="2627528" cy="2514600"/>
          </a:xfrm>
          <a:prstGeom prst="roundRect">
            <a:avLst>
              <a:gd name="adj" fmla="val 4363"/>
            </a:avLst>
          </a:prstGeom>
          <a:solidFill>
            <a:srgbClr val="FEF8EE"/>
          </a:solidFill>
          <a:ln w="15240">
            <a:solidFill>
              <a:srgbClr val="F4E0C3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8" name="Oval 17417"/>
          <p:cNvSpPr/>
          <p:nvPr/>
        </p:nvSpPr>
        <p:spPr>
          <a:xfrm>
            <a:off x="3553815" y="1490472"/>
            <a:ext cx="420624" cy="420624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NATIONAL SPACE DEFENS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8971" y="1595628"/>
            <a:ext cx="210312" cy="210312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4065879" y="1490472"/>
            <a:ext cx="180456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80" b="1" i="0" lang="en-US" spc="20">
                <a:solidFill>
                  <a:srgbClr val="14345C"/>
                </a:solidFill>
                <a:latin typeface="Calibri"/>
              </a:rPr>
              <a:t>NATIONAL SPACE DEFENSE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553815" y="2075688"/>
            <a:ext cx="2280056" cy="1636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Jam-Proof Comms: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Accelerates deployment of high-throughput optical links immune to RF EW.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QKD Readiness: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Coarse tracking foundation for satellite Quantum Key Distribution meshes.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Airborne FSOC: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Supports UAV-to-ground high-bandwidth disaster and defense links.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93231" y="1325880"/>
            <a:ext cx="2627528" cy="2514600"/>
          </a:xfrm>
          <a:prstGeom prst="roundRect">
            <a:avLst>
              <a:gd name="adj" fmla="val 4363"/>
            </a:avLst>
          </a:prstGeom>
          <a:solidFill>
            <a:srgbClr val="F5F3FA"/>
          </a:solidFill>
          <a:ln w="15240">
            <a:solidFill>
              <a:srgbClr val="DCD4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3" name="Oval 17422"/>
          <p:cNvSpPr/>
          <p:nvPr/>
        </p:nvSpPr>
        <p:spPr>
          <a:xfrm>
            <a:off x="6376111" y="1490472"/>
            <a:ext cx="420624" cy="420624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DEEP SPACE &amp; OISL MISSIONS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1267" y="1595628"/>
            <a:ext cx="210312" cy="210312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6888175" y="1490472"/>
            <a:ext cx="180456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80" b="1" i="0" lang="en-US" spc="20">
                <a:solidFill>
                  <a:srgbClr val="14345C"/>
                </a:solidFill>
                <a:latin typeface="Calibri"/>
              </a:rPr>
              <a:t>DEEP SPACE &amp; OISL MISSIONS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376111" y="2075688"/>
            <a:ext cx="2280056" cy="1636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Inter-Satellite Crosslinks: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Establishes tracking algorithms for LEO mega-constellations.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Lunar &amp; Planetary Probes: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Validates coarse alignment for deep-space laser transceivers.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Adaptive Simulation: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Models dynamic space scintillation and reaction-wheel jitter.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015526" y="1325880"/>
            <a:ext cx="2627528" cy="2514600"/>
          </a:xfrm>
          <a:prstGeom prst="roundRect">
            <a:avLst>
              <a:gd name="adj" fmla="val 4363"/>
            </a:avLst>
          </a:prstGeom>
          <a:solidFill>
            <a:srgbClr val="EEF7F2"/>
          </a:solidFill>
          <a:ln w="15240">
            <a:solidFill>
              <a:srgbClr val="C6E4D2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8" name="Oval 17427"/>
          <p:cNvSpPr/>
          <p:nvPr/>
        </p:nvSpPr>
        <p:spPr>
          <a:xfrm>
            <a:off x="9198406" y="1490472"/>
            <a:ext cx="420624" cy="420624"/>
          </a:xfrm>
          <a:prstGeom prst="ellipse">
            <a:avLst/>
          </a:prstGeom>
          <a:solidFill>
            <a:srgbClr val="FDE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429" name="Picture 17428" descr="INDIAN ACADEMIA &amp; STARTUPS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3562" y="1595628"/>
            <a:ext cx="210312" cy="210312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9710470" y="1490472"/>
            <a:ext cx="1804568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80" b="1" i="0" lang="en-US" spc="20">
                <a:solidFill>
                  <a:srgbClr val="14345C"/>
                </a:solidFill>
                <a:latin typeface="Calibri"/>
              </a:rPr>
              <a:t>INDIAN ACADEMIA &amp; STARTUPS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198406" y="2075688"/>
            <a:ext cx="2280056" cy="1636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Democratized Research: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Zero-Capex platform enables university labs to design FSOC algorithms.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Repeatable Benchmarking: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Standardized testbed lowers barrier of entry for spacetech startups.</a:t>
            </a:r>
          </a:p>
          <a:p>
            <a:pPr algn="l" marL="137160" indent="-137160">
              <a:spcBef>
                <a:spcPts val="0"/>
              </a:spcBef>
              <a:spcAft>
                <a:spcPts val="400"/>
              </a:spcAft>
              <a:buClr>
                <a:srgbClr val="D9700F"/>
              </a:buClr>
              <a:buFont typeface="Arial"/>
              <a:buChar char="•"/>
            </a:pPr>
            <a:r>
              <a:rPr sz="930" b="1" i="0" lang="en-US">
                <a:solidFill>
                  <a:srgbClr val="14345C"/>
                </a:solidFill>
                <a:latin typeface="Calibri"/>
              </a:rPr>
              <a:t>Open Standards: </a:t>
            </a:r>
            <a:r>
              <a:rPr sz="930" b="0" i="0" lang="en-US">
                <a:solidFill>
                  <a:srgbClr val="1E2638"/>
                </a:solidFill>
                <a:latin typeface="Calibri"/>
              </a:rPr>
              <a:t>Clean modular codebase fostering indigenous space-comms innovation.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548640" y="3977640"/>
            <a:ext cx="11094415" cy="2285999"/>
          </a:xfrm>
          <a:prstGeom prst="roundRect">
            <a:avLst>
              <a:gd name="adj" fmla="val 4800"/>
            </a:avLst>
          </a:prstGeom>
          <a:solidFill>
            <a:srgbClr val="14345C"/>
          </a:solidFill>
          <a:ln w="9525">
            <a:solidFill>
              <a:srgbClr val="14345C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749808" y="4096512"/>
            <a:ext cx="5320710" cy="256032"/>
          </a:xfrm>
          <a:prstGeom prst="roundRect">
            <a:avLst>
              <a:gd name="adj" fmla="val 50000"/>
            </a:avLst>
          </a:prstGeom>
          <a:solidFill>
            <a:srgbClr val="F0841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749808" y="4096512"/>
            <a:ext cx="532071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lang="en-US" spc="80">
                <a:solidFill>
                  <a:srgbClr val="14345C"/>
                </a:solidFill>
                <a:latin typeface="Calibri"/>
              </a:rPr>
              <a:t>PHOENIX IMPACT PIPELINE — MEASURABLE PERFORMANCE BREAKTHROUGHS</a:t>
            </a:r>
          </a:p>
        </p:txBody>
      </p:sp>
      <p:sp>
        <p:nvSpPr>
          <p:cNvPr id="17435" name="Pentagon 17434"/>
          <p:cNvSpPr/>
          <p:nvPr/>
        </p:nvSpPr>
        <p:spPr>
          <a:xfrm>
            <a:off x="749808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822959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1  DEPLOY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786384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1-Click Native Runtime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86384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212B36"/>
                </a:solidFill>
              </a:defRPr>
            </a:pPr>
            <a:r>
              <a:t>Standalone cross-platform app (macOS 61 MB DMG / Windows EXE) runs 100% offline in &lt; 30 seconds.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49808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F6F9FC"/>
          </a:solidFill>
          <a:ln w="12700">
            <a:solidFill>
              <a:srgbClr val="DA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749808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0F2240"/>
                </a:solidFill>
              </a:defRPr>
            </a:pPr>
            <a:r>
              <a:t>100% Offline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749808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475569"/>
                </a:solidFill>
              </a:defRPr>
            </a:pPr>
            <a:r>
              <a:t>macOS &amp; Win native</a:t>
            </a:r>
          </a:p>
        </p:txBody>
      </p:sp>
      <p:sp>
        <p:nvSpPr>
          <p:cNvPr id="17442" name="Pentagon 17441"/>
          <p:cNvSpPr/>
          <p:nvPr/>
        </p:nvSpPr>
        <p:spPr>
          <a:xfrm>
            <a:off x="2913827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2986979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2  SIMULATE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2950403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Empirical SIL Testbed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2950403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212B36"/>
                </a:solidFill>
              </a:defRPr>
            </a:pPr>
            <a:r>
              <a:t>Models 109.1 μrad/px scale, loop latency (0-200 ms), PS ~10% S&amp;P, and dynamic platform motion.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2913827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F6F9FC"/>
          </a:solidFill>
          <a:ln w="12700">
            <a:solidFill>
              <a:srgbClr val="DA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2913827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0F2240"/>
                </a:solidFill>
              </a:defRPr>
            </a:pPr>
            <a:r>
              <a:t>109.1 μrad/px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2913827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475569"/>
                </a:solidFill>
              </a:defRPr>
            </a:pPr>
            <a:r>
              <a:t>Default 4°x3° FOV</a:t>
            </a:r>
          </a:p>
        </p:txBody>
      </p:sp>
      <p:sp>
        <p:nvSpPr>
          <p:cNvPr id="17449" name="Pentagon 17448"/>
          <p:cNvSpPr/>
          <p:nvPr/>
        </p:nvSpPr>
        <p:spPr>
          <a:xfrm>
            <a:off x="5077846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5150998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3  ACQUIRE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5114422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Latency-Compensated Lock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5114422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212B36"/>
                </a:solidFill>
              </a:defRPr>
            </a:pPr>
            <a:r>
              <a:t>Autonomous acquisition in ≤ 0.8 s (SLA: ≤ 2.0 s); forward projection cuts pointing lag by up to 32%.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5077846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F6F9FC"/>
          </a:solidFill>
          <a:ln w="12700">
            <a:solidFill>
              <a:srgbClr val="DA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4" name="TextBox 17453"/>
          <p:cNvSpPr txBox="1"/>
          <p:nvPr/>
        </p:nvSpPr>
        <p:spPr>
          <a:xfrm>
            <a:off x="5077846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0F2240"/>
                </a:solidFill>
              </a:defRPr>
            </a:pPr>
            <a:r>
              <a:t>≤ 0.8 s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5077846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475569"/>
                </a:solidFill>
              </a:defRPr>
            </a:pPr>
            <a:r>
              <a:t>SLA: ≤ 2 s</a:t>
            </a:r>
          </a:p>
        </p:txBody>
      </p:sp>
      <p:sp>
        <p:nvSpPr>
          <p:cNvPr id="17456" name="Pentagon 17455"/>
          <p:cNvSpPr/>
          <p:nvPr/>
        </p:nvSpPr>
        <p:spPr>
          <a:xfrm>
            <a:off x="7241865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1E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7315017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4  TRACK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7278441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Sub-Pixel Coarse Centroiding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7278441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212B36"/>
                </a:solidFill>
              </a:defRPr>
            </a:pPr>
            <a:r>
              <a:t>Maintains lock with RMSE ≤ 1.5 px nominal; all evaluated test trials remained compliant with PS ≤ 10 px cone.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7241865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F6F9FC"/>
          </a:solidFill>
          <a:ln w="12700">
            <a:solidFill>
              <a:srgbClr val="DA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7241865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0F2240"/>
                </a:solidFill>
              </a:defRPr>
            </a:pPr>
            <a:r>
              <a:t>&lt; 1.5 px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7241865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475569"/>
                </a:solidFill>
              </a:defRPr>
            </a:pPr>
            <a:r>
              <a:t>PS Cone: ≤ 10 px</a:t>
            </a:r>
          </a:p>
        </p:txBody>
      </p:sp>
      <p:sp>
        <p:nvSpPr>
          <p:cNvPr id="17463" name="Pentagon 17462"/>
          <p:cNvSpPr/>
          <p:nvPr/>
        </p:nvSpPr>
        <p:spPr>
          <a:xfrm>
            <a:off x="9405884" y="4453128"/>
            <a:ext cx="2036003" cy="365760"/>
          </a:xfrm>
          <a:prstGeom prst="homePlate">
            <a:avLst>
              <a:gd name="adj" fmla="val 30000"/>
            </a:avLst>
          </a:prstGeom>
          <a:solidFill>
            <a:srgbClr val="D970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4" name="TextBox 17463"/>
          <p:cNvSpPr txBox="1"/>
          <p:nvPr/>
        </p:nvSpPr>
        <p:spPr>
          <a:xfrm>
            <a:off x="9479036" y="4453128"/>
            <a:ext cx="176168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FFFFFF"/>
                </a:solidFill>
                <a:latin typeface="Calibri"/>
              </a:rPr>
              <a:t>5  AUDIT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9442460" y="4873752"/>
            <a:ext cx="1962851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850" b="1">
                <a:solidFill>
                  <a:srgbClr val="0F2240"/>
                </a:solidFill>
              </a:defRPr>
            </a:pPr>
            <a:r>
              <a:t>Empirical Benchmark Engine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9442460" y="5111496"/>
            <a:ext cx="1962851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212B36"/>
                </a:solidFill>
              </a:defRPr>
            </a:pPr>
            <a:r>
              <a:t>Auto-exports timestamped CSV compliance audits; empirically verifies Hypotheses H1 (latency) &amp; H2 (reacquisition).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9405884" y="5788152"/>
            <a:ext cx="2017715" cy="475488"/>
          </a:xfrm>
          <a:prstGeom prst="roundRect">
            <a:avLst>
              <a:gd name="adj" fmla="val 15384"/>
            </a:avLst>
          </a:prstGeom>
          <a:solidFill>
            <a:srgbClr val="F6F9FC"/>
          </a:solidFill>
          <a:ln w="12700">
            <a:solidFill>
              <a:srgbClr val="DAE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9405884" y="5806440"/>
            <a:ext cx="201771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0F2240"/>
                </a:solidFill>
              </a:defRPr>
            </a:pPr>
            <a:r>
              <a:t>+97% / +32%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9405884" y="6062472"/>
            <a:ext cx="2017715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  <a:defRPr sz="750">
                <a:solidFill>
                  <a:srgbClr val="475569"/>
                </a:solidFill>
              </a:defRPr>
            </a:pPr>
            <a:r>
              <a:t>H1 &amp; H2 Empirical Gains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latin typeface="Times New Roman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5448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1300"/>
              <a:t>Phoenix X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2057400" y="914400"/>
            <a:ext cx="9418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C757D"/>
                </a:solidFill>
                <a:latin typeface="Arial"/>
              </a:defRPr>
            </a:pPr>
            <a:r>
              <a:rPr sz="1000">
                <a:solidFill>
                  <a:srgbClr val="566074"/>
                </a:solidFill>
              </a:rPr>
              <a:t>PROJECT PHOENIX: AI-Based Virtual Camera Tracking for Mobile FSOC  |  SIH26169 (ISRO / SAC)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48640" y="1325880"/>
            <a:ext cx="6903720" cy="4937759"/>
          </a:xfrm>
          <a:prstGeom prst="roundRect">
            <a:avLst>
              <a:gd name="adj" fmla="val 2222"/>
            </a:avLst>
          </a:prstGeom>
          <a:solidFill>
            <a:srgbClr val="F6F9FC"/>
          </a:solidFill>
          <a:ln w="1524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731520" y="1453895"/>
            <a:ext cx="4512271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731520" y="1453895"/>
            <a:ext cx="45122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 spc="80">
                <a:solidFill>
                  <a:srgbClr val="0070C0"/>
                </a:solidFill>
                <a:latin typeface="Calibri"/>
              </a:rPr>
              <a:t>VERIFIED PEER-REVIEWED RESEARCH CITATIONS (2023–2025)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13232" y="1746504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22959" y="1801368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0E7490"/>
                </a:solidFill>
                <a:latin typeface="Consolas"/>
              </a:rPr>
              <a:t>01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261872" y="1792224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b="1" sz="850">
                <a:solidFill>
                  <a:srgbClr val="0F2240"/>
                </a:solidFill>
              </a:rPr>
              <a:t>Liu et al. (IEEE ICSOS, 2025)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261872" y="2020824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750">
                <a:solidFill>
                  <a:srgbClr val="212B36"/>
                </a:solidFill>
              </a:rPr>
              <a:t>'Pointing, Acquisition, and Tracking (PAT) for Optical Satellite Communications: The ALIGN UK Mission' — Satellite PAT handover: establishes coarse-to-fine transition dynamics and ≤ 2 s acquisition SLA. </a:t>
            </a:r>
            <a:r>
              <a:rPr b="1" sz="750">
                <a:solidFill>
                  <a:srgbClr val="0E7490"/>
                </a:solidFill>
              </a:rPr>
              <a:t>DOI: </a:t>
            </a:r>
            <a:r>
              <a:rPr sz="750" u="sng">
                <a:solidFill>
                  <a:srgbClr val="0D6EFD"/>
                </a:solidFill>
                <a:hlinkClick r:id="rId6"/>
              </a:rPr>
              <a:t>10.1109/icsos66026.2025.11443125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13232" y="2519172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822959" y="257403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0E7490"/>
                </a:solidFill>
                <a:latin typeface="Consolas"/>
              </a:rPr>
              <a:t>02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261872" y="2564891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b="1" sz="850">
                <a:solidFill>
                  <a:srgbClr val="0F2240"/>
                </a:solidFill>
              </a:rPr>
              <a:t>Sun, Wang, Wu &amp; Liu (MDPI Photonics, 2024)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261872" y="2793491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750">
                <a:solidFill>
                  <a:srgbClr val="212B36"/>
                </a:solidFill>
              </a:rPr>
              <a:t>'High-Precision Tracking of Free-Space Optical Communication System on Mobile Platforms' — Mobile platform dynamics: validates multi-axis platform jitter rejection (±20 px/frame). </a:t>
            </a:r>
            <a:r>
              <a:rPr b="1" sz="750">
                <a:solidFill>
                  <a:srgbClr val="0E7490"/>
                </a:solidFill>
              </a:rPr>
              <a:t>DOI: </a:t>
            </a:r>
            <a:r>
              <a:rPr sz="750" u="sng">
                <a:solidFill>
                  <a:srgbClr val="0D6EFD"/>
                </a:solidFill>
                <a:hlinkClick r:id="rId7"/>
              </a:rPr>
              <a:t>10.3390/photonics11100900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13232" y="3291839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822959" y="3346703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0E7490"/>
                </a:solidFill>
                <a:latin typeface="Consolas"/>
              </a:rPr>
              <a:t>03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261872" y="3337559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b="1" sz="850">
                <a:solidFill>
                  <a:srgbClr val="0F2240"/>
                </a:solidFill>
              </a:rPr>
              <a:t>Saha, Qin, Li, Ye &amp; Jayasuriya (IEEE/CVF CVPR, 2024)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261872" y="3566159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750">
                <a:solidFill>
                  <a:srgbClr val="212B36"/>
                </a:solidFill>
              </a:rPr>
              <a:t>'Turb-Seg-Res: A Segment-then-Restore Pipeline for Dynamic Videos with Atmospheric Turbulence' — Deep vision in turbulence: formulates spatio-temporal segmentation under refractive shimmer. </a:t>
            </a:r>
            <a:r>
              <a:rPr b="1" sz="750">
                <a:solidFill>
                  <a:srgbClr val="0E7490"/>
                </a:solidFill>
              </a:rPr>
              <a:t>DOI: </a:t>
            </a:r>
            <a:r>
              <a:rPr sz="750" u="sng">
                <a:solidFill>
                  <a:srgbClr val="0D6EFD"/>
                </a:solidFill>
                <a:hlinkClick r:id="rId8"/>
              </a:rPr>
              <a:t>10.1109/CVPR52733.2024.02389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13232" y="4064508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822959" y="411937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0E7490"/>
                </a:solidFill>
                <a:latin typeface="Consolas"/>
              </a:rPr>
              <a:t>04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261872" y="4110228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b="1" sz="850">
                <a:solidFill>
                  <a:srgbClr val="0F2240"/>
                </a:solidFill>
              </a:rPr>
              <a:t>Qin, Saha, Chung, Jayasuriya, Ye &amp; Li (ECCV, 2024)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261872" y="4338828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750">
                <a:solidFill>
                  <a:srgbClr val="212B36"/>
                </a:solidFill>
              </a:rPr>
              <a:t>'Unsupervised Moving Object Segmentation with Atmospheric Turbulence' — Deep saliency prior: separates faint moving beacons under dense haze, fog and scintillation. </a:t>
            </a:r>
            <a:r>
              <a:rPr b="1" sz="750">
                <a:solidFill>
                  <a:srgbClr val="0E7490"/>
                </a:solidFill>
              </a:rPr>
              <a:t>DOI: </a:t>
            </a:r>
            <a:r>
              <a:rPr sz="750" u="sng">
                <a:solidFill>
                  <a:srgbClr val="0D6EFD"/>
                </a:solidFill>
                <a:hlinkClick r:id="rId9"/>
              </a:rPr>
              <a:t>10.1007/978-3-031-72658-3_2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13232" y="4837176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822959" y="489204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0E7490"/>
                </a:solidFill>
                <a:latin typeface="Consolas"/>
              </a:rPr>
              <a:t>05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261872" y="4882896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b="1" sz="850">
                <a:solidFill>
                  <a:srgbClr val="0F2240"/>
                </a:solidFill>
              </a:rPr>
              <a:t>Yang, Xie, Liu, Mo &amp; Zeng (MDPI Remote Sensing, 2023)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261872" y="5111496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750">
                <a:solidFill>
                  <a:srgbClr val="212B36"/>
                </a:solidFill>
              </a:rPr>
              <a:t>'Centroid Extraction of Laser Spots Captured by Infrared Detectors Combining Observation Data' — Sub-pixel Gaussian diffusion: mathematical proof of &lt; 0.2 px centroid accuracy under noise. </a:t>
            </a:r>
            <a:r>
              <a:rPr b="1" sz="750">
                <a:solidFill>
                  <a:srgbClr val="0E7490"/>
                </a:solidFill>
              </a:rPr>
              <a:t>DOI: </a:t>
            </a:r>
            <a:r>
              <a:rPr sz="750" u="sng">
                <a:solidFill>
                  <a:srgbClr val="0D6EFD"/>
                </a:solidFill>
                <a:hlinkClick r:id="rId10"/>
              </a:rPr>
              <a:t>10.3390/rs15082129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713232" y="5609844"/>
            <a:ext cx="6574536" cy="722376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822959" y="56647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en-US">
                <a:solidFill>
                  <a:srgbClr val="0E7490"/>
                </a:solidFill>
                <a:latin typeface="Consolas"/>
              </a:rPr>
              <a:t>06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261872" y="5655564"/>
            <a:ext cx="58978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b="1" sz="850">
                <a:solidFill>
                  <a:srgbClr val="0F2240"/>
                </a:solidFill>
              </a:rPr>
              <a:t>Kaushal &amp; Kaddoum (IEEE COMST, 2017)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261872" y="5884164"/>
            <a:ext cx="589787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750">
                <a:solidFill>
                  <a:srgbClr val="212B36"/>
                </a:solidFill>
              </a:rPr>
              <a:t>'Optical Communication in Space: Challenges and Mitigation Techniques' — Foundational survey: gold-standard reference for Beer-Lambert extinction &amp; scintillation channels. </a:t>
            </a:r>
            <a:r>
              <a:rPr b="1" sz="750">
                <a:solidFill>
                  <a:srgbClr val="0E7490"/>
                </a:solidFill>
              </a:rPr>
              <a:t>DOI: </a:t>
            </a:r>
            <a:r>
              <a:rPr sz="750" u="sng">
                <a:solidFill>
                  <a:srgbClr val="0D6EFD"/>
                </a:solidFill>
                <a:hlinkClick r:id="rId11"/>
              </a:rPr>
              <a:t>10.1109/COMST.2016.2603518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635240" y="1325880"/>
            <a:ext cx="4007815" cy="4937759"/>
          </a:xfrm>
          <a:prstGeom prst="roundRect">
            <a:avLst>
              <a:gd name="adj" fmla="val 2737"/>
            </a:avLst>
          </a:prstGeom>
          <a:solidFill>
            <a:srgbClr val="F6F9FC"/>
          </a:solidFill>
          <a:ln w="15240">
            <a:solidFill>
              <a:srgbClr val="DAE3EE"/>
            </a:solidFill>
          </a:ln>
          <a:effectLst>
            <a:outerShdw blurRad="95000" dist="23000" dir="5400000" algn="t" rotWithShape="0">
              <a:srgbClr val="1B2A44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7836408" y="1453895"/>
            <a:ext cx="3260494" cy="256032"/>
          </a:xfrm>
          <a:prstGeom prst="roundRect">
            <a:avLst>
              <a:gd name="adj" fmla="val 50000"/>
            </a:avLst>
          </a:prstGeom>
          <a:solidFill>
            <a:srgbClr val="E1EE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7836408" y="1453895"/>
            <a:ext cx="326049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 lang="en-US" spc="80">
                <a:solidFill>
                  <a:srgbClr val="0070C0"/>
                </a:solidFill>
                <a:latin typeface="Calibri"/>
              </a:rPr>
              <a:t>PROTOTYPE PROOF &amp; VERIFICATION ASSETS</a:t>
            </a:r>
          </a:p>
        </p:txBody>
      </p:sp>
      <p:pic>
        <p:nvPicPr>
          <p:cNvPr id="17442" name="Picture 17441" descr="GitHub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6408" y="1801368"/>
            <a:ext cx="182880" cy="182880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8092440" y="1792224"/>
            <a:ext cx="334944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en-US">
                <a:solidFill>
                  <a:srgbClr val="B35A00"/>
                </a:solidFill>
                <a:latin typeface="Calibri"/>
              </a:rPr>
              <a:t>Open-Source GitHub Repository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836408" y="2057400"/>
            <a:ext cx="3605479" cy="438912"/>
          </a:xfrm>
          <a:prstGeom prst="roundRect">
            <a:avLst>
              <a:gd name="adj" fmla="val 16666"/>
            </a:avLst>
          </a:prstGeom>
          <a:solidFill>
            <a:srgbClr val="EBF4FC"/>
          </a:solidFill>
          <a:ln w="12700">
            <a:solidFill>
              <a:srgbClr val="C5DE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7927848" y="2057400"/>
            <a:ext cx="3422599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40" b="0" i="0" lang="en-US">
                <a:solidFill>
                  <a:srgbClr val="0E7490"/>
                </a:solidFill>
                <a:latin typeface="Consolas"/>
              </a:rPr>
              <a:t>github.com/jvstin47/Phoenix-X-AI-Based-Virtual-
Camera-Tracking-System-SIH26169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7836408" y="2606039"/>
            <a:ext cx="3605479" cy="0"/>
          </a:xfrm>
          <a:prstGeom prst="line">
            <a:avLst/>
          </a:prstGeom>
          <a:ln w="12700">
            <a:solidFill>
              <a:srgbClr val="D9E2EE"/>
            </a:solidFill>
          </a:ln>
        </p:spPr>
      </p:cxnSp>
      <p:sp>
        <p:nvSpPr>
          <p:cNvPr id="17447" name="TextBox 17446"/>
          <p:cNvSpPr txBox="1"/>
          <p:nvPr/>
        </p:nvSpPr>
        <p:spPr>
          <a:xfrm>
            <a:off x="7836408" y="2697480"/>
            <a:ext cx="360547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  <a:defRPr sz="919" b="1">
                <a:solidFill>
                  <a:srgbClr val="0F2240"/>
                </a:solidFill>
              </a:defRPr>
            </a:pPr>
            <a:r>
              <a:t>Scope Boundary &amp; Engineering Deliverables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7836408" y="2962656"/>
            <a:ext cx="3605479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760">
                <a:solidFill>
                  <a:srgbClr val="212B36"/>
                </a:solidFill>
              </a:rPr>
              <a:t>1. Scope Boundary: Coarse PAT &amp; Reacquisition Stage (109.1 μrad/px). Downstream fine pointing (FSM, QPD, BER, link budget) handled at handover.</a:t>
            </a:r>
          </a:p>
          <a:p>
            <a:pPr>
              <a:spcAft>
                <a:spcPts val="100"/>
              </a:spcAft>
            </a:pPr>
            <a:r>
              <a:rPr sz="760">
                <a:solidFill>
                  <a:srgbClr val="212B36"/>
                </a:solidFill>
              </a:rPr>
              <a:t>2. Scientific Engine: src/experiments/scientific_benchmark.py (Sweeps for SNR, Latency H1, Reacquisition H2, Maneuvers).</a:t>
            </a:r>
          </a:p>
          <a:p>
            <a:pPr>
              <a:spcAft>
                <a:spcPts val="100"/>
              </a:spcAft>
            </a:pPr>
            <a:r>
              <a:rPr sz="760">
                <a:solidFill>
                  <a:srgbClr val="212B36"/>
                </a:solidFill>
              </a:rPr>
              <a:t>3. Standalone Releases: Native macOS 61 MB DMG (arm64 Apple Silicon) + Windows 1-click CI/CD binaries.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7818120" y="3886200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7490"/>
                </a:solidFill>
              </a:defRPr>
            </a:pPr>
            <a:r>
              <a:t>Operational Software Cockpit (main.py)</a:t>
            </a:r>
          </a:p>
        </p:txBody>
      </p:sp>
      <p:pic>
        <p:nvPicPr>
          <p:cNvPr id="17450" name="Picture 17449" descr="03_tactical_dual_viewport_cockpi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18120" y="4160520"/>
            <a:ext cx="3611880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7524</TotalTime>
  <Words>346</Words>
  <Application>Microsoft Macintosh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Justin </cp:lastModifiedBy>
  <cp:revision>149</cp:revision>
  <dcterms:created xsi:type="dcterms:W3CDTF">2013-12-12T18:46:50Z</dcterms:created>
  <dcterms:modified xsi:type="dcterms:W3CDTF">2026-09-18T06:04:45Z</dcterms:modified>
  <cp:category/>
</cp:coreProperties>
</file>