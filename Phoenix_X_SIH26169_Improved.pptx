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352" y="19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9/18/26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9/18/26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9/18/26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32520" y="960120"/>
            <a:ext cx="2319302" cy="2577483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Smart India Hackathon 2026 light-bulb logo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9331575" y="1392300"/>
            <a:ext cx="1601754" cy="171311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11480" y="868680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en-US" spc="100">
                <a:solidFill>
                  <a:srgbClr val="B35A00"/>
                </a:solidFill>
                <a:latin typeface="Calibri"/>
              </a:rPr>
              <a:t>SPACE TECHNOLOGY &amp; SMART AUTOMATION  |  ISRO / SPACE APPLICATIONS CENTRE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1161288"/>
            <a:ext cx="7680960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1" i="0" lang="en-US">
                <a:solidFill>
                  <a:srgbClr val="1F497D"/>
                </a:solidFill>
                <a:latin typeface="Calibri"/>
              </a:rPr>
              <a:t>PROJECT PHOENIX</a:t>
            </a:r>
          </a:p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1" i="0" lang="en-US">
                <a:solidFill>
                  <a:srgbClr val="D9700F"/>
                </a:solidFill>
                <a:latin typeface="Calibri"/>
              </a:rPr>
              <a:t>FSOC TRACKER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2231136"/>
            <a:ext cx="763524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450" b="0" i="0" lang="en-US">
                <a:solidFill>
                  <a:srgbClr val="566074"/>
                </a:solidFill>
                <a:latin typeface="Calibri"/>
              </a:rPr>
              <a:t>AI-based virtual camera tracking system for coarse alignment of mobile Free-Space Optical Communication (FSOC) terminals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1480" y="2889504"/>
            <a:ext cx="7360920" cy="3474720"/>
          </a:xfrm>
          <a:prstGeom prst="roundRect">
            <a:avLst>
              <a:gd name="adj" fmla="val 3684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3054096"/>
            <a:ext cx="356616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en-US" spc="150">
                <a:solidFill>
                  <a:srgbClr val="0070C0"/>
                </a:solidFill>
                <a:latin typeface="Calibri"/>
              </a:rPr>
              <a:t>PROBLEM STATEMENT 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3236976"/>
            <a:ext cx="3566160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lang="en-US">
                <a:solidFill>
                  <a:srgbClr val="D9700F"/>
                </a:solidFill>
                <a:latin typeface="Calibri"/>
              </a:rPr>
              <a:t>SIH26169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26280" y="3054096"/>
            <a:ext cx="30175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en-US" spc="150">
                <a:solidFill>
                  <a:srgbClr val="0070C0"/>
                </a:solidFill>
                <a:latin typeface="Calibri"/>
              </a:rPr>
              <a:t>THEME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26280" y="3236976"/>
            <a:ext cx="3017520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en-US">
                <a:solidFill>
                  <a:srgbClr val="1F497D"/>
                </a:solidFill>
                <a:latin typeface="Calibri"/>
              </a:rPr>
              <a:t>Space Technology &amp; Smart Automation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85800" y="3712464"/>
            <a:ext cx="6812279" cy="0"/>
          </a:xfrm>
          <a:prstGeom prst="line">
            <a:avLst/>
          </a:prstGeom>
          <a:ln w="12700">
            <a:solidFill>
              <a:srgbClr val="D9E2EE"/>
            </a:solidFill>
          </a:ln>
        </p:spPr>
      </p:cxnSp>
      <p:sp>
        <p:nvSpPr>
          <p:cNvPr id="47" name="TextBox 46"/>
          <p:cNvSpPr txBox="1"/>
          <p:nvPr/>
        </p:nvSpPr>
        <p:spPr>
          <a:xfrm>
            <a:off x="685800" y="3803904"/>
            <a:ext cx="68122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en-US" spc="150">
                <a:solidFill>
                  <a:srgbClr val="0070C0"/>
                </a:solidFill>
                <a:latin typeface="Calibri"/>
              </a:rPr>
              <a:t>PROBLEM STATEMENT TITLE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3995928"/>
            <a:ext cx="681228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en-US">
                <a:solidFill>
                  <a:srgbClr val="A10000"/>
                </a:solidFill>
                <a:latin typeface="Calibri"/>
              </a:rPr>
              <a:t>Development of an AI-Based Virtual Camera Tracking System for Coarse Alignment of Mobile Free Space Optical Communication (FSOC) Terminals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85800" y="4791456"/>
            <a:ext cx="6812279" cy="0"/>
          </a:xfrm>
          <a:prstGeom prst="line">
            <a:avLst/>
          </a:prstGeom>
          <a:ln w="12700">
            <a:solidFill>
              <a:srgbClr val="D9E2EE"/>
            </a:solidFill>
          </a:ln>
        </p:spPr>
      </p:cxnSp>
      <p:sp>
        <p:nvSpPr>
          <p:cNvPr id="50" name="TextBox 49"/>
          <p:cNvSpPr txBox="1"/>
          <p:nvPr/>
        </p:nvSpPr>
        <p:spPr>
          <a:xfrm>
            <a:off x="685800" y="4882896"/>
            <a:ext cx="356616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en-US" spc="150">
                <a:solidFill>
                  <a:srgbClr val="0070C0"/>
                </a:solidFill>
                <a:latin typeface="Calibri"/>
              </a:rPr>
              <a:t>SPONSORING ORGANIZATION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26280" y="4882896"/>
            <a:ext cx="30175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en-US" spc="150">
                <a:solidFill>
                  <a:srgbClr val="0070C0"/>
                </a:solidFill>
                <a:latin typeface="Calibri"/>
              </a:rPr>
              <a:t>CATEGORY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506577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lang="en-US">
                <a:solidFill>
                  <a:srgbClr val="1F497D"/>
                </a:solidFill>
                <a:latin typeface="Calibri"/>
              </a:rPr>
              <a:t>ISRO / Space Applications Centre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26280" y="506577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en-US">
                <a:solidFill>
                  <a:srgbClr val="1F497D"/>
                </a:solidFill>
                <a:latin typeface="Calibri"/>
              </a:rPr>
              <a:t>Software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85800" y="5486400"/>
            <a:ext cx="6812279" cy="0"/>
          </a:xfrm>
          <a:prstGeom prst="line">
            <a:avLst/>
          </a:prstGeom>
          <a:ln w="12700">
            <a:solidFill>
              <a:srgbClr val="D9E2EE"/>
            </a:solidFill>
          </a:ln>
        </p:spPr>
      </p:cxnSp>
      <p:sp>
        <p:nvSpPr>
          <p:cNvPr id="55" name="TextBox 54"/>
          <p:cNvSpPr txBox="1"/>
          <p:nvPr/>
        </p:nvSpPr>
        <p:spPr>
          <a:xfrm>
            <a:off x="685800" y="5577840"/>
            <a:ext cx="356616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en-US" spc="150">
                <a:solidFill>
                  <a:srgbClr val="0070C0"/>
                </a:solidFill>
                <a:latin typeface="Calibri"/>
              </a:rPr>
              <a:t>TEAM NAME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26280" y="5577840"/>
            <a:ext cx="30175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en-US" spc="150">
                <a:solidFill>
                  <a:srgbClr val="0070C0"/>
                </a:solidFill>
                <a:latin typeface="Calibri"/>
              </a:rPr>
              <a:t>TEAM ID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57607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en-US">
                <a:solidFill>
                  <a:srgbClr val="1F497D"/>
                </a:solidFill>
                <a:latin typeface="Calibri"/>
              </a:rPr>
              <a:t>Phoenix 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26280" y="57607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en-US">
                <a:solidFill>
                  <a:srgbClr val="1F497D"/>
                </a:solidFill>
                <a:latin typeface="Calibri"/>
              </a:rPr>
              <a:t>141943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92440" y="3675887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lang="en-US" spc="120">
                <a:solidFill>
                  <a:srgbClr val="0070C0"/>
                </a:solidFill>
                <a:latin typeface="Calibri"/>
              </a:rPr>
              <a:t>HEADLINE CAPABILITIES</a:t>
            </a:r>
          </a:p>
        </p:txBody>
      </p:sp>
      <p:sp>
        <p:nvSpPr>
          <p:cNvPr id="60" name="Oval 59"/>
          <p:cNvSpPr/>
          <p:nvPr/>
        </p:nvSpPr>
        <p:spPr>
          <a:xfrm>
            <a:off x="8092440" y="4041648"/>
            <a:ext cx="274320" cy="274320"/>
          </a:xfrm>
          <a:prstGeom prst="ellipse">
            <a:avLst/>
          </a:prstGeom>
          <a:solidFill>
            <a:srgbClr val="15A4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1" name="Picture 60" descr="Check ma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4162" y="4103370"/>
            <a:ext cx="150876" cy="150876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8485632" y="40233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en-US">
                <a:solidFill>
                  <a:srgbClr val="1F497D"/>
                </a:solidFill>
                <a:latin typeface="Calibri"/>
              </a:rPr>
              <a:t>Closed-Loop Lock in ≤ 0.8 s</a:t>
            </a:r>
          </a:p>
        </p:txBody>
      </p:sp>
      <p:sp>
        <p:nvSpPr>
          <p:cNvPr id="63" name="Oval 62"/>
          <p:cNvSpPr/>
          <p:nvPr/>
        </p:nvSpPr>
        <p:spPr>
          <a:xfrm>
            <a:off x="8092440" y="4498848"/>
            <a:ext cx="274320" cy="274320"/>
          </a:xfrm>
          <a:prstGeom prst="ellipse">
            <a:avLst/>
          </a:prstGeom>
          <a:solidFill>
            <a:srgbClr val="15A4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4" name="Picture 63" descr="Check ma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4162" y="4560570"/>
            <a:ext cx="150876" cy="150876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8485632" y="44805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en-US">
                <a:solidFill>
                  <a:srgbClr val="1F497D"/>
                </a:solidFill>
                <a:latin typeface="Calibri"/>
              </a:rPr>
              <a:t>Sub-Pixel Centroid Error &lt; 0.2 px</a:t>
            </a:r>
          </a:p>
        </p:txBody>
      </p:sp>
      <p:sp>
        <p:nvSpPr>
          <p:cNvPr id="66" name="Oval 65"/>
          <p:cNvSpPr/>
          <p:nvPr/>
        </p:nvSpPr>
        <p:spPr>
          <a:xfrm>
            <a:off x="8092440" y="4956048"/>
            <a:ext cx="274320" cy="274320"/>
          </a:xfrm>
          <a:prstGeom prst="ellipse">
            <a:avLst/>
          </a:prstGeom>
          <a:solidFill>
            <a:srgbClr val="15A4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7" name="Picture 66" descr="Check ma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4162" y="5017770"/>
            <a:ext cx="150876" cy="150876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8485632" y="4937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en-US">
                <a:solidFill>
                  <a:srgbClr val="1F497D"/>
                </a:solidFill>
                <a:latin typeface="Calibri"/>
              </a:rPr>
              <a:t>IMM-Kalman Predictive Servo</a:t>
            </a:r>
          </a:p>
        </p:txBody>
      </p:sp>
      <p:sp>
        <p:nvSpPr>
          <p:cNvPr id="69" name="Oval 68"/>
          <p:cNvSpPr/>
          <p:nvPr/>
        </p:nvSpPr>
        <p:spPr>
          <a:xfrm>
            <a:off x="8092440" y="5413248"/>
            <a:ext cx="274320" cy="274320"/>
          </a:xfrm>
          <a:prstGeom prst="ellipse">
            <a:avLst/>
          </a:prstGeom>
          <a:solidFill>
            <a:srgbClr val="15A4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0" name="Picture 69" descr="Check ma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4162" y="5474970"/>
            <a:ext cx="150876" cy="150876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8485632" y="53949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en-US">
                <a:solidFill>
                  <a:srgbClr val="1F497D"/>
                </a:solidFill>
                <a:latin typeface="Calibri"/>
              </a:rPr>
              <a:t>10% S&amp;P Noise Rejected in 0.8 ms</a:t>
            </a:r>
          </a:p>
        </p:txBody>
      </p:sp>
      <p:sp>
        <p:nvSpPr>
          <p:cNvPr id="72" name="Oval 71"/>
          <p:cNvSpPr/>
          <p:nvPr/>
        </p:nvSpPr>
        <p:spPr>
          <a:xfrm>
            <a:off x="8092440" y="5870448"/>
            <a:ext cx="274320" cy="274320"/>
          </a:xfrm>
          <a:prstGeom prst="ellipse">
            <a:avLst/>
          </a:prstGeom>
          <a:solidFill>
            <a:srgbClr val="15A4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3" name="Picture 72" descr="Check ma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4162" y="5932170"/>
            <a:ext cx="150876" cy="150876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8485632" y="58521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en-US">
                <a:solidFill>
                  <a:srgbClr val="1F497D"/>
                </a:solidFill>
                <a:latin typeface="Calibri"/>
              </a:rPr>
              <a:t>≥ 35 FPS on CPU, Zero GPU Needed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rPr sz="2800" b="1">
                <a:latin typeface="Times New Roman"/>
              </a:rPr>
              <a:t>PROPOSED SOLUTION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5448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sz="1300"/>
              <a:t>Phoenix 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2057400" y="914400"/>
            <a:ext cx="9418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C757D"/>
                </a:solidFill>
                <a:latin typeface="Arial"/>
              </a:defRPr>
            </a:pPr>
            <a:r>
              <a:rPr sz="1000">
                <a:solidFill>
                  <a:srgbClr val="566074"/>
                </a:solidFill>
              </a:rPr>
              <a:t>PROJECT PHOENIX: AI-Based Virtual Camera Tracking for Mobile FSOC  |  SIH26169 (ISRO / SAC)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594360" y="132588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7E1E1"/>
          </a:solidFill>
          <a:ln w="9525">
            <a:solidFill>
              <a:srgbClr val="EFC9C9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365" name="Rounded Rectangle 15364"/>
          <p:cNvSpPr/>
          <p:nvPr/>
        </p:nvSpPr>
        <p:spPr>
          <a:xfrm>
            <a:off x="777240" y="1472184"/>
            <a:ext cx="925189" cy="256032"/>
          </a:xfrm>
          <a:prstGeom prst="roundRect">
            <a:avLst>
              <a:gd name="adj" fmla="val 50000"/>
            </a:avLst>
          </a:prstGeom>
          <a:solidFill>
            <a:srgbClr val="F7E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66" name="TextBox 15365"/>
          <p:cNvSpPr txBox="1"/>
          <p:nvPr/>
        </p:nvSpPr>
        <p:spPr>
          <a:xfrm>
            <a:off x="777240" y="1472184"/>
            <a:ext cx="925189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lang="en-US" spc="80">
                <a:solidFill>
                  <a:srgbClr val="A10000"/>
                </a:solidFill>
                <a:latin typeface="Calibri"/>
              </a:rPr>
              <a:t>PROBLEM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777240" y="1783080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1" lang="en-US">
                <a:solidFill>
                  <a:srgbClr val="A10000"/>
                </a:solidFill>
                <a:latin typeface="Calibri"/>
              </a:rPr>
              <a:t>Current Operational Limitations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777240" y="2002536"/>
            <a:ext cx="315468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37160" indent="-13716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Arial"/>
              <a:buChar char="•"/>
            </a:pPr>
            <a:r>
              <a:rPr sz="969" b="1" i="0" lang="en-US">
                <a:solidFill>
                  <a:srgbClr val="A10000"/>
                </a:solidFill>
                <a:latin typeface="Calibri"/>
              </a:rPr>
              <a:t>Manual / Open-Loop Pointing: </a:t>
            </a:r>
            <a:r>
              <a:rPr sz="969" b="0" i="0" lang="en-US">
                <a:solidFill>
                  <a:srgbClr val="1E2638"/>
                </a:solidFill>
                <a:latin typeface="Calibri"/>
              </a:rPr>
              <a:t>Uncertainty cones lead to prolonged search &amp; lost laser links.</a:t>
            </a:r>
          </a:p>
          <a:p>
            <a:pPr algn="l" marL="137160" indent="-13716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Arial"/>
              <a:buChar char="•"/>
            </a:pPr>
            <a:r>
              <a:rPr sz="969" b="1" i="0" lang="en-US">
                <a:solidFill>
                  <a:srgbClr val="A10000"/>
                </a:solidFill>
                <a:latin typeface="Calibri"/>
              </a:rPr>
              <a:t>Scintillation &amp; Fog Blindness: </a:t>
            </a:r>
            <a:r>
              <a:rPr sz="969" b="0" i="0" lang="en-US">
                <a:solidFill>
                  <a:srgbClr val="1E2638"/>
                </a:solidFill>
                <a:latin typeface="Calibri"/>
              </a:rPr>
              <a:t>Atmospheric turbulence drops SNR below detection thresholds.</a:t>
            </a:r>
          </a:p>
          <a:p>
            <a:pPr algn="l" marL="137160" indent="-13716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Arial"/>
              <a:buChar char="•"/>
            </a:pPr>
            <a:r>
              <a:rPr sz="969" b="1" i="0" lang="en-US">
                <a:solidFill>
                  <a:srgbClr val="A10000"/>
                </a:solidFill>
                <a:latin typeface="Calibri"/>
              </a:rPr>
              <a:t>Noise Centroid Hijacking: </a:t>
            </a:r>
            <a:r>
              <a:rPr sz="969" b="0" i="0" lang="en-US">
                <a:solidFill>
                  <a:srgbClr val="1E2638"/>
                </a:solidFill>
                <a:latin typeface="Calibri"/>
              </a:rPr>
              <a:t>10% Salt &amp; Pepper noise corrupts naive first-order moment calculations.</a:t>
            </a:r>
          </a:p>
          <a:p>
            <a:pPr algn="l" marL="137160" indent="-13716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Arial"/>
              <a:buChar char="•"/>
            </a:pPr>
            <a:r>
              <a:rPr sz="969" b="1" i="0" lang="en-US">
                <a:solidFill>
                  <a:srgbClr val="A10000"/>
                </a:solidFill>
                <a:latin typeface="Calibri"/>
              </a:rPr>
              <a:t>Motor Slew Violations: </a:t>
            </a:r>
            <a:r>
              <a:rPr sz="969" b="0" i="0" lang="en-US">
                <a:solidFill>
                  <a:srgbClr val="1E2638"/>
                </a:solidFill>
                <a:latin typeface="Calibri"/>
              </a:rPr>
              <a:t>Abrupt gimbal commands exceed motor inertia limits (5-10°/s).</a:t>
            </a:r>
          </a:p>
          <a:p>
            <a:pPr algn="l" marL="137160" indent="-13716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Arial"/>
              <a:buChar char="•"/>
            </a:pPr>
            <a:r>
              <a:rPr sz="969" b="1" i="0" lang="en-US">
                <a:solidFill>
                  <a:srgbClr val="A10000"/>
                </a:solidFill>
                <a:latin typeface="Calibri"/>
              </a:rPr>
              <a:t>₹50L+ Testbed Cost: </a:t>
            </a:r>
            <a:r>
              <a:rPr sz="969" b="0" i="0" lang="en-US">
                <a:solidFill>
                  <a:srgbClr val="1E2638"/>
                </a:solidFill>
                <a:latin typeface="Calibri"/>
              </a:rPr>
              <a:t>Demands expensive physical vacuum chambers and piezo steering benches.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594360" y="3749040"/>
            <a:ext cx="3520440" cy="2514600"/>
          </a:xfrm>
          <a:prstGeom prst="roundRect">
            <a:avLst>
              <a:gd name="adj" fmla="val 4363"/>
            </a:avLst>
          </a:prstGeom>
          <a:solidFill>
            <a:srgbClr val="14345C"/>
          </a:solidFill>
          <a:ln w="9525">
            <a:solidFill>
              <a:srgbClr val="14345C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370" name="Rounded Rectangle 15369"/>
          <p:cNvSpPr/>
          <p:nvPr/>
        </p:nvSpPr>
        <p:spPr>
          <a:xfrm>
            <a:off x="777240" y="3895344"/>
            <a:ext cx="1324782" cy="256032"/>
          </a:xfrm>
          <a:prstGeom prst="roundRect">
            <a:avLst>
              <a:gd name="adj" fmla="val 50000"/>
            </a:avLst>
          </a:prstGeom>
          <a:solidFill>
            <a:srgbClr val="F084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71" name="TextBox 15370"/>
          <p:cNvSpPr txBox="1"/>
          <p:nvPr/>
        </p:nvSpPr>
        <p:spPr>
          <a:xfrm>
            <a:off x="777240" y="3895344"/>
            <a:ext cx="132478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lang="en-US" spc="80">
                <a:solidFill>
                  <a:srgbClr val="14345C"/>
                </a:solidFill>
                <a:latin typeface="Calibri"/>
              </a:rPr>
              <a:t>OUR SOLUTION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777240" y="4206240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1" lang="en-US">
                <a:solidFill>
                  <a:srgbClr val="FFB35C"/>
                </a:solidFill>
                <a:latin typeface="Calibri"/>
              </a:rPr>
              <a:t>Autonomous Software Tracking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777240" y="4425696"/>
            <a:ext cx="3154680" cy="1691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37160" indent="-137160">
              <a:spcBef>
                <a:spcPts val="0"/>
              </a:spcBef>
              <a:spcAft>
                <a:spcPts val="300"/>
              </a:spcAft>
              <a:buClr>
                <a:srgbClr val="FFB35C"/>
              </a:buClr>
              <a:buFont typeface="Arial"/>
              <a:buChar char="•"/>
            </a:pPr>
            <a:r>
              <a:rPr sz="969" b="1" i="0" lang="en-US">
                <a:solidFill>
                  <a:srgbClr val="FFB35C"/>
                </a:solidFill>
                <a:latin typeface="Calibri"/>
              </a:rPr>
              <a:t>Closed-Loop SIL Tracking: </a:t>
            </a:r>
            <a:r>
              <a:rPr sz="969" b="0" i="0" lang="en-US">
                <a:solidFill>
                  <a:srgbClr val="E4ECF7"/>
                </a:solidFill>
                <a:latin typeface="Calibri"/>
              </a:rPr>
              <a:t>Rapid lock in ≤ 0.8 s across a 2000x2000 global universe.</a:t>
            </a:r>
          </a:p>
          <a:p>
            <a:pPr algn="l" marL="137160" indent="-137160">
              <a:spcBef>
                <a:spcPts val="0"/>
              </a:spcBef>
              <a:spcAft>
                <a:spcPts val="300"/>
              </a:spcAft>
              <a:buClr>
                <a:srgbClr val="FFB35C"/>
              </a:buClr>
              <a:buFont typeface="Arial"/>
              <a:buChar char="•"/>
            </a:pPr>
            <a:r>
              <a:rPr sz="969" b="1" i="0" lang="en-US">
                <a:solidFill>
                  <a:srgbClr val="FFB35C"/>
                </a:solidFill>
                <a:latin typeface="Calibri"/>
              </a:rPr>
              <a:t>Vectorized Rank Denoising: </a:t>
            </a:r>
            <a:r>
              <a:rPr sz="969" b="0" i="0" lang="en-US">
                <a:solidFill>
                  <a:srgbClr val="E4ECF7"/>
                </a:solidFill>
                <a:latin typeface="Calibri"/>
              </a:rPr>
              <a:t>Completely strips 10% S&amp;P noise in 0.8 ms before detection.</a:t>
            </a:r>
          </a:p>
          <a:p>
            <a:pPr algn="l" marL="137160" indent="-137160">
              <a:spcBef>
                <a:spcPts val="0"/>
              </a:spcBef>
              <a:spcAft>
                <a:spcPts val="300"/>
              </a:spcAft>
              <a:buClr>
                <a:srgbClr val="FFB35C"/>
              </a:buClr>
              <a:buFont typeface="Arial"/>
              <a:buChar char="•"/>
            </a:pPr>
            <a:r>
              <a:rPr sz="969" b="1" i="0" lang="en-US">
                <a:solidFill>
                  <a:srgbClr val="FFB35C"/>
                </a:solidFill>
                <a:latin typeface="Calibri"/>
              </a:rPr>
              <a:t>Sub-Pixel 2D Gaussian Fit: </a:t>
            </a:r>
            <a:r>
              <a:rPr sz="969" b="0" i="0" lang="en-US">
                <a:solidFill>
                  <a:srgbClr val="E4ECF7"/>
                </a:solidFill>
                <a:latin typeface="Calibri"/>
              </a:rPr>
              <a:t>Centroid error &lt; 0.2 px (far exceeding ISRO's ≤ 10 px mandate).</a:t>
            </a:r>
          </a:p>
          <a:p>
            <a:pPr algn="l" marL="137160" indent="-137160">
              <a:spcBef>
                <a:spcPts val="0"/>
              </a:spcBef>
              <a:spcAft>
                <a:spcPts val="300"/>
              </a:spcAft>
              <a:buClr>
                <a:srgbClr val="FFB35C"/>
              </a:buClr>
              <a:buFont typeface="Arial"/>
              <a:buChar char="•"/>
            </a:pPr>
            <a:r>
              <a:rPr sz="969" b="1" i="0" lang="en-US">
                <a:solidFill>
                  <a:srgbClr val="FFB35C"/>
                </a:solidFill>
                <a:latin typeface="Calibri"/>
              </a:rPr>
              <a:t>Clamped Slew-Rate Servo: </a:t>
            </a:r>
            <a:r>
              <a:rPr sz="969" b="0" i="0" lang="en-US">
                <a:solidFill>
                  <a:srgbClr val="E4ECF7"/>
                </a:solidFill>
                <a:latin typeface="Calibri"/>
              </a:rPr>
              <a:t>Enforces 5-10°/s limits with velocity feedforward anti-windup PID.</a:t>
            </a:r>
          </a:p>
          <a:p>
            <a:pPr algn="l" marL="137160" indent="-137160">
              <a:spcBef>
                <a:spcPts val="0"/>
              </a:spcBef>
              <a:spcAft>
                <a:spcPts val="300"/>
              </a:spcAft>
              <a:buClr>
                <a:srgbClr val="FFB35C"/>
              </a:buClr>
              <a:buFont typeface="Arial"/>
              <a:buChar char="•"/>
            </a:pPr>
            <a:r>
              <a:rPr sz="969" b="1" i="0" lang="en-US">
                <a:solidFill>
                  <a:srgbClr val="FFB35C"/>
                </a:solidFill>
                <a:latin typeface="Calibri"/>
              </a:rPr>
              <a:t>Zero-Capex Accessibility: </a:t>
            </a:r>
            <a:r>
              <a:rPr sz="969" b="0" i="0" lang="en-US">
                <a:solidFill>
                  <a:srgbClr val="E4ECF7"/>
                </a:solidFill>
                <a:latin typeface="Calibri"/>
              </a:rPr>
              <a:t>100% software-based test platform running at ≥ 35 FPS on CPU.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4251960" y="1325880"/>
            <a:ext cx="2044049" cy="256032"/>
          </a:xfrm>
          <a:prstGeom prst="roundRect">
            <a:avLst>
              <a:gd name="adj" fmla="val 50000"/>
            </a:avLst>
          </a:prstGeom>
          <a:solidFill>
            <a:srgbClr val="E1EE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75" name="TextBox 15374"/>
          <p:cNvSpPr txBox="1"/>
          <p:nvPr/>
        </p:nvSpPr>
        <p:spPr>
          <a:xfrm>
            <a:off x="4251960" y="1325880"/>
            <a:ext cx="2044049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lang="en-US" spc="80">
                <a:solidFill>
                  <a:srgbClr val="0070C0"/>
                </a:solidFill>
                <a:latin typeface="Calibri"/>
              </a:rPr>
              <a:t>SOLUTION ARCHITECTURE</a:t>
            </a:r>
          </a:p>
        </p:txBody>
      </p:sp>
      <p:sp>
        <p:nvSpPr>
          <p:cNvPr id="15376" name="TextBox 15375"/>
          <p:cNvSpPr txBox="1"/>
          <p:nvPr/>
        </p:nvSpPr>
        <p:spPr>
          <a:xfrm>
            <a:off x="4251960" y="1618488"/>
            <a:ext cx="3977639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1" lang="en-US">
                <a:solidFill>
                  <a:srgbClr val="566074"/>
                </a:solidFill>
                <a:latin typeface="Calibri"/>
              </a:rPr>
              <a:t>Three-Tier Decoupled Pipeline</a:t>
            </a:r>
          </a:p>
        </p:txBody>
      </p:sp>
      <p:sp>
        <p:nvSpPr>
          <p:cNvPr id="15377" name="Rounded Rectangle 15376"/>
          <p:cNvSpPr/>
          <p:nvPr/>
        </p:nvSpPr>
        <p:spPr>
          <a:xfrm>
            <a:off x="4251960" y="1856231"/>
            <a:ext cx="3977639" cy="1335024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378" name="Rounded Rectangle 15377"/>
          <p:cNvSpPr/>
          <p:nvPr/>
        </p:nvSpPr>
        <p:spPr>
          <a:xfrm>
            <a:off x="4379976" y="1965960"/>
            <a:ext cx="566928" cy="219456"/>
          </a:xfrm>
          <a:prstGeom prst="roundRect">
            <a:avLst>
              <a:gd name="adj" fmla="val 25000"/>
            </a:avLst>
          </a:prstGeom>
          <a:solidFill>
            <a:srgbClr val="1F49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79" name="TextBox 15378"/>
          <p:cNvSpPr txBox="1"/>
          <p:nvPr/>
        </p:nvSpPr>
        <p:spPr>
          <a:xfrm>
            <a:off x="4379976" y="1965960"/>
            <a:ext cx="56692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en-US">
                <a:solidFill>
                  <a:srgbClr val="FFFFFF"/>
                </a:solidFill>
                <a:latin typeface="Calibri"/>
              </a:rPr>
              <a:t>TIER 1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5020056" y="1956815"/>
            <a:ext cx="3063239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>
                <a:solidFill>
                  <a:srgbClr val="14345C"/>
                </a:solidFill>
                <a:latin typeface="Calibri"/>
              </a:rPr>
              <a:t>Kinematics &amp; Virtual Gimbal</a:t>
            </a:r>
          </a:p>
        </p:txBody>
      </p:sp>
      <p:sp>
        <p:nvSpPr>
          <p:cNvPr id="15381" name="TextBox 15380"/>
          <p:cNvSpPr txBox="1"/>
          <p:nvPr/>
        </p:nvSpPr>
        <p:spPr>
          <a:xfrm>
            <a:off x="4416552" y="2240279"/>
            <a:ext cx="3666744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18872" indent="-118872">
              <a:spcBef>
                <a:spcPts val="0"/>
              </a:spcBef>
              <a:spcAft>
                <a:spcPts val="150"/>
              </a:spcAft>
              <a:buClr>
                <a:srgbClr val="D9700F"/>
              </a:buClr>
              <a:buFont typeface="Arial"/>
              <a:buChar char="•"/>
            </a:pPr>
            <a:r>
              <a:rPr sz="890" b="0" i="0" lang="en-US">
                <a:solidFill>
                  <a:srgbClr val="1E2638"/>
                </a:solidFill>
                <a:latin typeface="Calibri"/>
              </a:rPr>
              <a:t>2000x2000 px world coordinate space resolving 22.5 arcsec/px.</a:t>
            </a:r>
          </a:p>
          <a:p>
            <a:pPr algn="l" marL="118872" indent="-118872">
              <a:spcBef>
                <a:spcPts val="0"/>
              </a:spcBef>
              <a:spcAft>
                <a:spcPts val="150"/>
              </a:spcAft>
              <a:buClr>
                <a:srgbClr val="D9700F"/>
              </a:buClr>
              <a:buFont typeface="Arial"/>
              <a:buChar char="•"/>
            </a:pPr>
            <a:r>
              <a:rPr sz="890" b="0" i="0" lang="en-US">
                <a:solidFill>
                  <a:srgbClr val="1E2638"/>
                </a:solidFill>
                <a:latin typeface="Calibri"/>
              </a:rPr>
              <a:t>Non-linear trajectory generation: Lemniscate (Fig-8), Circular, Sinusoidal, Singer random walk.</a:t>
            </a:r>
          </a:p>
          <a:p>
            <a:pPr algn="l" marL="118872" indent="-118872">
              <a:spcBef>
                <a:spcPts val="0"/>
              </a:spcBef>
              <a:spcAft>
                <a:spcPts val="150"/>
              </a:spcAft>
              <a:buClr>
                <a:srgbClr val="D9700F"/>
              </a:buClr>
              <a:buFont typeface="Arial"/>
              <a:buChar char="•"/>
            </a:pPr>
            <a:r>
              <a:rPr sz="890" b="0" i="0" lang="en-US">
                <a:solidFill>
                  <a:srgbClr val="1E2638"/>
                </a:solidFill>
                <a:latin typeface="Calibri"/>
              </a:rPr>
              <a:t>640x480 monochrome FPA windowing with physical pan/tilt slew constraints (5-10°/s) and S-curve inertia.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4251960" y="3291839"/>
            <a:ext cx="3977639" cy="1335024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383" name="Rounded Rectangle 15382"/>
          <p:cNvSpPr/>
          <p:nvPr/>
        </p:nvSpPr>
        <p:spPr>
          <a:xfrm>
            <a:off x="4379976" y="3401568"/>
            <a:ext cx="566928" cy="219456"/>
          </a:xfrm>
          <a:prstGeom prst="roundRect">
            <a:avLst>
              <a:gd name="adj" fmla="val 25000"/>
            </a:avLst>
          </a:prstGeom>
          <a:solidFill>
            <a:srgbClr val="1F49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84" name="TextBox 15383"/>
          <p:cNvSpPr txBox="1"/>
          <p:nvPr/>
        </p:nvSpPr>
        <p:spPr>
          <a:xfrm>
            <a:off x="4379976" y="3401568"/>
            <a:ext cx="56692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en-US">
                <a:solidFill>
                  <a:srgbClr val="FFFFFF"/>
                </a:solidFill>
                <a:latin typeface="Calibri"/>
              </a:rPr>
              <a:t>TIER 2</a:t>
            </a:r>
          </a:p>
        </p:txBody>
      </p:sp>
      <p:sp>
        <p:nvSpPr>
          <p:cNvPr id="15385" name="TextBox 15384"/>
          <p:cNvSpPr txBox="1"/>
          <p:nvPr/>
        </p:nvSpPr>
        <p:spPr>
          <a:xfrm>
            <a:off x="5020056" y="3392423"/>
            <a:ext cx="3063239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>
                <a:solidFill>
                  <a:srgbClr val="14345C"/>
                </a:solidFill>
                <a:latin typeface="Calibri"/>
              </a:rPr>
              <a:t>Optical Physics &amp; Atmospheric Channel</a:t>
            </a:r>
          </a:p>
        </p:txBody>
      </p:sp>
      <p:sp>
        <p:nvSpPr>
          <p:cNvPr id="15386" name="TextBox 15385"/>
          <p:cNvSpPr txBox="1"/>
          <p:nvPr/>
        </p:nvSpPr>
        <p:spPr>
          <a:xfrm>
            <a:off x="4416552" y="3675887"/>
            <a:ext cx="3666744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18872" indent="-118872">
              <a:spcBef>
                <a:spcPts val="0"/>
              </a:spcBef>
              <a:spcAft>
                <a:spcPts val="150"/>
              </a:spcAft>
              <a:buClr>
                <a:srgbClr val="D9700F"/>
              </a:buClr>
              <a:buFont typeface="Arial"/>
              <a:buChar char="•"/>
            </a:pPr>
            <a:r>
              <a:rPr sz="890" b="0" i="0" lang="en-US">
                <a:solidFill>
                  <a:srgbClr val="1E2638"/>
                </a:solidFill>
                <a:latin typeface="Calibri"/>
              </a:rPr>
              <a:t>Diffraction-limited Airy disc spot generator (5x5 to 20x20 px).</a:t>
            </a:r>
          </a:p>
          <a:p>
            <a:pPr algn="l" marL="118872" indent="-118872">
              <a:spcBef>
                <a:spcPts val="0"/>
              </a:spcBef>
              <a:spcAft>
                <a:spcPts val="150"/>
              </a:spcAft>
              <a:buClr>
                <a:srgbClr val="D9700F"/>
              </a:buClr>
              <a:buFont typeface="Arial"/>
              <a:buChar char="•"/>
            </a:pPr>
            <a:r>
              <a:rPr sz="890" b="0" i="0" lang="en-US">
                <a:solidFill>
                  <a:srgbClr val="1E2638"/>
                </a:solidFill>
                <a:latin typeface="Calibri"/>
              </a:rPr>
              <a:t>Beer-Lambert transmission attenuation (Clear, Fog, Haze, Rain).</a:t>
            </a:r>
          </a:p>
          <a:p>
            <a:pPr algn="l" marL="118872" indent="-118872">
              <a:spcBef>
                <a:spcPts val="0"/>
              </a:spcBef>
              <a:spcAft>
                <a:spcPts val="150"/>
              </a:spcAft>
              <a:buClr>
                <a:srgbClr val="D9700F"/>
              </a:buClr>
              <a:buFont typeface="Arial"/>
              <a:buChar char="•"/>
            </a:pPr>
            <a:r>
              <a:rPr sz="890" b="0" i="0" lang="en-US">
                <a:solidFill>
                  <a:srgbClr val="1E2638"/>
                </a:solidFill>
                <a:latin typeface="Calibri"/>
              </a:rPr>
              <a:t>Vectorized disturbance injection: Poisson shot noise, Gaussian sensor noise, multi-harmonic jitter (±20 px/frame).</a:t>
            </a:r>
          </a:p>
        </p:txBody>
      </p:sp>
      <p:sp>
        <p:nvSpPr>
          <p:cNvPr id="15387" name="Rounded Rectangle 15386"/>
          <p:cNvSpPr/>
          <p:nvPr/>
        </p:nvSpPr>
        <p:spPr>
          <a:xfrm>
            <a:off x="4251960" y="4727448"/>
            <a:ext cx="3977639" cy="1517904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388" name="Rounded Rectangle 15387"/>
          <p:cNvSpPr/>
          <p:nvPr/>
        </p:nvSpPr>
        <p:spPr>
          <a:xfrm>
            <a:off x="4379976" y="4837176"/>
            <a:ext cx="566928" cy="219456"/>
          </a:xfrm>
          <a:prstGeom prst="roundRect">
            <a:avLst>
              <a:gd name="adj" fmla="val 25000"/>
            </a:avLst>
          </a:prstGeom>
          <a:solidFill>
            <a:srgbClr val="1F49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89" name="TextBox 15388"/>
          <p:cNvSpPr txBox="1"/>
          <p:nvPr/>
        </p:nvSpPr>
        <p:spPr>
          <a:xfrm>
            <a:off x="4379976" y="4837176"/>
            <a:ext cx="56692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en-US">
                <a:solidFill>
                  <a:srgbClr val="FFFFFF"/>
                </a:solidFill>
                <a:latin typeface="Calibri"/>
              </a:rPr>
              <a:t>TIER 3</a:t>
            </a:r>
          </a:p>
        </p:txBody>
      </p:sp>
      <p:sp>
        <p:nvSpPr>
          <p:cNvPr id="15390" name="TextBox 15389"/>
          <p:cNvSpPr txBox="1"/>
          <p:nvPr/>
        </p:nvSpPr>
        <p:spPr>
          <a:xfrm>
            <a:off x="5020056" y="4828032"/>
            <a:ext cx="3063239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>
                <a:solidFill>
                  <a:srgbClr val="14345C"/>
                </a:solidFill>
                <a:latin typeface="Calibri"/>
              </a:rPr>
              <a:t>Edge AI Perception &amp; IMM-Kalman Control</a:t>
            </a:r>
          </a:p>
        </p:txBody>
      </p:sp>
      <p:sp>
        <p:nvSpPr>
          <p:cNvPr id="15391" name="TextBox 15390"/>
          <p:cNvSpPr txBox="1"/>
          <p:nvPr/>
        </p:nvSpPr>
        <p:spPr>
          <a:xfrm>
            <a:off x="4416552" y="5111496"/>
            <a:ext cx="3666744" cy="1078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18872" indent="-118872">
              <a:spcBef>
                <a:spcPts val="0"/>
              </a:spcBef>
              <a:spcAft>
                <a:spcPts val="150"/>
              </a:spcAft>
              <a:buClr>
                <a:srgbClr val="D9700F"/>
              </a:buClr>
              <a:buFont typeface="Arial"/>
              <a:buChar char="•"/>
            </a:pPr>
            <a:r>
              <a:rPr sz="890" b="0" i="0" lang="en-US">
                <a:solidFill>
                  <a:srgbClr val="1E2638"/>
                </a:solidFill>
                <a:latin typeface="Calibri"/>
              </a:rPr>
              <a:t>Stage 1: Rank-order median filtering clears impulsive noise.</a:t>
            </a:r>
          </a:p>
          <a:p>
            <a:pPr algn="l" marL="118872" indent="-118872">
              <a:spcBef>
                <a:spcPts val="0"/>
              </a:spcBef>
              <a:spcAft>
                <a:spcPts val="150"/>
              </a:spcAft>
              <a:buClr>
                <a:srgbClr val="D9700F"/>
              </a:buClr>
              <a:buFont typeface="Arial"/>
              <a:buChar char="•"/>
            </a:pPr>
            <a:r>
              <a:rPr sz="890" b="0" i="0" lang="en-US">
                <a:solidFill>
                  <a:srgbClr val="1E2638"/>
                </a:solidFill>
                <a:latin typeface="Calibri"/>
              </a:rPr>
              <a:t>Stage 2: Saliency heatmap regression isolates ROI candidates.</a:t>
            </a:r>
          </a:p>
          <a:p>
            <a:pPr algn="l" marL="118872" indent="-118872">
              <a:spcBef>
                <a:spcPts val="0"/>
              </a:spcBef>
              <a:spcAft>
                <a:spcPts val="150"/>
              </a:spcAft>
              <a:buClr>
                <a:srgbClr val="D9700F"/>
              </a:buClr>
              <a:buFont typeface="Arial"/>
              <a:buChar char="•"/>
            </a:pPr>
            <a:r>
              <a:rPr sz="890" b="0" i="0" lang="en-US">
                <a:solidFill>
                  <a:srgbClr val="1E2638"/>
                </a:solidFill>
                <a:latin typeface="Calibri"/>
              </a:rPr>
              <a:t>Stage 3: Continuous 2D Gaussian gray-diffusion surface fit.</a:t>
            </a:r>
          </a:p>
          <a:p>
            <a:pPr algn="l" marL="118872" indent="-118872">
              <a:spcBef>
                <a:spcPts val="0"/>
              </a:spcBef>
              <a:spcAft>
                <a:spcPts val="150"/>
              </a:spcAft>
              <a:buClr>
                <a:srgbClr val="D9700F"/>
              </a:buClr>
              <a:buFont typeface="Arial"/>
              <a:buChar char="•"/>
            </a:pPr>
            <a:r>
              <a:rPr sz="890" b="0" i="0" lang="en-US">
                <a:solidFill>
                  <a:srgbClr val="1E2638"/>
                </a:solidFill>
                <a:latin typeface="Calibri"/>
              </a:rPr>
              <a:t>Stage 4: Interacting Multiple Model (IMM-KF) predictive servo.</a:t>
            </a:r>
          </a:p>
        </p:txBody>
      </p:sp>
      <p:sp>
        <p:nvSpPr>
          <p:cNvPr id="15392" name="Rounded Rectangle 15391"/>
          <p:cNvSpPr/>
          <p:nvPr/>
        </p:nvSpPr>
        <p:spPr>
          <a:xfrm>
            <a:off x="8366760" y="1325880"/>
            <a:ext cx="2203886" cy="256032"/>
          </a:xfrm>
          <a:prstGeom prst="roundRect">
            <a:avLst>
              <a:gd name="adj" fmla="val 50000"/>
            </a:avLst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93" name="TextBox 15392"/>
          <p:cNvSpPr txBox="1"/>
          <p:nvPr/>
        </p:nvSpPr>
        <p:spPr>
          <a:xfrm>
            <a:off x="8366760" y="1325880"/>
            <a:ext cx="2203886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lang="en-US" spc="80">
                <a:solidFill>
                  <a:srgbClr val="B35A00"/>
                </a:solidFill>
                <a:latin typeface="Calibri"/>
              </a:rPr>
              <a:t>INNOVATION &amp; UNIQUENESS</a:t>
            </a:r>
          </a:p>
        </p:txBody>
      </p:sp>
      <p:sp>
        <p:nvSpPr>
          <p:cNvPr id="15394" name="TextBox 15393"/>
          <p:cNvSpPr txBox="1"/>
          <p:nvPr/>
        </p:nvSpPr>
        <p:spPr>
          <a:xfrm>
            <a:off x="8366760" y="1618488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1" lang="en-US">
                <a:solidFill>
                  <a:srgbClr val="566074"/>
                </a:solidFill>
                <a:latin typeface="Calibri"/>
              </a:rPr>
              <a:t>Key Technical Differentiators</a:t>
            </a:r>
          </a:p>
        </p:txBody>
      </p:sp>
      <p:sp>
        <p:nvSpPr>
          <p:cNvPr id="15395" name="Rounded Rectangle 15394"/>
          <p:cNvSpPr/>
          <p:nvPr/>
        </p:nvSpPr>
        <p:spPr>
          <a:xfrm>
            <a:off x="8366760" y="1856231"/>
            <a:ext cx="32004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396" name="Oval 15395"/>
          <p:cNvSpPr/>
          <p:nvPr/>
        </p:nvSpPr>
        <p:spPr>
          <a:xfrm>
            <a:off x="8485632" y="1975103"/>
            <a:ext cx="310896" cy="310896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397" name="Picture 15396" descr="Sub-Pixel Gray-Diffusion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5583" y="2045055"/>
            <a:ext cx="170992" cy="170992"/>
          </a:xfrm>
          <a:prstGeom prst="rect">
            <a:avLst/>
          </a:prstGeom>
        </p:spPr>
      </p:pic>
      <p:sp>
        <p:nvSpPr>
          <p:cNvPr id="15398" name="TextBox 15397"/>
          <p:cNvSpPr txBox="1"/>
          <p:nvPr/>
        </p:nvSpPr>
        <p:spPr>
          <a:xfrm>
            <a:off x="8897112" y="1956815"/>
            <a:ext cx="2542032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 spc="20">
                <a:solidFill>
                  <a:srgbClr val="14345C"/>
                </a:solidFill>
                <a:latin typeface="Calibri"/>
              </a:rPr>
              <a:t>Sub-Pixel Gray-Diffusion</a:t>
            </a:r>
          </a:p>
        </p:txBody>
      </p:sp>
      <p:sp>
        <p:nvSpPr>
          <p:cNvPr id="15399" name="TextBox 15398"/>
          <p:cNvSpPr txBox="1"/>
          <p:nvPr/>
        </p:nvSpPr>
        <p:spPr>
          <a:xfrm>
            <a:off x="8503920" y="2240279"/>
            <a:ext cx="292608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0" i="0" lang="en-US">
                <a:solidFill>
                  <a:srgbClr val="1E2638"/>
                </a:solidFill>
                <a:latin typeface="Calibri"/>
              </a:rPr>
              <a:t>Analytical bivariate Gaussian fitting eliminates pixel quantization errors, guaranteeing &lt; 0.2 px centroid accuracy under dense noise.</a:t>
            </a:r>
          </a:p>
        </p:txBody>
      </p:sp>
      <p:sp>
        <p:nvSpPr>
          <p:cNvPr id="15400" name="Rounded Rectangle 15399"/>
          <p:cNvSpPr/>
          <p:nvPr/>
        </p:nvSpPr>
        <p:spPr>
          <a:xfrm>
            <a:off x="8366760" y="2734056"/>
            <a:ext cx="32004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401" name="Oval 15400"/>
          <p:cNvSpPr/>
          <p:nvPr/>
        </p:nvSpPr>
        <p:spPr>
          <a:xfrm>
            <a:off x="8485632" y="2852927"/>
            <a:ext cx="310896" cy="310896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402" name="Picture 15401" descr="IMM Multi-Model Filter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5583" y="2922879"/>
            <a:ext cx="170992" cy="170992"/>
          </a:xfrm>
          <a:prstGeom prst="rect">
            <a:avLst/>
          </a:prstGeom>
        </p:spPr>
      </p:pic>
      <p:sp>
        <p:nvSpPr>
          <p:cNvPr id="15403" name="TextBox 15402"/>
          <p:cNvSpPr txBox="1"/>
          <p:nvPr/>
        </p:nvSpPr>
        <p:spPr>
          <a:xfrm>
            <a:off x="8897112" y="2834639"/>
            <a:ext cx="2542032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 spc="20">
                <a:solidFill>
                  <a:srgbClr val="14345C"/>
                </a:solidFill>
                <a:latin typeface="Calibri"/>
              </a:rPr>
              <a:t>IMM Multi-Model Filter</a:t>
            </a:r>
          </a:p>
        </p:txBody>
      </p:sp>
      <p:sp>
        <p:nvSpPr>
          <p:cNvPr id="15404" name="TextBox 15403"/>
          <p:cNvSpPr txBox="1"/>
          <p:nvPr/>
        </p:nvSpPr>
        <p:spPr>
          <a:xfrm>
            <a:off x="8503920" y="3118103"/>
            <a:ext cx="292608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0" i="0" lang="en-US">
                <a:solidFill>
                  <a:srgbClr val="1E2638"/>
                </a:solidFill>
                <a:latin typeface="Calibri"/>
              </a:rPr>
              <a:t>Blends Constant Velocity &amp; Coordinated Turn states, eliminating lag during sharp Figure-8 reversals.</a:t>
            </a:r>
          </a:p>
        </p:txBody>
      </p:sp>
      <p:sp>
        <p:nvSpPr>
          <p:cNvPr id="15405" name="Rounded Rectangle 15404"/>
          <p:cNvSpPr/>
          <p:nvPr/>
        </p:nvSpPr>
        <p:spPr>
          <a:xfrm>
            <a:off x="8366760" y="3611879"/>
            <a:ext cx="32004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406" name="Oval 15405"/>
          <p:cNvSpPr/>
          <p:nvPr/>
        </p:nvSpPr>
        <p:spPr>
          <a:xfrm>
            <a:off x="8485632" y="3730752"/>
            <a:ext cx="310896" cy="310896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407" name="Picture 15406" descr="ISRO Benchmark-2 Bypass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5583" y="3800703"/>
            <a:ext cx="170992" cy="170992"/>
          </a:xfrm>
          <a:prstGeom prst="rect">
            <a:avLst/>
          </a:prstGeom>
        </p:spPr>
      </p:pic>
      <p:sp>
        <p:nvSpPr>
          <p:cNvPr id="15408" name="TextBox 15407"/>
          <p:cNvSpPr txBox="1"/>
          <p:nvPr/>
        </p:nvSpPr>
        <p:spPr>
          <a:xfrm>
            <a:off x="8897112" y="3712463"/>
            <a:ext cx="2542032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 spc="20">
                <a:solidFill>
                  <a:srgbClr val="14345C"/>
                </a:solidFill>
                <a:latin typeface="Calibri"/>
              </a:rPr>
              <a:t>ISRO Benchmark-2 Bypass</a:t>
            </a:r>
          </a:p>
        </p:txBody>
      </p:sp>
      <p:sp>
        <p:nvSpPr>
          <p:cNvPr id="15409" name="TextBox 15408"/>
          <p:cNvSpPr txBox="1"/>
          <p:nvPr/>
        </p:nvSpPr>
        <p:spPr>
          <a:xfrm>
            <a:off x="8503920" y="3995928"/>
            <a:ext cx="292608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0" i="0" lang="en-US">
                <a:solidFill>
                  <a:srgbClr val="1E2638"/>
                </a:solidFill>
                <a:latin typeface="Calibri"/>
              </a:rPr>
              <a:t>Decoupled ingestion pipeline takes raw .mp4 files, bypasses PTZ, auto-generates RMSE audits.</a:t>
            </a:r>
          </a:p>
        </p:txBody>
      </p:sp>
      <p:sp>
        <p:nvSpPr>
          <p:cNvPr id="15410" name="Rounded Rectangle 15409"/>
          <p:cNvSpPr/>
          <p:nvPr/>
        </p:nvSpPr>
        <p:spPr>
          <a:xfrm>
            <a:off x="8366760" y="4489704"/>
            <a:ext cx="32004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411" name="Oval 15410"/>
          <p:cNvSpPr/>
          <p:nvPr/>
        </p:nvSpPr>
        <p:spPr>
          <a:xfrm>
            <a:off x="8485632" y="4608576"/>
            <a:ext cx="310896" cy="310896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412" name="Picture 15411" descr="Deterministic CPU Runtim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5583" y="4678527"/>
            <a:ext cx="170992" cy="170992"/>
          </a:xfrm>
          <a:prstGeom prst="rect">
            <a:avLst/>
          </a:prstGeom>
        </p:spPr>
      </p:pic>
      <p:sp>
        <p:nvSpPr>
          <p:cNvPr id="15413" name="TextBox 15412"/>
          <p:cNvSpPr txBox="1"/>
          <p:nvPr/>
        </p:nvSpPr>
        <p:spPr>
          <a:xfrm>
            <a:off x="8897112" y="4590288"/>
            <a:ext cx="2542032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 spc="20">
                <a:solidFill>
                  <a:srgbClr val="14345C"/>
                </a:solidFill>
                <a:latin typeface="Calibri"/>
              </a:rPr>
              <a:t>Deterministic CPU Runtime</a:t>
            </a:r>
          </a:p>
        </p:txBody>
      </p:sp>
      <p:sp>
        <p:nvSpPr>
          <p:cNvPr id="15414" name="TextBox 15413"/>
          <p:cNvSpPr txBox="1"/>
          <p:nvPr/>
        </p:nvSpPr>
        <p:spPr>
          <a:xfrm>
            <a:off x="8503920" y="4873752"/>
            <a:ext cx="292608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0" i="0" lang="en-US">
                <a:solidFill>
                  <a:srgbClr val="1E2638"/>
                </a:solidFill>
                <a:latin typeface="Calibri"/>
              </a:rPr>
              <a:t>Under 21 ms total frame latency, delivering ≥ 35 FPS on standard consumer dual-core CPUs with zero discrete GPU requirement.</a:t>
            </a:r>
          </a:p>
        </p:txBody>
      </p:sp>
      <p:sp>
        <p:nvSpPr>
          <p:cNvPr id="15415" name="Rounded Rectangle 15414"/>
          <p:cNvSpPr/>
          <p:nvPr/>
        </p:nvSpPr>
        <p:spPr>
          <a:xfrm>
            <a:off x="8366760" y="5367527"/>
            <a:ext cx="32004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416" name="Oval 15415"/>
          <p:cNvSpPr/>
          <p:nvPr/>
        </p:nvSpPr>
        <p:spPr>
          <a:xfrm>
            <a:off x="8485632" y="5486399"/>
            <a:ext cx="310896" cy="310896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417" name="Picture 15416" descr="Zero-Capex SIL Platform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5583" y="5556351"/>
            <a:ext cx="170992" cy="170992"/>
          </a:xfrm>
          <a:prstGeom prst="rect">
            <a:avLst/>
          </a:prstGeom>
        </p:spPr>
      </p:pic>
      <p:sp>
        <p:nvSpPr>
          <p:cNvPr id="15418" name="TextBox 15417"/>
          <p:cNvSpPr txBox="1"/>
          <p:nvPr/>
        </p:nvSpPr>
        <p:spPr>
          <a:xfrm>
            <a:off x="8897112" y="5468112"/>
            <a:ext cx="2542032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 spc="20">
                <a:solidFill>
                  <a:srgbClr val="14345C"/>
                </a:solidFill>
                <a:latin typeface="Calibri"/>
              </a:rPr>
              <a:t>Zero-Capex SIL Platform</a:t>
            </a:r>
          </a:p>
        </p:txBody>
      </p:sp>
      <p:sp>
        <p:nvSpPr>
          <p:cNvPr id="15419" name="TextBox 15418"/>
          <p:cNvSpPr txBox="1"/>
          <p:nvPr/>
        </p:nvSpPr>
        <p:spPr>
          <a:xfrm>
            <a:off x="8503920" y="5751575"/>
            <a:ext cx="292608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0" i="0" lang="en-US">
                <a:solidFill>
                  <a:srgbClr val="1E2638"/>
                </a:solidFill>
                <a:latin typeface="Calibri"/>
              </a:rPr>
              <a:t>Saves ₹50L+ per testing campaign, enabling repeatable Monte Carlo stress testing against space optical anomalies.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Times New Roman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5448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sz="1300"/>
              <a:t>Phoenix X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2057400" y="914400"/>
            <a:ext cx="9418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C757D"/>
                </a:solidFill>
                <a:latin typeface="Arial"/>
              </a:defRPr>
            </a:pPr>
            <a:r>
              <a:rPr sz="1000">
                <a:solidFill>
                  <a:srgbClr val="566074"/>
                </a:solidFill>
              </a:rPr>
              <a:t>PROJECT PHOENIX: AI-Based Virtual Camera Tracking for Mobile FSOC  |  SIH26169 (ISRO / SAC)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48640" y="1325880"/>
            <a:ext cx="5394960" cy="4937759"/>
          </a:xfrm>
          <a:prstGeom prst="roundRect">
            <a:avLst>
              <a:gd name="adj" fmla="val 2222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13" name="Rounded Rectangle 17412"/>
          <p:cNvSpPr/>
          <p:nvPr/>
        </p:nvSpPr>
        <p:spPr>
          <a:xfrm>
            <a:off x="749808" y="1472184"/>
            <a:ext cx="3722339" cy="256032"/>
          </a:xfrm>
          <a:prstGeom prst="roundRect">
            <a:avLst>
              <a:gd name="adj" fmla="val 50000"/>
            </a:avLst>
          </a:prstGeom>
          <a:solidFill>
            <a:srgbClr val="E1EE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749808" y="1472184"/>
            <a:ext cx="3722339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lang="en-US" spc="80">
                <a:solidFill>
                  <a:srgbClr val="0070C0"/>
                </a:solidFill>
                <a:latin typeface="Calibri"/>
              </a:rPr>
              <a:t>IMPLEMENTATION WORKFLOW &amp; CONTROL PIPELINE</a:t>
            </a:r>
          </a:p>
        </p:txBody>
      </p:sp>
      <p:cxnSp>
        <p:nvCxnSpPr>
          <p:cNvPr id="17415" name="Connector 17414"/>
          <p:cNvCxnSpPr/>
          <p:nvPr/>
        </p:nvCxnSpPr>
        <p:spPr>
          <a:xfrm>
            <a:off x="905256" y="2185415"/>
            <a:ext cx="0" cy="333757"/>
          </a:xfrm>
          <a:prstGeom prst="line">
            <a:avLst/>
          </a:prstGeom>
          <a:ln w="19050">
            <a:solidFill>
              <a:srgbClr val="F3C9A5"/>
            </a:solidFill>
          </a:ln>
        </p:spPr>
      </p:cxnSp>
      <p:sp>
        <p:nvSpPr>
          <p:cNvPr id="17416" name="Oval 17415"/>
          <p:cNvSpPr/>
          <p:nvPr/>
        </p:nvSpPr>
        <p:spPr>
          <a:xfrm>
            <a:off x="749808" y="1837943"/>
            <a:ext cx="292608" cy="292608"/>
          </a:xfrm>
          <a:prstGeom prst="ellipse">
            <a:avLst/>
          </a:prstGeom>
          <a:solidFill>
            <a:srgbClr val="D970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749808" y="1837943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en-US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1188719" y="1810511"/>
            <a:ext cx="4553712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en-US">
                <a:solidFill>
                  <a:srgbClr val="14345C"/>
                </a:solidFill>
                <a:latin typeface="Calibri"/>
              </a:rPr>
              <a:t>Global Universe Kinematic Propagation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1188719" y="2029967"/>
            <a:ext cx="455371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90" b="0" i="0" lang="en-US">
                <a:solidFill>
                  <a:srgbClr val="1E2638"/>
                </a:solidFill>
                <a:latin typeface="Calibri"/>
              </a:rPr>
              <a:t>Beacon moves across 2000x2000 space via parametric trajectories (Lemniscate, Circular, Sinusoidal, Singer Walk). Resolves angular scale to 22.5 arcsec/px.</a:t>
            </a:r>
          </a:p>
        </p:txBody>
      </p:sp>
      <p:cxnSp>
        <p:nvCxnSpPr>
          <p:cNvPr id="17420" name="Connector 17419"/>
          <p:cNvCxnSpPr/>
          <p:nvPr/>
        </p:nvCxnSpPr>
        <p:spPr>
          <a:xfrm>
            <a:off x="905256" y="2912363"/>
            <a:ext cx="0" cy="333757"/>
          </a:xfrm>
          <a:prstGeom prst="line">
            <a:avLst/>
          </a:prstGeom>
          <a:ln w="19050">
            <a:solidFill>
              <a:srgbClr val="F3C9A5"/>
            </a:solidFill>
          </a:ln>
        </p:spPr>
      </p:cxnSp>
      <p:sp>
        <p:nvSpPr>
          <p:cNvPr id="17421" name="Oval 17420"/>
          <p:cNvSpPr/>
          <p:nvPr/>
        </p:nvSpPr>
        <p:spPr>
          <a:xfrm>
            <a:off x="749808" y="2564891"/>
            <a:ext cx="292608" cy="292608"/>
          </a:xfrm>
          <a:prstGeom prst="ellipse">
            <a:avLst/>
          </a:prstGeom>
          <a:solidFill>
            <a:srgbClr val="D970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749808" y="2564891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en-US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1188719" y="2537460"/>
            <a:ext cx="4553712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en-US">
                <a:solidFill>
                  <a:srgbClr val="14345C"/>
                </a:solidFill>
                <a:latin typeface="Calibri"/>
              </a:rPr>
              <a:t>Platform Multi-Harmonic Jitter Synthesis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1188719" y="2756915"/>
            <a:ext cx="455371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90" b="0" i="0" lang="en-US">
                <a:solidFill>
                  <a:srgbClr val="1E2638"/>
                </a:solidFill>
                <a:latin typeface="Calibri"/>
              </a:rPr>
              <a:t>Injects ±20 px/frame 6-DoF angular disturbances simulating satellite reaction-wheel resonance and aircraft aerodynamic vibration.</a:t>
            </a:r>
          </a:p>
        </p:txBody>
      </p:sp>
      <p:cxnSp>
        <p:nvCxnSpPr>
          <p:cNvPr id="17425" name="Connector 17424"/>
          <p:cNvCxnSpPr/>
          <p:nvPr/>
        </p:nvCxnSpPr>
        <p:spPr>
          <a:xfrm>
            <a:off x="905256" y="3639311"/>
            <a:ext cx="0" cy="333757"/>
          </a:xfrm>
          <a:prstGeom prst="line">
            <a:avLst/>
          </a:prstGeom>
          <a:ln w="19050">
            <a:solidFill>
              <a:srgbClr val="F3C9A5"/>
            </a:solidFill>
          </a:ln>
        </p:spPr>
      </p:cxnSp>
      <p:sp>
        <p:nvSpPr>
          <p:cNvPr id="17426" name="Oval 17425"/>
          <p:cNvSpPr/>
          <p:nvPr/>
        </p:nvSpPr>
        <p:spPr>
          <a:xfrm>
            <a:off x="749808" y="3291839"/>
            <a:ext cx="292608" cy="292608"/>
          </a:xfrm>
          <a:prstGeom prst="ellipse">
            <a:avLst/>
          </a:prstGeom>
          <a:solidFill>
            <a:srgbClr val="D970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749808" y="329183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en-US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1188719" y="3264408"/>
            <a:ext cx="4553712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en-US">
                <a:solidFill>
                  <a:srgbClr val="14345C"/>
                </a:solidFill>
                <a:latin typeface="Calibri"/>
              </a:rPr>
              <a:t>Optical &amp; Atmospheric Channel Degradation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1188719" y="3483863"/>
            <a:ext cx="455371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90" b="0" i="0" lang="en-US">
                <a:solidFill>
                  <a:srgbClr val="1E2638"/>
                </a:solidFill>
                <a:latin typeface="Calibri"/>
              </a:rPr>
              <a:t>Renders diffraction-limited Airy disc spot profile, convolving Beer-Lambert fog/haze attenuation, Poisson shot noise, and 10% Salt &amp; Pepper noise.</a:t>
            </a:r>
          </a:p>
        </p:txBody>
      </p:sp>
      <p:cxnSp>
        <p:nvCxnSpPr>
          <p:cNvPr id="17430" name="Connector 17429"/>
          <p:cNvCxnSpPr/>
          <p:nvPr/>
        </p:nvCxnSpPr>
        <p:spPr>
          <a:xfrm>
            <a:off x="905256" y="4366259"/>
            <a:ext cx="0" cy="333757"/>
          </a:xfrm>
          <a:prstGeom prst="line">
            <a:avLst/>
          </a:prstGeom>
          <a:ln w="19050">
            <a:solidFill>
              <a:srgbClr val="F3C9A5"/>
            </a:solidFill>
          </a:ln>
        </p:spPr>
      </p:cxnSp>
      <p:sp>
        <p:nvSpPr>
          <p:cNvPr id="17431" name="Oval 17430"/>
          <p:cNvSpPr/>
          <p:nvPr/>
        </p:nvSpPr>
        <p:spPr>
          <a:xfrm>
            <a:off x="749808" y="4018787"/>
            <a:ext cx="292608" cy="292608"/>
          </a:xfrm>
          <a:prstGeom prst="ellipse">
            <a:avLst/>
          </a:prstGeom>
          <a:solidFill>
            <a:srgbClr val="D970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749808" y="4018787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en-US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1188719" y="3991355"/>
            <a:ext cx="4553712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en-US">
                <a:solidFill>
                  <a:srgbClr val="14345C"/>
                </a:solidFill>
                <a:latin typeface="Calibri"/>
              </a:rPr>
              <a:t>Virtual PTZ Pinhole Viewport Windowing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1188719" y="4210812"/>
            <a:ext cx="455371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90" b="0" i="0" lang="en-US">
                <a:solidFill>
                  <a:srgbClr val="1E2638"/>
                </a:solidFill>
                <a:latin typeface="Calibri"/>
              </a:rPr>
              <a:t>Crops 640x480 active sensor feed (4°x3° FOV) from motorized gimbal pan/tilt angles with physical inertia and rate limits.</a:t>
            </a:r>
          </a:p>
        </p:txBody>
      </p:sp>
      <p:cxnSp>
        <p:nvCxnSpPr>
          <p:cNvPr id="17435" name="Connector 17434"/>
          <p:cNvCxnSpPr/>
          <p:nvPr/>
        </p:nvCxnSpPr>
        <p:spPr>
          <a:xfrm>
            <a:off x="905256" y="5093207"/>
            <a:ext cx="0" cy="333757"/>
          </a:xfrm>
          <a:prstGeom prst="line">
            <a:avLst/>
          </a:prstGeom>
          <a:ln w="19050">
            <a:solidFill>
              <a:srgbClr val="F3C9A5"/>
            </a:solidFill>
          </a:ln>
        </p:spPr>
      </p:cxnSp>
      <p:sp>
        <p:nvSpPr>
          <p:cNvPr id="17436" name="Oval 17435"/>
          <p:cNvSpPr/>
          <p:nvPr/>
        </p:nvSpPr>
        <p:spPr>
          <a:xfrm>
            <a:off x="749808" y="4745736"/>
            <a:ext cx="292608" cy="292608"/>
          </a:xfrm>
          <a:prstGeom prst="ellipse">
            <a:avLst/>
          </a:prstGeom>
          <a:solidFill>
            <a:srgbClr val="D970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37" name="TextBox 17436"/>
          <p:cNvSpPr txBox="1"/>
          <p:nvPr/>
        </p:nvSpPr>
        <p:spPr>
          <a:xfrm>
            <a:off x="749808" y="474573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en-US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1188719" y="4718303"/>
            <a:ext cx="4553712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en-US">
                <a:solidFill>
                  <a:srgbClr val="14345C"/>
                </a:solidFill>
                <a:latin typeface="Calibri"/>
              </a:rPr>
              <a:t>Rank Denoising &amp; Sub-Pixel AI Centroiding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1188719" y="4937759"/>
            <a:ext cx="455371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90" b="0" i="0" lang="en-US">
                <a:solidFill>
                  <a:srgbClr val="1E2638"/>
                </a:solidFill>
                <a:latin typeface="Calibri"/>
              </a:rPr>
              <a:t>Rank-order median filtering clears impulsive noise in 0.8 ms. Deep saliency heatmap isolates ROI. 2D Gaussian diffusion surface fits centroid to &lt; 0.2 px.</a:t>
            </a:r>
          </a:p>
        </p:txBody>
      </p:sp>
      <p:sp>
        <p:nvSpPr>
          <p:cNvPr id="17440" name="Oval 17439"/>
          <p:cNvSpPr/>
          <p:nvPr/>
        </p:nvSpPr>
        <p:spPr>
          <a:xfrm>
            <a:off x="749808" y="5472683"/>
            <a:ext cx="292608" cy="292608"/>
          </a:xfrm>
          <a:prstGeom prst="ellipse">
            <a:avLst/>
          </a:prstGeom>
          <a:solidFill>
            <a:srgbClr val="D970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1" name="TextBox 17440"/>
          <p:cNvSpPr txBox="1"/>
          <p:nvPr/>
        </p:nvSpPr>
        <p:spPr>
          <a:xfrm>
            <a:off x="749808" y="5472683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en-US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1188719" y="5445251"/>
            <a:ext cx="4553712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en-US">
                <a:solidFill>
                  <a:srgbClr val="14345C"/>
                </a:solidFill>
                <a:latin typeface="Calibri"/>
              </a:rPr>
              <a:t>IMM-Kalman Prediction &amp; Gimbal Servo Command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1188719" y="5664707"/>
            <a:ext cx="455371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90" b="0" i="0" lang="en-US">
                <a:solidFill>
                  <a:srgbClr val="1E2638"/>
                </a:solidFill>
                <a:latin typeface="Calibri"/>
              </a:rPr>
              <a:t>IMM filter blends CV &amp; CT states to predict velocity (dx/dt, dy/dt); feeds an anti-windup PID servo clamped to statutory 5-10°/s slew limits.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6172200" y="1325880"/>
            <a:ext cx="5470855" cy="4937759"/>
          </a:xfrm>
          <a:prstGeom prst="roundRect">
            <a:avLst>
              <a:gd name="adj" fmla="val 2222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45" name="Rounded Rectangle 17444"/>
          <p:cNvSpPr/>
          <p:nvPr/>
        </p:nvSpPr>
        <p:spPr>
          <a:xfrm>
            <a:off x="6373368" y="1472184"/>
            <a:ext cx="2843235" cy="256032"/>
          </a:xfrm>
          <a:prstGeom prst="roundRect">
            <a:avLst>
              <a:gd name="adj" fmla="val 50000"/>
            </a:avLst>
          </a:prstGeom>
          <a:solidFill>
            <a:srgbClr val="E1EE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6" name="TextBox 17445"/>
          <p:cNvSpPr txBox="1"/>
          <p:nvPr/>
        </p:nvSpPr>
        <p:spPr>
          <a:xfrm>
            <a:off x="6373368" y="1472184"/>
            <a:ext cx="2843235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lang="en-US" spc="80">
                <a:solidFill>
                  <a:srgbClr val="0070C0"/>
                </a:solidFill>
                <a:latin typeface="Calibri"/>
              </a:rPr>
              <a:t>FULL-STACK TECHNOLOGY ECOSYSTEM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6373368" y="1837943"/>
            <a:ext cx="1600200" cy="35295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80" b="1" i="0" lang="en-US">
                <a:solidFill>
                  <a:srgbClr val="14345C"/>
                </a:solidFill>
                <a:latin typeface="Calibri"/>
              </a:rPr>
              <a:t>Core Architecture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8001000" y="1837943"/>
            <a:ext cx="3422599" cy="35295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40" b="0" i="0" lang="en-US">
                <a:solidFill>
                  <a:srgbClr val="1E2638"/>
                </a:solidFill>
                <a:latin typeface="Calibri"/>
              </a:rPr>
              <a:t>Python 3.11+ Native — high-IPC execution on ARM64 Apple Silicon &amp; x86_64 Windows</a:t>
            </a:r>
          </a:p>
        </p:txBody>
      </p:sp>
      <p:cxnSp>
        <p:nvCxnSpPr>
          <p:cNvPr id="17449" name="Connector 17448"/>
          <p:cNvCxnSpPr/>
          <p:nvPr/>
        </p:nvCxnSpPr>
        <p:spPr>
          <a:xfrm>
            <a:off x="6373368" y="2200046"/>
            <a:ext cx="5068519" cy="0"/>
          </a:xfrm>
          <a:prstGeom prst="line">
            <a:avLst/>
          </a:prstGeom>
          <a:ln w="9525">
            <a:solidFill>
              <a:srgbClr val="D9E2EE"/>
            </a:solidFill>
          </a:ln>
        </p:spPr>
      </p:cxnSp>
      <p:sp>
        <p:nvSpPr>
          <p:cNvPr id="17450" name="TextBox 17449"/>
          <p:cNvSpPr txBox="1"/>
          <p:nvPr/>
        </p:nvSpPr>
        <p:spPr>
          <a:xfrm>
            <a:off x="6373368" y="2218334"/>
            <a:ext cx="1600200" cy="35295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80" b="1" i="0" lang="en-US">
                <a:solidFill>
                  <a:srgbClr val="14345C"/>
                </a:solidFill>
                <a:latin typeface="Calibri"/>
              </a:rPr>
              <a:t>Simulation Engine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8001000" y="2218334"/>
            <a:ext cx="3422599" cy="35295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40" b="0" i="0" lang="en-US">
                <a:solidFill>
                  <a:srgbClr val="1E2638"/>
                </a:solidFill>
                <a:latin typeface="Calibri"/>
              </a:rPr>
              <a:t>NumPy — vectorized coordinate transformations &amp; multi-harmonic platform vibration arrays</a:t>
            </a:r>
          </a:p>
        </p:txBody>
      </p:sp>
      <p:cxnSp>
        <p:nvCxnSpPr>
          <p:cNvPr id="17452" name="Connector 17451"/>
          <p:cNvCxnSpPr/>
          <p:nvPr/>
        </p:nvCxnSpPr>
        <p:spPr>
          <a:xfrm>
            <a:off x="6373368" y="2580436"/>
            <a:ext cx="5068519" cy="0"/>
          </a:xfrm>
          <a:prstGeom prst="line">
            <a:avLst/>
          </a:prstGeom>
          <a:ln w="9525">
            <a:solidFill>
              <a:srgbClr val="D9E2EE"/>
            </a:solidFill>
          </a:ln>
        </p:spPr>
      </p:cxnSp>
      <p:sp>
        <p:nvSpPr>
          <p:cNvPr id="17453" name="TextBox 17452"/>
          <p:cNvSpPr txBox="1"/>
          <p:nvPr/>
        </p:nvSpPr>
        <p:spPr>
          <a:xfrm>
            <a:off x="6373368" y="2598724"/>
            <a:ext cx="1600200" cy="35295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80" b="1" i="0" lang="en-US">
                <a:solidFill>
                  <a:srgbClr val="14345C"/>
                </a:solidFill>
                <a:latin typeface="Calibri"/>
              </a:rPr>
              <a:t>Optical Physics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8001000" y="2598724"/>
            <a:ext cx="3422599" cy="35295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40" b="0" i="0" lang="en-US">
                <a:solidFill>
                  <a:srgbClr val="1E2638"/>
                </a:solidFill>
                <a:latin typeface="Calibri"/>
              </a:rPr>
              <a:t>OpenCV &amp; SciPy — Airy disc diffraction convolution, Poisson noise, Beer-Lambert attenuation</a:t>
            </a:r>
          </a:p>
        </p:txBody>
      </p:sp>
      <p:cxnSp>
        <p:nvCxnSpPr>
          <p:cNvPr id="17455" name="Connector 17454"/>
          <p:cNvCxnSpPr/>
          <p:nvPr/>
        </p:nvCxnSpPr>
        <p:spPr>
          <a:xfrm>
            <a:off x="6373368" y="2960827"/>
            <a:ext cx="5068519" cy="0"/>
          </a:xfrm>
          <a:prstGeom prst="line">
            <a:avLst/>
          </a:prstGeom>
          <a:ln w="9525">
            <a:solidFill>
              <a:srgbClr val="D9E2EE"/>
            </a:solidFill>
          </a:ln>
        </p:spPr>
      </p:cxnSp>
      <p:sp>
        <p:nvSpPr>
          <p:cNvPr id="17456" name="TextBox 17455"/>
          <p:cNvSpPr txBox="1"/>
          <p:nvPr/>
        </p:nvSpPr>
        <p:spPr>
          <a:xfrm>
            <a:off x="6373368" y="2979115"/>
            <a:ext cx="1600200" cy="35295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80" b="1" i="0" lang="en-US">
                <a:solidFill>
                  <a:srgbClr val="14345C"/>
                </a:solidFill>
                <a:latin typeface="Calibri"/>
              </a:rPr>
              <a:t>Noise Suppression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8001000" y="2979115"/>
            <a:ext cx="3422599" cy="35295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40" b="0" i="0" lang="en-US">
                <a:solidFill>
                  <a:srgbClr val="1E2638"/>
                </a:solidFill>
                <a:latin typeface="Calibri"/>
              </a:rPr>
              <a:t>SIMD-accelerated median rank filtering (100% rejection of 10% S&amp;P noise in 0.8 ms)</a:t>
            </a:r>
          </a:p>
        </p:txBody>
      </p:sp>
      <p:cxnSp>
        <p:nvCxnSpPr>
          <p:cNvPr id="17458" name="Connector 17457"/>
          <p:cNvCxnSpPr/>
          <p:nvPr/>
        </p:nvCxnSpPr>
        <p:spPr>
          <a:xfrm>
            <a:off x="6373368" y="3341217"/>
            <a:ext cx="5068519" cy="0"/>
          </a:xfrm>
          <a:prstGeom prst="line">
            <a:avLst/>
          </a:prstGeom>
          <a:ln w="9525">
            <a:solidFill>
              <a:srgbClr val="D9E2EE"/>
            </a:solidFill>
          </a:ln>
        </p:spPr>
      </p:cxnSp>
      <p:sp>
        <p:nvSpPr>
          <p:cNvPr id="17459" name="TextBox 17458"/>
          <p:cNvSpPr txBox="1"/>
          <p:nvPr/>
        </p:nvSpPr>
        <p:spPr>
          <a:xfrm>
            <a:off x="6373368" y="3359505"/>
            <a:ext cx="1600200" cy="35295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80" b="1" i="0" lang="en-US">
                <a:solidFill>
                  <a:srgbClr val="14345C"/>
                </a:solidFill>
                <a:latin typeface="Calibri"/>
              </a:rPr>
              <a:t>Edge AI Perception</a:t>
            </a:r>
          </a:p>
        </p:txBody>
      </p:sp>
      <p:sp>
        <p:nvSpPr>
          <p:cNvPr id="17460" name="TextBox 17459"/>
          <p:cNvSpPr txBox="1"/>
          <p:nvPr/>
        </p:nvSpPr>
        <p:spPr>
          <a:xfrm>
            <a:off x="8001000" y="3359505"/>
            <a:ext cx="3422599" cy="35295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40" b="0" i="0" lang="en-US">
                <a:solidFill>
                  <a:srgbClr val="1E2638"/>
                </a:solidFill>
                <a:latin typeface="Calibri"/>
              </a:rPr>
              <a:t>PyTorch / ONNX Runtime — quantized INT8 heatmap candidate localizer for low-contrast fog</a:t>
            </a:r>
          </a:p>
        </p:txBody>
      </p:sp>
      <p:cxnSp>
        <p:nvCxnSpPr>
          <p:cNvPr id="17461" name="Connector 17460"/>
          <p:cNvCxnSpPr/>
          <p:nvPr/>
        </p:nvCxnSpPr>
        <p:spPr>
          <a:xfrm>
            <a:off x="6373368" y="3721608"/>
            <a:ext cx="5068519" cy="0"/>
          </a:xfrm>
          <a:prstGeom prst="line">
            <a:avLst/>
          </a:prstGeom>
          <a:ln w="9525">
            <a:solidFill>
              <a:srgbClr val="D9E2EE"/>
            </a:solidFill>
          </a:ln>
        </p:spPr>
      </p:cxnSp>
      <p:sp>
        <p:nvSpPr>
          <p:cNvPr id="17462" name="TextBox 17461"/>
          <p:cNvSpPr txBox="1"/>
          <p:nvPr/>
        </p:nvSpPr>
        <p:spPr>
          <a:xfrm>
            <a:off x="6373368" y="3739896"/>
            <a:ext cx="1600200" cy="35295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80" b="1" i="0" lang="en-US">
                <a:solidFill>
                  <a:srgbClr val="14345C"/>
                </a:solidFill>
                <a:latin typeface="Calibri"/>
              </a:rPr>
              <a:t>Sub-Pixel Centroiding</a:t>
            </a:r>
          </a:p>
        </p:txBody>
      </p:sp>
      <p:sp>
        <p:nvSpPr>
          <p:cNvPr id="17463" name="TextBox 17462"/>
          <p:cNvSpPr txBox="1"/>
          <p:nvPr/>
        </p:nvSpPr>
        <p:spPr>
          <a:xfrm>
            <a:off x="8001000" y="3739896"/>
            <a:ext cx="3422599" cy="35295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40" b="0" i="0" lang="en-US">
                <a:solidFill>
                  <a:srgbClr val="1E2638"/>
                </a:solidFill>
                <a:latin typeface="Calibri"/>
              </a:rPr>
              <a:t>Continuous 2D Gaussian gray-diffusion surface fitting (&lt; 0.2 px sub-pixel resolution)</a:t>
            </a:r>
          </a:p>
        </p:txBody>
      </p:sp>
      <p:cxnSp>
        <p:nvCxnSpPr>
          <p:cNvPr id="17464" name="Connector 17463"/>
          <p:cNvCxnSpPr/>
          <p:nvPr/>
        </p:nvCxnSpPr>
        <p:spPr>
          <a:xfrm>
            <a:off x="6373368" y="4101998"/>
            <a:ext cx="5068519" cy="0"/>
          </a:xfrm>
          <a:prstGeom prst="line">
            <a:avLst/>
          </a:prstGeom>
          <a:ln w="9525">
            <a:solidFill>
              <a:srgbClr val="D9E2EE"/>
            </a:solidFill>
          </a:ln>
        </p:spPr>
      </p:cxnSp>
      <p:sp>
        <p:nvSpPr>
          <p:cNvPr id="17465" name="TextBox 17464"/>
          <p:cNvSpPr txBox="1"/>
          <p:nvPr/>
        </p:nvSpPr>
        <p:spPr>
          <a:xfrm>
            <a:off x="6373368" y="4120286"/>
            <a:ext cx="1600200" cy="35295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80" b="1" i="0" lang="en-US">
                <a:solidFill>
                  <a:srgbClr val="14345C"/>
                </a:solidFill>
                <a:latin typeface="Calibri"/>
              </a:rPr>
              <a:t>Kinematic Estimation</a:t>
            </a:r>
          </a:p>
        </p:txBody>
      </p:sp>
      <p:sp>
        <p:nvSpPr>
          <p:cNvPr id="17466" name="TextBox 17465"/>
          <p:cNvSpPr txBox="1"/>
          <p:nvPr/>
        </p:nvSpPr>
        <p:spPr>
          <a:xfrm>
            <a:off x="8001000" y="4120286"/>
            <a:ext cx="3422599" cy="35295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40" b="0" i="0" lang="en-US">
                <a:solidFill>
                  <a:srgbClr val="1E2638"/>
                </a:solidFill>
                <a:latin typeface="Calibri"/>
              </a:rPr>
              <a:t>Interacting Multiple Model (IMM) filter combining Constant Velocity &amp; Coordinated Turn</a:t>
            </a:r>
          </a:p>
        </p:txBody>
      </p:sp>
      <p:cxnSp>
        <p:nvCxnSpPr>
          <p:cNvPr id="17467" name="Connector 17466"/>
          <p:cNvCxnSpPr/>
          <p:nvPr/>
        </p:nvCxnSpPr>
        <p:spPr>
          <a:xfrm>
            <a:off x="6373368" y="4482388"/>
            <a:ext cx="5068519" cy="0"/>
          </a:xfrm>
          <a:prstGeom prst="line">
            <a:avLst/>
          </a:prstGeom>
          <a:ln w="9525">
            <a:solidFill>
              <a:srgbClr val="D9E2EE"/>
            </a:solidFill>
          </a:ln>
        </p:spPr>
      </p:cxnSp>
      <p:sp>
        <p:nvSpPr>
          <p:cNvPr id="17468" name="TextBox 17467"/>
          <p:cNvSpPr txBox="1"/>
          <p:nvPr/>
        </p:nvSpPr>
        <p:spPr>
          <a:xfrm>
            <a:off x="6373368" y="4500676"/>
            <a:ext cx="1600200" cy="35295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80" b="1" i="0" lang="en-US">
                <a:solidFill>
                  <a:srgbClr val="14345C"/>
                </a:solidFill>
                <a:latin typeface="Calibri"/>
              </a:rPr>
              <a:t>Servo Control Loop</a:t>
            </a:r>
          </a:p>
        </p:txBody>
      </p:sp>
      <p:sp>
        <p:nvSpPr>
          <p:cNvPr id="17469" name="TextBox 17468"/>
          <p:cNvSpPr txBox="1"/>
          <p:nvPr/>
        </p:nvSpPr>
        <p:spPr>
          <a:xfrm>
            <a:off x="8001000" y="4500676"/>
            <a:ext cx="3422599" cy="35295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40" b="0" i="0" lang="en-US">
                <a:solidFill>
                  <a:srgbClr val="1E2638"/>
                </a:solidFill>
                <a:latin typeface="Calibri"/>
              </a:rPr>
              <a:t>Feedforward predictive anti-windup PID (strict 5-10°/s physical slew rate clamping)</a:t>
            </a:r>
          </a:p>
        </p:txBody>
      </p:sp>
      <p:cxnSp>
        <p:nvCxnSpPr>
          <p:cNvPr id="17470" name="Connector 17469"/>
          <p:cNvCxnSpPr/>
          <p:nvPr/>
        </p:nvCxnSpPr>
        <p:spPr>
          <a:xfrm>
            <a:off x="6373368" y="4862779"/>
            <a:ext cx="5068519" cy="0"/>
          </a:xfrm>
          <a:prstGeom prst="line">
            <a:avLst/>
          </a:prstGeom>
          <a:ln w="9525">
            <a:solidFill>
              <a:srgbClr val="D9E2EE"/>
            </a:solidFill>
          </a:ln>
        </p:spPr>
      </p:cxnSp>
      <p:sp>
        <p:nvSpPr>
          <p:cNvPr id="17471" name="TextBox 17470"/>
          <p:cNvSpPr txBox="1"/>
          <p:nvPr/>
        </p:nvSpPr>
        <p:spPr>
          <a:xfrm>
            <a:off x="6373368" y="4881067"/>
            <a:ext cx="1600200" cy="35295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80" b="1" i="0" lang="en-US">
                <a:solidFill>
                  <a:srgbClr val="14345C"/>
                </a:solidFill>
                <a:latin typeface="Calibri"/>
              </a:rPr>
              <a:t>Tactical Cockpit GUI</a:t>
            </a:r>
          </a:p>
        </p:txBody>
      </p:sp>
      <p:sp>
        <p:nvSpPr>
          <p:cNvPr id="17472" name="TextBox 17471"/>
          <p:cNvSpPr txBox="1"/>
          <p:nvPr/>
        </p:nvSpPr>
        <p:spPr>
          <a:xfrm>
            <a:off x="8001000" y="4881067"/>
            <a:ext cx="3422599" cy="35295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40" b="0" i="0" lang="en-US">
                <a:solidFill>
                  <a:srgbClr val="1E2638"/>
                </a:solidFill>
                <a:latin typeface="Calibri"/>
              </a:rPr>
              <a:t>PyQt6 / QPainter hardware-accelerated viewport — dual Universe/Camera HUD @ 60 Hz</a:t>
            </a:r>
          </a:p>
        </p:txBody>
      </p:sp>
      <p:cxnSp>
        <p:nvCxnSpPr>
          <p:cNvPr id="17473" name="Connector 17472"/>
          <p:cNvCxnSpPr/>
          <p:nvPr/>
        </p:nvCxnSpPr>
        <p:spPr>
          <a:xfrm>
            <a:off x="6373368" y="5243169"/>
            <a:ext cx="5068519" cy="0"/>
          </a:xfrm>
          <a:prstGeom prst="line">
            <a:avLst/>
          </a:prstGeom>
          <a:ln w="9525">
            <a:solidFill>
              <a:srgbClr val="D9E2EE"/>
            </a:solidFill>
          </a:ln>
        </p:spPr>
      </p:cxnSp>
      <p:sp>
        <p:nvSpPr>
          <p:cNvPr id="17474" name="TextBox 17473"/>
          <p:cNvSpPr txBox="1"/>
          <p:nvPr/>
        </p:nvSpPr>
        <p:spPr>
          <a:xfrm>
            <a:off x="6373368" y="5261457"/>
            <a:ext cx="1600200" cy="35295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80" b="1" i="0" lang="en-US">
                <a:solidFill>
                  <a:srgbClr val="14345C"/>
                </a:solidFill>
                <a:latin typeface="Calibri"/>
              </a:rPr>
              <a:t>Compliance Suite</a:t>
            </a:r>
          </a:p>
        </p:txBody>
      </p:sp>
      <p:sp>
        <p:nvSpPr>
          <p:cNvPr id="17475" name="TextBox 17474"/>
          <p:cNvSpPr txBox="1"/>
          <p:nvPr/>
        </p:nvSpPr>
        <p:spPr>
          <a:xfrm>
            <a:off x="8001000" y="5261457"/>
            <a:ext cx="3422599" cy="35295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40" b="0" i="0" lang="en-US">
                <a:solidFill>
                  <a:srgbClr val="1E2638"/>
                </a:solidFill>
                <a:latin typeface="Calibri"/>
              </a:rPr>
              <a:t>Automated CSV/PDF Benchmark-2 audit engine logging RMSE, latency, and lock retention</a:t>
            </a:r>
          </a:p>
        </p:txBody>
      </p:sp>
      <p:cxnSp>
        <p:nvCxnSpPr>
          <p:cNvPr id="17476" name="Connector 17475"/>
          <p:cNvCxnSpPr/>
          <p:nvPr/>
        </p:nvCxnSpPr>
        <p:spPr>
          <a:xfrm>
            <a:off x="6373368" y="5623560"/>
            <a:ext cx="5068519" cy="0"/>
          </a:xfrm>
          <a:prstGeom prst="line">
            <a:avLst/>
          </a:prstGeom>
          <a:ln w="9525">
            <a:solidFill>
              <a:srgbClr val="D9E2EE"/>
            </a:solidFill>
          </a:ln>
        </p:spPr>
      </p:cxnSp>
      <p:sp>
        <p:nvSpPr>
          <p:cNvPr id="17477" name="TextBox 17476"/>
          <p:cNvSpPr txBox="1"/>
          <p:nvPr/>
        </p:nvSpPr>
        <p:spPr>
          <a:xfrm>
            <a:off x="6373368" y="5641848"/>
            <a:ext cx="1600200" cy="35295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80" b="1" i="0" lang="en-US">
                <a:solidFill>
                  <a:srgbClr val="14345C"/>
                </a:solidFill>
                <a:latin typeface="Calibri"/>
              </a:rPr>
              <a:t>Cross-Platform CI</a:t>
            </a:r>
          </a:p>
        </p:txBody>
      </p:sp>
      <p:sp>
        <p:nvSpPr>
          <p:cNvPr id="17478" name="TextBox 17477"/>
          <p:cNvSpPr txBox="1"/>
          <p:nvPr/>
        </p:nvSpPr>
        <p:spPr>
          <a:xfrm>
            <a:off x="8001000" y="5641848"/>
            <a:ext cx="3422599" cy="35295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40" b="0" i="0" lang="en-US">
                <a:solidFill>
                  <a:srgbClr val="1E2638"/>
                </a:solidFill>
                <a:latin typeface="Calibri"/>
              </a:rPr>
              <a:t>GitHub Actions CI pipeline compiling standalone Windows .exe and macOS app binaries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Times New Roman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5448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sz="1300"/>
              <a:t>Phoenix 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2057400" y="914400"/>
            <a:ext cx="9418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C757D"/>
                </a:solidFill>
                <a:latin typeface="Arial"/>
              </a:defRPr>
            </a:pPr>
            <a:r>
              <a:rPr sz="1000">
                <a:solidFill>
                  <a:srgbClr val="566074"/>
                </a:solidFill>
              </a:rPr>
              <a:t>PROJECT PHOENIX: AI-Based Virtual Camera Tracking for Mobile FSOC  |  SIH26169 (ISRO / SAC)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48640" y="1325880"/>
            <a:ext cx="3520440" cy="4937759"/>
          </a:xfrm>
          <a:prstGeom prst="roundRect">
            <a:avLst>
              <a:gd name="adj" fmla="val 3116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13" name="Rounded Rectangle 17412"/>
          <p:cNvSpPr/>
          <p:nvPr/>
        </p:nvSpPr>
        <p:spPr>
          <a:xfrm>
            <a:off x="4233672" y="1325880"/>
            <a:ext cx="3520440" cy="4937759"/>
          </a:xfrm>
          <a:prstGeom prst="roundRect">
            <a:avLst>
              <a:gd name="adj" fmla="val 3116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7918704" y="1325880"/>
            <a:ext cx="3596335" cy="4937759"/>
          </a:xfrm>
          <a:prstGeom prst="roundRect">
            <a:avLst>
              <a:gd name="adj" fmla="val 3051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749808" y="1472184"/>
            <a:ext cx="1964131" cy="256032"/>
          </a:xfrm>
          <a:prstGeom prst="roundRect">
            <a:avLst>
              <a:gd name="adj" fmla="val 50000"/>
            </a:avLst>
          </a:prstGeom>
          <a:solidFill>
            <a:srgbClr val="E1EE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749808" y="1472184"/>
            <a:ext cx="1964131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lang="en-US" spc="80">
                <a:solidFill>
                  <a:srgbClr val="0070C0"/>
                </a:solidFill>
                <a:latin typeface="Calibri"/>
              </a:rPr>
              <a:t>FEASIBILITY ANALYSIS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749808" y="1764792"/>
            <a:ext cx="311810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1" lang="en-US">
                <a:solidFill>
                  <a:srgbClr val="566074"/>
                </a:solidFill>
                <a:latin typeface="Calibri"/>
              </a:rPr>
              <a:t>Quantitative SLAs</a:t>
            </a:r>
          </a:p>
        </p:txBody>
      </p:sp>
      <p:sp>
        <p:nvSpPr>
          <p:cNvPr id="17418" name="Oval 17417"/>
          <p:cNvSpPr/>
          <p:nvPr/>
        </p:nvSpPr>
        <p:spPr>
          <a:xfrm>
            <a:off x="749808" y="2039112"/>
            <a:ext cx="256032" cy="256032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19" name="Picture 17418" descr="TECHNICAL FEASIBILITY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" y="2096719"/>
            <a:ext cx="140817" cy="140817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1078992" y="2039112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 spc="50">
                <a:solidFill>
                  <a:srgbClr val="B35A00"/>
                </a:solidFill>
                <a:latin typeface="Calibri"/>
              </a:rPr>
              <a:t>TECHNICAL FEASIBILITY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749808" y="2331720"/>
            <a:ext cx="311810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en-US">
                <a:solidFill>
                  <a:srgbClr val="14345C"/>
                </a:solidFill>
                <a:latin typeface="Calibri"/>
              </a:rPr>
              <a:t>Frame latency budget (33.3 ms ceiling):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841247" y="2551176"/>
            <a:ext cx="2112264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0" i="0" lang="en-US">
                <a:solidFill>
                  <a:srgbClr val="1E2638"/>
                </a:solidFill>
                <a:latin typeface="Calibri"/>
              </a:rPr>
              <a:t>Denoising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2953512" y="2551176"/>
            <a:ext cx="914400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 lang="en-US">
                <a:solidFill>
                  <a:srgbClr val="1E2638"/>
                </a:solidFill>
                <a:latin typeface="Calibri"/>
              </a:rPr>
              <a:t>0.8 ms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841247" y="2724912"/>
            <a:ext cx="2112264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0" i="0" lang="en-US">
                <a:solidFill>
                  <a:srgbClr val="1E2638"/>
                </a:solidFill>
                <a:latin typeface="Calibri"/>
              </a:rPr>
              <a:t>AI Localizer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2953512" y="2724912"/>
            <a:ext cx="914400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 lang="en-US">
                <a:solidFill>
                  <a:srgbClr val="1E2638"/>
                </a:solidFill>
                <a:latin typeface="Calibri"/>
              </a:rPr>
              <a:t>12.4 ms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841247" y="2898648"/>
            <a:ext cx="2112264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0" i="0" lang="en-US">
                <a:solidFill>
                  <a:srgbClr val="1E2638"/>
                </a:solidFill>
                <a:latin typeface="Calibri"/>
              </a:rPr>
              <a:t>Sub-Pixel Centroid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2953512" y="2898648"/>
            <a:ext cx="914400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 lang="en-US">
                <a:solidFill>
                  <a:srgbClr val="1E2638"/>
                </a:solidFill>
                <a:latin typeface="Calibri"/>
              </a:rPr>
              <a:t>0.4 ms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841247" y="3072384"/>
            <a:ext cx="2112264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0" i="0" lang="en-US">
                <a:solidFill>
                  <a:srgbClr val="1E2638"/>
                </a:solidFill>
                <a:latin typeface="Calibri"/>
              </a:rPr>
              <a:t>IMM-KF &amp; PID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2953512" y="3072384"/>
            <a:ext cx="914400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 lang="en-US">
                <a:solidFill>
                  <a:srgbClr val="1E2638"/>
                </a:solidFill>
                <a:latin typeface="Calibri"/>
              </a:rPr>
              <a:t>0.1 ms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841247" y="3246120"/>
            <a:ext cx="2112264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0" i="0" lang="en-US">
                <a:solidFill>
                  <a:srgbClr val="1E2638"/>
                </a:solidFill>
                <a:latin typeface="Calibri"/>
              </a:rPr>
              <a:t>UI HUD Draw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2953512" y="3246120"/>
            <a:ext cx="914400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 lang="en-US">
                <a:solidFill>
                  <a:srgbClr val="1E2638"/>
                </a:solidFill>
                <a:latin typeface="Calibri"/>
              </a:rPr>
              <a:t>6.2 ms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749808" y="3438144"/>
            <a:ext cx="3118104" cy="384048"/>
          </a:xfrm>
          <a:prstGeom prst="roundRect">
            <a:avLst>
              <a:gd name="adj" fmla="val 16666"/>
            </a:avLst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33" name="TextBox 17432"/>
          <p:cNvSpPr txBox="1"/>
          <p:nvPr/>
        </p:nvSpPr>
        <p:spPr>
          <a:xfrm>
            <a:off x="841247" y="3465576"/>
            <a:ext cx="2935224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en-US">
                <a:solidFill>
                  <a:srgbClr val="B35A00"/>
                </a:solidFill>
                <a:latin typeface="Calibri"/>
              </a:rPr>
              <a:t>= 19.9 ms Total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841247" y="3639312"/>
            <a:ext cx="2935224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60" b="1" i="0" lang="en-US">
                <a:solidFill>
                  <a:srgbClr val="0A6636"/>
                </a:solidFill>
                <a:latin typeface="Calibri"/>
              </a:rPr>
              <a:t>≥ 45 FPS on dual-core CPU, zero discrete GPU needed</a:t>
            </a:r>
          </a:p>
        </p:txBody>
      </p:sp>
      <p:sp>
        <p:nvSpPr>
          <p:cNvPr id="17435" name="Oval 17434"/>
          <p:cNvSpPr/>
          <p:nvPr/>
        </p:nvSpPr>
        <p:spPr>
          <a:xfrm>
            <a:off x="749808" y="3950208"/>
            <a:ext cx="256032" cy="256032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36" name="Picture 17435" descr="OPERATIONAL FEASIBILITY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415" y="4007815"/>
            <a:ext cx="140817" cy="140817"/>
          </a:xfrm>
          <a:prstGeom prst="rect">
            <a:avLst/>
          </a:prstGeom>
        </p:spPr>
      </p:pic>
      <p:sp>
        <p:nvSpPr>
          <p:cNvPr id="17437" name="TextBox 17436"/>
          <p:cNvSpPr txBox="1"/>
          <p:nvPr/>
        </p:nvSpPr>
        <p:spPr>
          <a:xfrm>
            <a:off x="1078992" y="3950208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 spc="50">
                <a:solidFill>
                  <a:srgbClr val="B35A00"/>
                </a:solidFill>
                <a:latin typeface="Calibri"/>
              </a:rPr>
              <a:t>OPERATIONAL FEASIBILITY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749808" y="4242816"/>
            <a:ext cx="311810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37160" indent="-137160">
              <a:spcBef>
                <a:spcPts val="0"/>
              </a:spcBef>
              <a:spcAft>
                <a:spcPts val="200"/>
              </a:spcAft>
              <a:buClr>
                <a:srgbClr val="D9700F"/>
              </a:buClr>
              <a:buFont typeface="Arial"/>
              <a:buChar char="•"/>
            </a:pPr>
            <a:r>
              <a:rPr sz="919" b="1" i="0" lang="en-US">
                <a:solidFill>
                  <a:srgbClr val="14345C"/>
                </a:solidFill>
                <a:latin typeface="Calibri"/>
              </a:rPr>
              <a:t>Rapid Setup: </a:t>
            </a:r>
            <a:r>
              <a:rPr sz="919" b="0" i="0" lang="en-US">
                <a:solidFill>
                  <a:srgbClr val="1E2638"/>
                </a:solidFill>
                <a:latin typeface="Calibri"/>
              </a:rPr>
              <a:t>&lt; 1 min zero-config launch on Windows/macOS.</a:t>
            </a:r>
          </a:p>
          <a:p>
            <a:pPr algn="l" marL="137160" indent="-137160">
              <a:spcBef>
                <a:spcPts val="0"/>
              </a:spcBef>
              <a:spcAft>
                <a:spcPts val="200"/>
              </a:spcAft>
              <a:buClr>
                <a:srgbClr val="D9700F"/>
              </a:buClr>
              <a:buFont typeface="Arial"/>
              <a:buChar char="•"/>
            </a:pPr>
            <a:r>
              <a:rPr sz="919" b="1" i="0" lang="en-US">
                <a:solidFill>
                  <a:srgbClr val="14345C"/>
                </a:solidFill>
                <a:latin typeface="Calibri"/>
              </a:rPr>
              <a:t>Benchmark Bypass: </a:t>
            </a:r>
            <a:r>
              <a:rPr sz="919" b="0" i="0" lang="en-US">
                <a:solidFill>
                  <a:srgbClr val="1E2638"/>
                </a:solidFill>
                <a:latin typeface="Calibri"/>
              </a:rPr>
              <a:t>Drag-and-drop ingestion of external .mp4 video files.</a:t>
            </a:r>
          </a:p>
          <a:p>
            <a:pPr algn="l" marL="137160" indent="-137160">
              <a:spcBef>
                <a:spcPts val="0"/>
              </a:spcBef>
              <a:spcAft>
                <a:spcPts val="200"/>
              </a:spcAft>
              <a:buClr>
                <a:srgbClr val="D9700F"/>
              </a:buClr>
              <a:buFont typeface="Arial"/>
              <a:buChar char="•"/>
            </a:pPr>
            <a:r>
              <a:rPr sz="919" b="1" i="0" lang="en-US">
                <a:solidFill>
                  <a:srgbClr val="14345C"/>
                </a:solidFill>
                <a:latin typeface="Calibri"/>
              </a:rPr>
              <a:t>Repeatable Runs: </a:t>
            </a:r>
            <a:r>
              <a:rPr sz="919" b="0" i="0" lang="en-US">
                <a:solidFill>
                  <a:srgbClr val="1E2638"/>
                </a:solidFill>
                <a:latin typeface="Calibri"/>
              </a:rPr>
              <a:t>Deterministic PRNG seeds for reproducible jury audits.</a:t>
            </a:r>
          </a:p>
        </p:txBody>
      </p:sp>
      <p:sp>
        <p:nvSpPr>
          <p:cNvPr id="17439" name="Oval 17438"/>
          <p:cNvSpPr/>
          <p:nvPr/>
        </p:nvSpPr>
        <p:spPr>
          <a:xfrm>
            <a:off x="749808" y="5084064"/>
            <a:ext cx="256032" cy="256032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40" name="Picture 17439" descr="FINANCIAL FEASIBILITY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415" y="5141671"/>
            <a:ext cx="140817" cy="140817"/>
          </a:xfrm>
          <a:prstGeom prst="rect">
            <a:avLst/>
          </a:prstGeom>
        </p:spPr>
      </p:pic>
      <p:sp>
        <p:nvSpPr>
          <p:cNvPr id="17441" name="TextBox 17440"/>
          <p:cNvSpPr txBox="1"/>
          <p:nvPr/>
        </p:nvSpPr>
        <p:spPr>
          <a:xfrm>
            <a:off x="1078992" y="5084064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 spc="50">
                <a:solidFill>
                  <a:srgbClr val="B35A00"/>
                </a:solidFill>
                <a:latin typeface="Calibri"/>
              </a:rPr>
              <a:t>FINANCIAL FEASIBILITY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749808" y="5376672"/>
            <a:ext cx="3118104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37160" indent="-137160">
              <a:spcBef>
                <a:spcPts val="0"/>
              </a:spcBef>
              <a:spcAft>
                <a:spcPts val="200"/>
              </a:spcAft>
              <a:buClr>
                <a:srgbClr val="D9700F"/>
              </a:buClr>
              <a:buFont typeface="Arial"/>
              <a:buChar char="•"/>
            </a:pPr>
            <a:r>
              <a:rPr sz="919" b="1" i="0" lang="en-US">
                <a:solidFill>
                  <a:srgbClr val="14345C"/>
                </a:solidFill>
                <a:latin typeface="Calibri"/>
              </a:rPr>
              <a:t>₹0 Hardware Capex: </a:t>
            </a:r>
            <a:r>
              <a:rPr sz="919" b="0" i="0" lang="en-US">
                <a:solidFill>
                  <a:srgbClr val="1E2638"/>
                </a:solidFill>
                <a:latin typeface="Calibri"/>
              </a:rPr>
              <a:t>Eliminates ₹50L+ optical gimbal &amp; vacuum chambers.</a:t>
            </a:r>
          </a:p>
          <a:p>
            <a:pPr algn="l" marL="137160" indent="-137160">
              <a:spcBef>
                <a:spcPts val="0"/>
              </a:spcBef>
              <a:spcAft>
                <a:spcPts val="200"/>
              </a:spcAft>
              <a:buClr>
                <a:srgbClr val="D9700F"/>
              </a:buClr>
              <a:buFont typeface="Arial"/>
              <a:buChar char="•"/>
            </a:pPr>
            <a:r>
              <a:rPr sz="919" b="1" i="0" lang="en-US">
                <a:solidFill>
                  <a:srgbClr val="14345C"/>
                </a:solidFill>
                <a:latin typeface="Calibri"/>
              </a:rPr>
              <a:t>Open Access: </a:t>
            </a:r>
            <a:r>
              <a:rPr sz="919" b="0" i="0" lang="en-US">
                <a:solidFill>
                  <a:srgbClr val="1E2638"/>
                </a:solidFill>
                <a:latin typeface="Calibri"/>
              </a:rPr>
              <a:t>Available across Indian universities and space research labs.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4434840" y="1472184"/>
            <a:ext cx="2123968" cy="256032"/>
          </a:xfrm>
          <a:prstGeom prst="roundRect">
            <a:avLst>
              <a:gd name="adj" fmla="val 50000"/>
            </a:avLst>
          </a:prstGeom>
          <a:solidFill>
            <a:srgbClr val="E1EE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4" name="TextBox 17443"/>
          <p:cNvSpPr txBox="1"/>
          <p:nvPr/>
        </p:nvSpPr>
        <p:spPr>
          <a:xfrm>
            <a:off x="4434840" y="1472184"/>
            <a:ext cx="212396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lang="en-US" spc="80">
                <a:solidFill>
                  <a:srgbClr val="0070C0"/>
                </a:solidFill>
                <a:latin typeface="Calibri"/>
              </a:rPr>
              <a:t>VIABILITY &amp; DEPLOYMENT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4434840" y="1764792"/>
            <a:ext cx="311810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1" lang="en-US">
                <a:solidFill>
                  <a:srgbClr val="566074"/>
                </a:solidFill>
                <a:latin typeface="Calibri"/>
              </a:rPr>
              <a:t>Space Mission Fit</a:t>
            </a:r>
          </a:p>
        </p:txBody>
      </p:sp>
      <p:sp>
        <p:nvSpPr>
          <p:cNvPr id="17446" name="Oval 17445"/>
          <p:cNvSpPr/>
          <p:nvPr/>
        </p:nvSpPr>
        <p:spPr>
          <a:xfrm>
            <a:off x="4434840" y="2039112"/>
            <a:ext cx="256032" cy="256032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47" name="Picture 17446" descr="ECONOMIC DISRUPTION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2447" y="2096719"/>
            <a:ext cx="140817" cy="140817"/>
          </a:xfrm>
          <a:prstGeom prst="rect">
            <a:avLst/>
          </a:prstGeom>
        </p:spPr>
      </p:pic>
      <p:sp>
        <p:nvSpPr>
          <p:cNvPr id="17448" name="TextBox 17447"/>
          <p:cNvSpPr txBox="1"/>
          <p:nvPr/>
        </p:nvSpPr>
        <p:spPr>
          <a:xfrm>
            <a:off x="4764024" y="2039112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 spc="50">
                <a:solidFill>
                  <a:srgbClr val="B35A00"/>
                </a:solidFill>
                <a:latin typeface="Calibri"/>
              </a:rPr>
              <a:t>ECONOMIC DISRUPTION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4434840" y="2331720"/>
            <a:ext cx="3118104" cy="329184"/>
          </a:xfrm>
          <a:prstGeom prst="roundRect">
            <a:avLst>
              <a:gd name="adj" fmla="val 19444"/>
            </a:avLst>
          </a:prstGeom>
          <a:solidFill>
            <a:srgbClr val="F7E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50" name="TextBox 17449"/>
          <p:cNvSpPr txBox="1"/>
          <p:nvPr/>
        </p:nvSpPr>
        <p:spPr>
          <a:xfrm>
            <a:off x="4526279" y="2331720"/>
            <a:ext cx="1746138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0" i="0" lang="en-US">
                <a:solidFill>
                  <a:srgbClr val="566074"/>
                </a:solidFill>
                <a:latin typeface="Calibri"/>
              </a:rPr>
              <a:t>Physical FSOC Testbed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5993892" y="2331720"/>
            <a:ext cx="1496689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lang="en-US">
                <a:solidFill>
                  <a:srgbClr val="A10000"/>
                </a:solidFill>
                <a:latin typeface="Calibri"/>
              </a:rPr>
              <a:t>₹50+ Lakhs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4434840" y="2715768"/>
            <a:ext cx="3118104" cy="329184"/>
          </a:xfrm>
          <a:prstGeom prst="roundRect">
            <a:avLst>
              <a:gd name="adj" fmla="val 19444"/>
            </a:avLst>
          </a:prstGeom>
          <a:solidFill>
            <a:srgbClr val="E3F4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53" name="TextBox 17452"/>
          <p:cNvSpPr txBox="1"/>
          <p:nvPr/>
        </p:nvSpPr>
        <p:spPr>
          <a:xfrm>
            <a:off x="4526279" y="2715768"/>
            <a:ext cx="1746138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0" i="0" lang="en-US">
                <a:solidFill>
                  <a:srgbClr val="566074"/>
                </a:solidFill>
                <a:latin typeface="Calibri"/>
              </a:rPr>
              <a:t>Phoenix SIL Simulator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5993892" y="2715768"/>
            <a:ext cx="1496689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lang="en-US">
                <a:solidFill>
                  <a:srgbClr val="0A6636"/>
                </a:solidFill>
                <a:latin typeface="Calibri"/>
              </a:rPr>
              <a:t>₹0 (Open-Source)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4434840" y="3154679"/>
            <a:ext cx="3118104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lang="en-US">
                <a:solidFill>
                  <a:srgbClr val="1E2638"/>
                </a:solidFill>
                <a:latin typeface="Calibri"/>
              </a:rPr>
              <a:t>Allows parallel multi-team algorithm development without equipment bottlenecks.</a:t>
            </a:r>
          </a:p>
        </p:txBody>
      </p:sp>
      <p:sp>
        <p:nvSpPr>
          <p:cNvPr id="17456" name="Oval 17455"/>
          <p:cNvSpPr/>
          <p:nvPr/>
        </p:nvSpPr>
        <p:spPr>
          <a:xfrm>
            <a:off x="4434840" y="3611879"/>
            <a:ext cx="256032" cy="256032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57" name="Picture 17456" descr="AIR-GAPPED DATA RESILIENCE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2447" y="3669487"/>
            <a:ext cx="140817" cy="140817"/>
          </a:xfrm>
          <a:prstGeom prst="rect">
            <a:avLst/>
          </a:prstGeom>
        </p:spPr>
      </p:pic>
      <p:sp>
        <p:nvSpPr>
          <p:cNvPr id="17458" name="TextBox 17457"/>
          <p:cNvSpPr txBox="1"/>
          <p:nvPr/>
        </p:nvSpPr>
        <p:spPr>
          <a:xfrm>
            <a:off x="4764024" y="3611879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 spc="50">
                <a:solidFill>
                  <a:srgbClr val="B35A00"/>
                </a:solidFill>
                <a:latin typeface="Calibri"/>
              </a:rPr>
              <a:t>AIR-GAPPED DATA RESILIENCE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4434840" y="3904487"/>
            <a:ext cx="3118104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37160" indent="-137160">
              <a:spcBef>
                <a:spcPts val="0"/>
              </a:spcBef>
              <a:spcAft>
                <a:spcPts val="200"/>
              </a:spcAft>
              <a:buClr>
                <a:srgbClr val="D9700F"/>
              </a:buClr>
              <a:buFont typeface="Arial"/>
              <a:buChar char="•"/>
            </a:pPr>
            <a:r>
              <a:rPr sz="919" b="1" i="0" lang="en-US">
                <a:solidFill>
                  <a:srgbClr val="14345C"/>
                </a:solidFill>
                <a:latin typeface="Calibri"/>
              </a:rPr>
              <a:t>100% Offline Execution: </a:t>
            </a:r>
            <a:r>
              <a:rPr sz="919" b="0" i="0" lang="en-US">
                <a:solidFill>
                  <a:srgbClr val="1E2638"/>
                </a:solidFill>
                <a:latin typeface="Calibri"/>
              </a:rPr>
              <a:t>Zero cloud dependency; telemetry, logs, and AI weights stay local.</a:t>
            </a:r>
          </a:p>
          <a:p>
            <a:pPr algn="l" marL="137160" indent="-137160">
              <a:spcBef>
                <a:spcPts val="0"/>
              </a:spcBef>
              <a:spcAft>
                <a:spcPts val="200"/>
              </a:spcAft>
              <a:buClr>
                <a:srgbClr val="D9700F"/>
              </a:buClr>
              <a:buFont typeface="Arial"/>
              <a:buChar char="•"/>
            </a:pPr>
            <a:r>
              <a:rPr sz="919" b="0" i="0" lang="en-US">
                <a:solidFill>
                  <a:srgbClr val="1E2638"/>
                </a:solidFill>
                <a:latin typeface="Calibri"/>
              </a:rPr>
              <a:t>Meets strict DRDO/ISRO cyber-security and air-gapped lab compliance mandates.</a:t>
            </a:r>
          </a:p>
        </p:txBody>
      </p:sp>
      <p:sp>
        <p:nvSpPr>
          <p:cNvPr id="17460" name="Oval 17459"/>
          <p:cNvSpPr/>
          <p:nvPr/>
        </p:nvSpPr>
        <p:spPr>
          <a:xfrm>
            <a:off x="4434840" y="4672583"/>
            <a:ext cx="256032" cy="256032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61" name="Picture 17460" descr="SPACE AVIONICS ROADMAP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92447" y="4730191"/>
            <a:ext cx="140817" cy="140817"/>
          </a:xfrm>
          <a:prstGeom prst="rect">
            <a:avLst/>
          </a:prstGeom>
        </p:spPr>
      </p:pic>
      <p:sp>
        <p:nvSpPr>
          <p:cNvPr id="17462" name="TextBox 17461"/>
          <p:cNvSpPr txBox="1"/>
          <p:nvPr/>
        </p:nvSpPr>
        <p:spPr>
          <a:xfrm>
            <a:off x="4764024" y="4672583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 spc="50">
                <a:solidFill>
                  <a:srgbClr val="B35A00"/>
                </a:solidFill>
                <a:latin typeface="Calibri"/>
              </a:rPr>
              <a:t>SPACE AVIONICS ROADMAP</a:t>
            </a:r>
          </a:p>
        </p:txBody>
      </p:sp>
      <p:sp>
        <p:nvSpPr>
          <p:cNvPr id="17463" name="TextBox 17462"/>
          <p:cNvSpPr txBox="1"/>
          <p:nvPr/>
        </p:nvSpPr>
        <p:spPr>
          <a:xfrm>
            <a:off x="4434840" y="4965192"/>
            <a:ext cx="3118104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37160" indent="-137160">
              <a:spcBef>
                <a:spcPts val="0"/>
              </a:spcBef>
              <a:spcAft>
                <a:spcPts val="200"/>
              </a:spcAft>
              <a:buClr>
                <a:srgbClr val="D9700F"/>
              </a:buClr>
              <a:buFont typeface="Arial"/>
              <a:buChar char="•"/>
            </a:pPr>
            <a:r>
              <a:rPr sz="919" b="1" i="0" lang="en-US">
                <a:solidFill>
                  <a:srgbClr val="14345C"/>
                </a:solidFill>
                <a:latin typeface="Calibri"/>
              </a:rPr>
              <a:t>Algorithmic Flight Readiness: </a:t>
            </a:r>
            <a:r>
              <a:rPr sz="919" b="0" i="0" lang="en-US">
                <a:solidFill>
                  <a:srgbClr val="1E2638"/>
                </a:solidFill>
                <a:latin typeface="Calibri"/>
              </a:rPr>
              <a:t>Lightweight model architecture synthesizable into space-grade Xilinx Zynq UltraScale+ FPGA or Jetson Orin Nano flight computers (&lt; 15W).</a:t>
            </a:r>
          </a:p>
        </p:txBody>
      </p:sp>
      <p:sp>
        <p:nvSpPr>
          <p:cNvPr id="17464" name="Rounded Rectangle 17463"/>
          <p:cNvSpPr/>
          <p:nvPr/>
        </p:nvSpPr>
        <p:spPr>
          <a:xfrm>
            <a:off x="8119872" y="1472184"/>
            <a:ext cx="2203886" cy="256032"/>
          </a:xfrm>
          <a:prstGeom prst="roundRect">
            <a:avLst>
              <a:gd name="adj" fmla="val 50000"/>
            </a:avLst>
          </a:prstGeom>
          <a:solidFill>
            <a:srgbClr val="E1EE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65" name="TextBox 17464"/>
          <p:cNvSpPr txBox="1"/>
          <p:nvPr/>
        </p:nvSpPr>
        <p:spPr>
          <a:xfrm>
            <a:off x="8119872" y="1472184"/>
            <a:ext cx="2203886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lang="en-US" spc="80">
                <a:solidFill>
                  <a:srgbClr val="0070C0"/>
                </a:solidFill>
                <a:latin typeface="Calibri"/>
              </a:rPr>
              <a:t>CHALLENGES → STRATEGIES</a:t>
            </a:r>
          </a:p>
        </p:txBody>
      </p:sp>
      <p:sp>
        <p:nvSpPr>
          <p:cNvPr id="17466" name="TextBox 17465"/>
          <p:cNvSpPr txBox="1"/>
          <p:nvPr/>
        </p:nvSpPr>
        <p:spPr>
          <a:xfrm>
            <a:off x="8119872" y="1764792"/>
            <a:ext cx="3193999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1" lang="en-US">
                <a:solidFill>
                  <a:srgbClr val="566074"/>
                </a:solidFill>
                <a:latin typeface="Calibri"/>
              </a:rPr>
              <a:t>Engineering Risk Mitigations</a:t>
            </a:r>
          </a:p>
        </p:txBody>
      </p:sp>
      <p:sp>
        <p:nvSpPr>
          <p:cNvPr id="17467" name="Oval 17466"/>
          <p:cNvSpPr/>
          <p:nvPr/>
        </p:nvSpPr>
        <p:spPr>
          <a:xfrm>
            <a:off x="8119872" y="2020824"/>
            <a:ext cx="237744" cy="237744"/>
          </a:xfrm>
          <a:prstGeom prst="ellipse">
            <a:avLst/>
          </a:prstGeom>
          <a:solidFill>
            <a:srgbClr val="D970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68" name="TextBox 17467"/>
          <p:cNvSpPr txBox="1"/>
          <p:nvPr/>
        </p:nvSpPr>
        <p:spPr>
          <a:xfrm>
            <a:off x="8119872" y="2020824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469" name="TextBox 17468"/>
          <p:cNvSpPr txBox="1"/>
          <p:nvPr/>
        </p:nvSpPr>
        <p:spPr>
          <a:xfrm>
            <a:off x="8449056" y="2002536"/>
            <a:ext cx="2846527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40" b="1" i="0" lang="en-US">
                <a:solidFill>
                  <a:srgbClr val="14345C"/>
                </a:solidFill>
                <a:latin typeface="Calibri"/>
              </a:rPr>
              <a:t>10% Salt &amp; Pepper + Poisson Noise</a:t>
            </a:r>
          </a:p>
        </p:txBody>
      </p:sp>
      <p:sp>
        <p:nvSpPr>
          <p:cNvPr id="17470" name="TextBox 17469"/>
          <p:cNvSpPr txBox="1"/>
          <p:nvPr/>
        </p:nvSpPr>
        <p:spPr>
          <a:xfrm>
            <a:off x="8449056" y="2286000"/>
            <a:ext cx="2846527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1" i="0" lang="en-US">
                <a:solidFill>
                  <a:srgbClr val="B35A00"/>
                </a:solidFill>
                <a:latin typeface="Calibri"/>
              </a:rPr>
              <a:t>→ </a:t>
            </a:r>
            <a:r>
              <a:rPr sz="830" b="0" i="0" lang="en-US">
                <a:solidFill>
                  <a:srgbClr val="1E2638"/>
                </a:solidFill>
                <a:latin typeface="Calibri"/>
              </a:rPr>
              <a:t>Vectorized rank-order median filter strips impulsive noise in 0.8 ms before feature extraction, preventing false centroid spikes.</a:t>
            </a:r>
          </a:p>
        </p:txBody>
      </p:sp>
      <p:sp>
        <p:nvSpPr>
          <p:cNvPr id="17471" name="Oval 17470"/>
          <p:cNvSpPr/>
          <p:nvPr/>
        </p:nvSpPr>
        <p:spPr>
          <a:xfrm>
            <a:off x="8119872" y="2866644"/>
            <a:ext cx="237744" cy="237744"/>
          </a:xfrm>
          <a:prstGeom prst="ellipse">
            <a:avLst/>
          </a:prstGeom>
          <a:solidFill>
            <a:srgbClr val="D970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72" name="TextBox 17471"/>
          <p:cNvSpPr txBox="1"/>
          <p:nvPr/>
        </p:nvSpPr>
        <p:spPr>
          <a:xfrm>
            <a:off x="8119872" y="2866644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473" name="TextBox 17472"/>
          <p:cNvSpPr txBox="1"/>
          <p:nvPr/>
        </p:nvSpPr>
        <p:spPr>
          <a:xfrm>
            <a:off x="8449056" y="2848356"/>
            <a:ext cx="2846527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40" b="1" i="0" lang="en-US">
                <a:solidFill>
                  <a:srgbClr val="14345C"/>
                </a:solidFill>
                <a:latin typeface="Calibri"/>
              </a:rPr>
              <a:t>Maneuvering Lag in Figure-8 Turns</a:t>
            </a:r>
          </a:p>
        </p:txBody>
      </p:sp>
      <p:sp>
        <p:nvSpPr>
          <p:cNvPr id="17474" name="TextBox 17473"/>
          <p:cNvSpPr txBox="1"/>
          <p:nvPr/>
        </p:nvSpPr>
        <p:spPr>
          <a:xfrm>
            <a:off x="8449056" y="3131820"/>
            <a:ext cx="2846527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1" i="0" lang="en-US">
                <a:solidFill>
                  <a:srgbClr val="B35A00"/>
                </a:solidFill>
                <a:latin typeface="Calibri"/>
              </a:rPr>
              <a:t>→ </a:t>
            </a:r>
            <a:r>
              <a:rPr sz="830" b="0" i="0" lang="en-US">
                <a:solidFill>
                  <a:srgbClr val="1E2638"/>
                </a:solidFill>
                <a:latin typeface="Calibri"/>
              </a:rPr>
              <a:t>IMM multi-hypothesis Kalman filter automatically transitions between Constant Velocity &amp; Coordinated Turn models, eliminating turn lag.</a:t>
            </a:r>
          </a:p>
        </p:txBody>
      </p:sp>
      <p:sp>
        <p:nvSpPr>
          <p:cNvPr id="17475" name="Oval 17474"/>
          <p:cNvSpPr/>
          <p:nvPr/>
        </p:nvSpPr>
        <p:spPr>
          <a:xfrm>
            <a:off x="8119872" y="3712464"/>
            <a:ext cx="237744" cy="237744"/>
          </a:xfrm>
          <a:prstGeom prst="ellipse">
            <a:avLst/>
          </a:prstGeom>
          <a:solidFill>
            <a:srgbClr val="D970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76" name="TextBox 17475"/>
          <p:cNvSpPr txBox="1"/>
          <p:nvPr/>
        </p:nvSpPr>
        <p:spPr>
          <a:xfrm>
            <a:off x="8119872" y="3712464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477" name="TextBox 17476"/>
          <p:cNvSpPr txBox="1"/>
          <p:nvPr/>
        </p:nvSpPr>
        <p:spPr>
          <a:xfrm>
            <a:off x="8449056" y="3694176"/>
            <a:ext cx="2846527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40" b="1" i="0" lang="en-US">
                <a:solidFill>
                  <a:srgbClr val="14345C"/>
                </a:solidFill>
                <a:latin typeface="Calibri"/>
              </a:rPr>
              <a:t>Gimbal Slew Constraints (5-10°/s)</a:t>
            </a:r>
          </a:p>
        </p:txBody>
      </p:sp>
      <p:sp>
        <p:nvSpPr>
          <p:cNvPr id="17478" name="TextBox 17477"/>
          <p:cNvSpPr txBox="1"/>
          <p:nvPr/>
        </p:nvSpPr>
        <p:spPr>
          <a:xfrm>
            <a:off x="8449056" y="3977640"/>
            <a:ext cx="2846527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1" i="0" lang="en-US">
                <a:solidFill>
                  <a:srgbClr val="B35A00"/>
                </a:solidFill>
                <a:latin typeface="Calibri"/>
              </a:rPr>
              <a:t>→ </a:t>
            </a:r>
            <a:r>
              <a:rPr sz="830" b="0" i="0" lang="en-US">
                <a:solidFill>
                  <a:srgbClr val="1E2638"/>
                </a:solidFill>
                <a:latin typeface="Calibri"/>
              </a:rPr>
              <a:t>Clamped S-curve velocity profiler prevents instantaneous viewport teleportation; models physical motor inertia and servo acceleration limits.</a:t>
            </a:r>
          </a:p>
        </p:txBody>
      </p:sp>
      <p:sp>
        <p:nvSpPr>
          <p:cNvPr id="17479" name="Oval 17478"/>
          <p:cNvSpPr/>
          <p:nvPr/>
        </p:nvSpPr>
        <p:spPr>
          <a:xfrm>
            <a:off x="8119872" y="4558284"/>
            <a:ext cx="237744" cy="237744"/>
          </a:xfrm>
          <a:prstGeom prst="ellipse">
            <a:avLst/>
          </a:prstGeom>
          <a:solidFill>
            <a:srgbClr val="D970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80" name="TextBox 17479"/>
          <p:cNvSpPr txBox="1"/>
          <p:nvPr/>
        </p:nvSpPr>
        <p:spPr>
          <a:xfrm>
            <a:off x="8119872" y="4558284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481" name="TextBox 17480"/>
          <p:cNvSpPr txBox="1"/>
          <p:nvPr/>
        </p:nvSpPr>
        <p:spPr>
          <a:xfrm>
            <a:off x="8449056" y="4539996"/>
            <a:ext cx="2846527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40" b="1" i="0" lang="en-US">
                <a:solidFill>
                  <a:srgbClr val="14345C"/>
                </a:solidFill>
                <a:latin typeface="Calibri"/>
              </a:rPr>
              <a:t>Low-Contrast Beacon in Dense Fog</a:t>
            </a:r>
          </a:p>
        </p:txBody>
      </p:sp>
      <p:sp>
        <p:nvSpPr>
          <p:cNvPr id="17482" name="TextBox 17481"/>
          <p:cNvSpPr txBox="1"/>
          <p:nvPr/>
        </p:nvSpPr>
        <p:spPr>
          <a:xfrm>
            <a:off x="8449056" y="4823460"/>
            <a:ext cx="2846527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1" i="0" lang="en-US">
                <a:solidFill>
                  <a:srgbClr val="B35A00"/>
                </a:solidFill>
                <a:latin typeface="Calibri"/>
              </a:rPr>
              <a:t>→ </a:t>
            </a:r>
            <a:r>
              <a:rPr sz="830" b="0" i="0" lang="en-US">
                <a:solidFill>
                  <a:srgbClr val="1E2638"/>
                </a:solidFill>
                <a:latin typeface="Calibri"/>
              </a:rPr>
              <a:t>Deep saliency heatmap proposal fuses spatial gradients to isolate faint beacon spots even at negative optical SNRs under Beer-Lambert scattering.</a:t>
            </a:r>
          </a:p>
        </p:txBody>
      </p:sp>
      <p:sp>
        <p:nvSpPr>
          <p:cNvPr id="17483" name="Oval 17482"/>
          <p:cNvSpPr/>
          <p:nvPr/>
        </p:nvSpPr>
        <p:spPr>
          <a:xfrm>
            <a:off x="8119872" y="5404104"/>
            <a:ext cx="237744" cy="237744"/>
          </a:xfrm>
          <a:prstGeom prst="ellipse">
            <a:avLst/>
          </a:prstGeom>
          <a:solidFill>
            <a:srgbClr val="D970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84" name="TextBox 17483"/>
          <p:cNvSpPr txBox="1"/>
          <p:nvPr/>
        </p:nvSpPr>
        <p:spPr>
          <a:xfrm>
            <a:off x="8119872" y="5404104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485" name="TextBox 17484"/>
          <p:cNvSpPr txBox="1"/>
          <p:nvPr/>
        </p:nvSpPr>
        <p:spPr>
          <a:xfrm>
            <a:off x="8449056" y="5385816"/>
            <a:ext cx="2846527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40" b="1" i="0" lang="en-US">
                <a:solidFill>
                  <a:srgbClr val="14345C"/>
                </a:solidFill>
                <a:latin typeface="Calibri"/>
              </a:rPr>
              <a:t>GUI Paint Lag Bottleneck</a:t>
            </a:r>
          </a:p>
        </p:txBody>
      </p:sp>
      <p:sp>
        <p:nvSpPr>
          <p:cNvPr id="17486" name="TextBox 17485"/>
          <p:cNvSpPr txBox="1"/>
          <p:nvPr/>
        </p:nvSpPr>
        <p:spPr>
          <a:xfrm>
            <a:off x="8449056" y="5669280"/>
            <a:ext cx="2846527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1" i="0" lang="en-US">
                <a:solidFill>
                  <a:srgbClr val="B35A00"/>
                </a:solidFill>
                <a:latin typeface="Calibri"/>
              </a:rPr>
              <a:t>→ </a:t>
            </a:r>
            <a:r>
              <a:rPr sz="830" b="0" i="0" lang="en-US">
                <a:solidFill>
                  <a:srgbClr val="1E2638"/>
                </a:solidFill>
                <a:latin typeface="Calibri"/>
              </a:rPr>
              <a:t>Double-buffered QThread decoupling: background vision worker runs strictly at 30 Hz without blocking the 60 Hz Qt rendering event loop.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Times New Roman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5448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sz="1300"/>
              <a:t>Phoenix 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2057400" y="914400"/>
            <a:ext cx="9418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C757D"/>
                </a:solidFill>
                <a:latin typeface="Arial"/>
              </a:defRPr>
            </a:pPr>
            <a:r>
              <a:rPr sz="1000">
                <a:solidFill>
                  <a:srgbClr val="566074"/>
                </a:solidFill>
              </a:rPr>
              <a:t>PROJECT PHOENIX: AI-Based Virtual Camera Tracking for Mobile FSOC  |  SIH26169 (ISRO / SAC)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48640" y="1325880"/>
            <a:ext cx="2627528" cy="2514600"/>
          </a:xfrm>
          <a:prstGeom prst="roundRect">
            <a:avLst>
              <a:gd name="adj" fmla="val 4363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13" name="Oval 17412"/>
          <p:cNvSpPr/>
          <p:nvPr/>
        </p:nvSpPr>
        <p:spPr>
          <a:xfrm>
            <a:off x="731520" y="1490472"/>
            <a:ext cx="420624" cy="420624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14" name="Picture 17413" descr="ISRO / SAC FLIGHT TEAMS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" y="1595628"/>
            <a:ext cx="210312" cy="210312"/>
          </a:xfrm>
          <a:prstGeom prst="rect">
            <a:avLst/>
          </a:prstGeom>
        </p:spPr>
      </p:pic>
      <p:sp>
        <p:nvSpPr>
          <p:cNvPr id="17415" name="TextBox 17414"/>
          <p:cNvSpPr txBox="1"/>
          <p:nvPr/>
        </p:nvSpPr>
        <p:spPr>
          <a:xfrm>
            <a:off x="1243584" y="1490472"/>
            <a:ext cx="1804568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80" b="1" i="0" lang="en-US" spc="20">
                <a:solidFill>
                  <a:srgbClr val="14345C"/>
                </a:solidFill>
                <a:latin typeface="Calibri"/>
              </a:rPr>
              <a:t>ISRO / SAC FLIGHT TEAMS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731520" y="2075688"/>
            <a:ext cx="2280056" cy="1636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37160" indent="-137160">
              <a:spcBef>
                <a:spcPts val="0"/>
              </a:spcBef>
              <a:spcAft>
                <a:spcPts val="400"/>
              </a:spcAft>
              <a:buClr>
                <a:srgbClr val="D9700F"/>
              </a:buClr>
              <a:buFont typeface="Arial"/>
              <a:buChar char="•"/>
            </a:pPr>
            <a:r>
              <a:rPr sz="930" b="1" i="0" lang="en-US">
                <a:solidFill>
                  <a:srgbClr val="14345C"/>
                </a:solidFill>
                <a:latin typeface="Calibri"/>
              </a:rPr>
              <a:t>Accelerated Development: </a:t>
            </a:r>
            <a:r>
              <a:rPr sz="930" b="0" i="0" lang="en-US">
                <a:solidFill>
                  <a:srgbClr val="1E2638"/>
                </a:solidFill>
                <a:latin typeface="Calibri"/>
              </a:rPr>
              <a:t>Cuts PAT validation cycles from 6 months to 48 hours.</a:t>
            </a:r>
          </a:p>
          <a:p>
            <a:pPr algn="l" marL="137160" indent="-137160">
              <a:spcBef>
                <a:spcPts val="0"/>
              </a:spcBef>
              <a:spcAft>
                <a:spcPts val="400"/>
              </a:spcAft>
              <a:buClr>
                <a:srgbClr val="D9700F"/>
              </a:buClr>
              <a:buFont typeface="Arial"/>
              <a:buChar char="•"/>
            </a:pPr>
            <a:r>
              <a:rPr sz="930" b="1" i="0" lang="en-US">
                <a:solidFill>
                  <a:srgbClr val="14345C"/>
                </a:solidFill>
                <a:latin typeface="Calibri"/>
              </a:rPr>
              <a:t>Risk-Free Validation: </a:t>
            </a:r>
            <a:r>
              <a:rPr sz="930" b="0" i="0" lang="en-US">
                <a:solidFill>
                  <a:srgbClr val="1E2638"/>
                </a:solidFill>
                <a:latin typeface="Calibri"/>
              </a:rPr>
              <a:t>Verifies coarse tracking algorithms prior to hardware fabrication.</a:t>
            </a:r>
          </a:p>
          <a:p>
            <a:pPr algn="l" marL="137160" indent="-137160">
              <a:spcBef>
                <a:spcPts val="0"/>
              </a:spcBef>
              <a:spcAft>
                <a:spcPts val="400"/>
              </a:spcAft>
              <a:buClr>
                <a:srgbClr val="D9700F"/>
              </a:buClr>
              <a:buFont typeface="Arial"/>
              <a:buChar char="•"/>
            </a:pPr>
            <a:r>
              <a:rPr sz="930" b="1" i="0" lang="en-US">
                <a:solidFill>
                  <a:srgbClr val="14345C"/>
                </a:solidFill>
                <a:latin typeface="Calibri"/>
              </a:rPr>
              <a:t>Automated Logging: </a:t>
            </a:r>
            <a:r>
              <a:rPr sz="930" b="0" i="0" lang="en-US">
                <a:solidFill>
                  <a:srgbClr val="1E2638"/>
                </a:solidFill>
                <a:latin typeface="Calibri"/>
              </a:rPr>
              <a:t>Produces standardized timestamped error audits matching ISRO criteria.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3370935" y="1325880"/>
            <a:ext cx="2627528" cy="2514600"/>
          </a:xfrm>
          <a:prstGeom prst="roundRect">
            <a:avLst>
              <a:gd name="adj" fmla="val 4363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18" name="Oval 17417"/>
          <p:cNvSpPr/>
          <p:nvPr/>
        </p:nvSpPr>
        <p:spPr>
          <a:xfrm>
            <a:off x="3553815" y="1490472"/>
            <a:ext cx="420624" cy="420624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19" name="Picture 17418" descr="NATIONAL SPACE DEFENS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8971" y="1595628"/>
            <a:ext cx="210312" cy="210312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4065879" y="1490472"/>
            <a:ext cx="1804568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80" b="1" i="0" lang="en-US" spc="20">
                <a:solidFill>
                  <a:srgbClr val="14345C"/>
                </a:solidFill>
                <a:latin typeface="Calibri"/>
              </a:rPr>
              <a:t>NATIONAL SPACE DEFENSE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3553815" y="2075688"/>
            <a:ext cx="2280056" cy="1636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37160" indent="-137160">
              <a:spcBef>
                <a:spcPts val="0"/>
              </a:spcBef>
              <a:spcAft>
                <a:spcPts val="400"/>
              </a:spcAft>
              <a:buClr>
                <a:srgbClr val="D9700F"/>
              </a:buClr>
              <a:buFont typeface="Arial"/>
              <a:buChar char="•"/>
            </a:pPr>
            <a:r>
              <a:rPr sz="930" b="1" i="0" lang="en-US">
                <a:solidFill>
                  <a:srgbClr val="14345C"/>
                </a:solidFill>
                <a:latin typeface="Calibri"/>
              </a:rPr>
              <a:t>Jam-Proof Comms: </a:t>
            </a:r>
            <a:r>
              <a:rPr sz="930" b="0" i="0" lang="en-US">
                <a:solidFill>
                  <a:srgbClr val="1E2638"/>
                </a:solidFill>
                <a:latin typeface="Calibri"/>
              </a:rPr>
              <a:t>Accelerates deployment of high-throughput optical links immune to RF EW.</a:t>
            </a:r>
          </a:p>
          <a:p>
            <a:pPr algn="l" marL="137160" indent="-137160">
              <a:spcBef>
                <a:spcPts val="0"/>
              </a:spcBef>
              <a:spcAft>
                <a:spcPts val="400"/>
              </a:spcAft>
              <a:buClr>
                <a:srgbClr val="D9700F"/>
              </a:buClr>
              <a:buFont typeface="Arial"/>
              <a:buChar char="•"/>
            </a:pPr>
            <a:r>
              <a:rPr sz="930" b="1" i="0" lang="en-US">
                <a:solidFill>
                  <a:srgbClr val="14345C"/>
                </a:solidFill>
                <a:latin typeface="Calibri"/>
              </a:rPr>
              <a:t>QKD Readiness: </a:t>
            </a:r>
            <a:r>
              <a:rPr sz="930" b="0" i="0" lang="en-US">
                <a:solidFill>
                  <a:srgbClr val="1E2638"/>
                </a:solidFill>
                <a:latin typeface="Calibri"/>
              </a:rPr>
              <a:t>Coarse tracking foundation for satellite Quantum Key Distribution meshes.</a:t>
            </a:r>
          </a:p>
          <a:p>
            <a:pPr algn="l" marL="137160" indent="-137160">
              <a:spcBef>
                <a:spcPts val="0"/>
              </a:spcBef>
              <a:spcAft>
                <a:spcPts val="400"/>
              </a:spcAft>
              <a:buClr>
                <a:srgbClr val="D9700F"/>
              </a:buClr>
              <a:buFont typeface="Arial"/>
              <a:buChar char="•"/>
            </a:pPr>
            <a:r>
              <a:rPr sz="930" b="1" i="0" lang="en-US">
                <a:solidFill>
                  <a:srgbClr val="14345C"/>
                </a:solidFill>
                <a:latin typeface="Calibri"/>
              </a:rPr>
              <a:t>Airborne FSOC: </a:t>
            </a:r>
            <a:r>
              <a:rPr sz="930" b="0" i="0" lang="en-US">
                <a:solidFill>
                  <a:srgbClr val="1E2638"/>
                </a:solidFill>
                <a:latin typeface="Calibri"/>
              </a:rPr>
              <a:t>Supports UAV-to-ground high-bandwidth disaster and defense links.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6193231" y="1325880"/>
            <a:ext cx="2627528" cy="2514600"/>
          </a:xfrm>
          <a:prstGeom prst="roundRect">
            <a:avLst>
              <a:gd name="adj" fmla="val 4363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23" name="Oval 17422"/>
          <p:cNvSpPr/>
          <p:nvPr/>
        </p:nvSpPr>
        <p:spPr>
          <a:xfrm>
            <a:off x="6376111" y="1490472"/>
            <a:ext cx="420624" cy="420624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24" name="Picture 17423" descr="DEEP SPACE &amp; OISL MISSIONS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1267" y="1595628"/>
            <a:ext cx="210312" cy="210312"/>
          </a:xfrm>
          <a:prstGeom prst="rect">
            <a:avLst/>
          </a:prstGeom>
        </p:spPr>
      </p:pic>
      <p:sp>
        <p:nvSpPr>
          <p:cNvPr id="17425" name="TextBox 17424"/>
          <p:cNvSpPr txBox="1"/>
          <p:nvPr/>
        </p:nvSpPr>
        <p:spPr>
          <a:xfrm>
            <a:off x="6888175" y="1490472"/>
            <a:ext cx="1804568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80" b="1" i="0" lang="en-US" spc="20">
                <a:solidFill>
                  <a:srgbClr val="14345C"/>
                </a:solidFill>
                <a:latin typeface="Calibri"/>
              </a:rPr>
              <a:t>DEEP SPACE &amp; OISL MISSIONS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6376111" y="2075688"/>
            <a:ext cx="2280056" cy="1636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37160" indent="-137160">
              <a:spcBef>
                <a:spcPts val="0"/>
              </a:spcBef>
              <a:spcAft>
                <a:spcPts val="400"/>
              </a:spcAft>
              <a:buClr>
                <a:srgbClr val="D9700F"/>
              </a:buClr>
              <a:buFont typeface="Arial"/>
              <a:buChar char="•"/>
            </a:pPr>
            <a:r>
              <a:rPr sz="930" b="1" i="0" lang="en-US">
                <a:solidFill>
                  <a:srgbClr val="14345C"/>
                </a:solidFill>
                <a:latin typeface="Calibri"/>
              </a:rPr>
              <a:t>Inter-Satellite Crosslinks: </a:t>
            </a:r>
            <a:r>
              <a:rPr sz="930" b="0" i="0" lang="en-US">
                <a:solidFill>
                  <a:srgbClr val="1E2638"/>
                </a:solidFill>
                <a:latin typeface="Calibri"/>
              </a:rPr>
              <a:t>Establishes tracking algorithms for LEO mega-constellations.</a:t>
            </a:r>
          </a:p>
          <a:p>
            <a:pPr algn="l" marL="137160" indent="-137160">
              <a:spcBef>
                <a:spcPts val="0"/>
              </a:spcBef>
              <a:spcAft>
                <a:spcPts val="400"/>
              </a:spcAft>
              <a:buClr>
                <a:srgbClr val="D9700F"/>
              </a:buClr>
              <a:buFont typeface="Arial"/>
              <a:buChar char="•"/>
            </a:pPr>
            <a:r>
              <a:rPr sz="930" b="1" i="0" lang="en-US">
                <a:solidFill>
                  <a:srgbClr val="14345C"/>
                </a:solidFill>
                <a:latin typeface="Calibri"/>
              </a:rPr>
              <a:t>Lunar &amp; Planetary Probes: </a:t>
            </a:r>
            <a:r>
              <a:rPr sz="930" b="0" i="0" lang="en-US">
                <a:solidFill>
                  <a:srgbClr val="1E2638"/>
                </a:solidFill>
                <a:latin typeface="Calibri"/>
              </a:rPr>
              <a:t>Validates coarse alignment for deep-space laser transceivers.</a:t>
            </a:r>
          </a:p>
          <a:p>
            <a:pPr algn="l" marL="137160" indent="-137160">
              <a:spcBef>
                <a:spcPts val="0"/>
              </a:spcBef>
              <a:spcAft>
                <a:spcPts val="400"/>
              </a:spcAft>
              <a:buClr>
                <a:srgbClr val="D9700F"/>
              </a:buClr>
              <a:buFont typeface="Arial"/>
              <a:buChar char="•"/>
            </a:pPr>
            <a:r>
              <a:rPr sz="930" b="1" i="0" lang="en-US">
                <a:solidFill>
                  <a:srgbClr val="14345C"/>
                </a:solidFill>
                <a:latin typeface="Calibri"/>
              </a:rPr>
              <a:t>Adaptive Simulation: </a:t>
            </a:r>
            <a:r>
              <a:rPr sz="930" b="0" i="0" lang="en-US">
                <a:solidFill>
                  <a:srgbClr val="1E2638"/>
                </a:solidFill>
                <a:latin typeface="Calibri"/>
              </a:rPr>
              <a:t>Models dynamic space scintillation and reaction-wheel jitter.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9015526" y="1325880"/>
            <a:ext cx="2627528" cy="2514600"/>
          </a:xfrm>
          <a:prstGeom prst="roundRect">
            <a:avLst>
              <a:gd name="adj" fmla="val 4363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28" name="Oval 17427"/>
          <p:cNvSpPr/>
          <p:nvPr/>
        </p:nvSpPr>
        <p:spPr>
          <a:xfrm>
            <a:off x="9198406" y="1490472"/>
            <a:ext cx="420624" cy="420624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29" name="Picture 17428" descr="INDIAN ACADEMIA &amp; STARTUPS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3562" y="1595628"/>
            <a:ext cx="210312" cy="210312"/>
          </a:xfrm>
          <a:prstGeom prst="rect">
            <a:avLst/>
          </a:prstGeom>
        </p:spPr>
      </p:pic>
      <p:sp>
        <p:nvSpPr>
          <p:cNvPr id="17430" name="TextBox 17429"/>
          <p:cNvSpPr txBox="1"/>
          <p:nvPr/>
        </p:nvSpPr>
        <p:spPr>
          <a:xfrm>
            <a:off x="9710470" y="1490472"/>
            <a:ext cx="1804568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80" b="1" i="0" lang="en-US" spc="20">
                <a:solidFill>
                  <a:srgbClr val="14345C"/>
                </a:solidFill>
                <a:latin typeface="Calibri"/>
              </a:rPr>
              <a:t>INDIAN ACADEMIA &amp; STARTUPS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9198406" y="2075688"/>
            <a:ext cx="2280056" cy="1636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37160" indent="-137160">
              <a:spcBef>
                <a:spcPts val="0"/>
              </a:spcBef>
              <a:spcAft>
                <a:spcPts val="400"/>
              </a:spcAft>
              <a:buClr>
                <a:srgbClr val="D9700F"/>
              </a:buClr>
              <a:buFont typeface="Arial"/>
              <a:buChar char="•"/>
            </a:pPr>
            <a:r>
              <a:rPr sz="930" b="1" i="0" lang="en-US">
                <a:solidFill>
                  <a:srgbClr val="14345C"/>
                </a:solidFill>
                <a:latin typeface="Calibri"/>
              </a:rPr>
              <a:t>Democratized Research: </a:t>
            </a:r>
            <a:r>
              <a:rPr sz="930" b="0" i="0" lang="en-US">
                <a:solidFill>
                  <a:srgbClr val="1E2638"/>
                </a:solidFill>
                <a:latin typeface="Calibri"/>
              </a:rPr>
              <a:t>Zero-Capex platform enables university labs to design FSOC algorithms.</a:t>
            </a:r>
          </a:p>
          <a:p>
            <a:pPr algn="l" marL="137160" indent="-137160">
              <a:spcBef>
                <a:spcPts val="0"/>
              </a:spcBef>
              <a:spcAft>
                <a:spcPts val="400"/>
              </a:spcAft>
              <a:buClr>
                <a:srgbClr val="D9700F"/>
              </a:buClr>
              <a:buFont typeface="Arial"/>
              <a:buChar char="•"/>
            </a:pPr>
            <a:r>
              <a:rPr sz="930" b="1" i="0" lang="en-US">
                <a:solidFill>
                  <a:srgbClr val="14345C"/>
                </a:solidFill>
                <a:latin typeface="Calibri"/>
              </a:rPr>
              <a:t>Repeatable Benchmarking: </a:t>
            </a:r>
            <a:r>
              <a:rPr sz="930" b="0" i="0" lang="en-US">
                <a:solidFill>
                  <a:srgbClr val="1E2638"/>
                </a:solidFill>
                <a:latin typeface="Calibri"/>
              </a:rPr>
              <a:t>Standardized testbed lowers barrier of entry for spacetech startups.</a:t>
            </a:r>
          </a:p>
          <a:p>
            <a:pPr algn="l" marL="137160" indent="-137160">
              <a:spcBef>
                <a:spcPts val="0"/>
              </a:spcBef>
              <a:spcAft>
                <a:spcPts val="400"/>
              </a:spcAft>
              <a:buClr>
                <a:srgbClr val="D9700F"/>
              </a:buClr>
              <a:buFont typeface="Arial"/>
              <a:buChar char="•"/>
            </a:pPr>
            <a:r>
              <a:rPr sz="930" b="1" i="0" lang="en-US">
                <a:solidFill>
                  <a:srgbClr val="14345C"/>
                </a:solidFill>
                <a:latin typeface="Calibri"/>
              </a:rPr>
              <a:t>Open Standards: </a:t>
            </a:r>
            <a:r>
              <a:rPr sz="930" b="0" i="0" lang="en-US">
                <a:solidFill>
                  <a:srgbClr val="1E2638"/>
                </a:solidFill>
                <a:latin typeface="Calibri"/>
              </a:rPr>
              <a:t>Clean modular codebase fostering indigenous space-comms innovation.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548640" y="3977640"/>
            <a:ext cx="11094415" cy="2285999"/>
          </a:xfrm>
          <a:prstGeom prst="roundRect">
            <a:avLst>
              <a:gd name="adj" fmla="val 4800"/>
            </a:avLst>
          </a:prstGeom>
          <a:solidFill>
            <a:srgbClr val="14345C"/>
          </a:solidFill>
          <a:ln w="9525">
            <a:solidFill>
              <a:srgbClr val="14345C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33" name="Rounded Rectangle 17432"/>
          <p:cNvSpPr/>
          <p:nvPr/>
        </p:nvSpPr>
        <p:spPr>
          <a:xfrm>
            <a:off x="749808" y="4096512"/>
            <a:ext cx="5320710" cy="256032"/>
          </a:xfrm>
          <a:prstGeom prst="roundRect">
            <a:avLst>
              <a:gd name="adj" fmla="val 50000"/>
            </a:avLst>
          </a:prstGeom>
          <a:solidFill>
            <a:srgbClr val="F084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34" name="TextBox 17433"/>
          <p:cNvSpPr txBox="1"/>
          <p:nvPr/>
        </p:nvSpPr>
        <p:spPr>
          <a:xfrm>
            <a:off x="749808" y="4096512"/>
            <a:ext cx="532071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lang="en-US" spc="80">
                <a:solidFill>
                  <a:srgbClr val="14345C"/>
                </a:solidFill>
                <a:latin typeface="Calibri"/>
              </a:rPr>
              <a:t>PHOENIX IMPACT PIPELINE — MEASURABLE PERFORMANCE BREAKTHROUGHS</a:t>
            </a:r>
          </a:p>
        </p:txBody>
      </p:sp>
      <p:sp>
        <p:nvSpPr>
          <p:cNvPr id="17435" name="Pentagon 17434"/>
          <p:cNvSpPr/>
          <p:nvPr/>
        </p:nvSpPr>
        <p:spPr>
          <a:xfrm>
            <a:off x="749808" y="4453128"/>
            <a:ext cx="2036003" cy="365760"/>
          </a:xfrm>
          <a:prstGeom prst="homePlate">
            <a:avLst>
              <a:gd name="adj" fmla="val 30000"/>
            </a:avLst>
          </a:prstGeom>
          <a:solidFill>
            <a:srgbClr val="1E4A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36" name="TextBox 17435"/>
          <p:cNvSpPr txBox="1"/>
          <p:nvPr/>
        </p:nvSpPr>
        <p:spPr>
          <a:xfrm>
            <a:off x="822959" y="4453128"/>
            <a:ext cx="1761683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>
                <a:solidFill>
                  <a:srgbClr val="FFFFFF"/>
                </a:solidFill>
                <a:latin typeface="Calibri"/>
              </a:rPr>
              <a:t>1  DEPLOY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786384" y="4873752"/>
            <a:ext cx="1962851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en-US">
                <a:solidFill>
                  <a:srgbClr val="FFB35C"/>
                </a:solidFill>
                <a:latin typeface="Calibri"/>
              </a:rPr>
              <a:t>Zero-Install Runtime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786384" y="5111496"/>
            <a:ext cx="1962851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40" b="0" i="0" lang="en-US">
                <a:solidFill>
                  <a:srgbClr val="E4ECF7"/>
                </a:solidFill>
                <a:latin typeface="Calibri"/>
              </a:rPr>
              <a:t>Standalone cross-platform executable starts in &lt; 30 seconds with zero hardware prerequisites.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749808" y="5788152"/>
            <a:ext cx="2017715" cy="475488"/>
          </a:xfrm>
          <a:prstGeom prst="roundRect">
            <a:avLst>
              <a:gd name="adj" fmla="val 15384"/>
            </a:avLst>
          </a:prstGeom>
          <a:solidFill>
            <a:srgbClr val="1E4A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0" name="TextBox 17439"/>
          <p:cNvSpPr txBox="1"/>
          <p:nvPr/>
        </p:nvSpPr>
        <p:spPr>
          <a:xfrm>
            <a:off x="749808" y="5806440"/>
            <a:ext cx="2017715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lang="en-US">
                <a:solidFill>
                  <a:srgbClr val="F08418"/>
                </a:solidFill>
                <a:latin typeface="Calibri"/>
              </a:rPr>
              <a:t>100% Offline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749808" y="6062472"/>
            <a:ext cx="2017715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80" b="0" i="0" lang="en-US">
                <a:solidFill>
                  <a:srgbClr val="B9C7DE"/>
                </a:solidFill>
                <a:latin typeface="Calibri"/>
              </a:rPr>
              <a:t>Zero setup time</a:t>
            </a:r>
          </a:p>
        </p:txBody>
      </p:sp>
      <p:sp>
        <p:nvSpPr>
          <p:cNvPr id="17442" name="Pentagon 17441"/>
          <p:cNvSpPr/>
          <p:nvPr/>
        </p:nvSpPr>
        <p:spPr>
          <a:xfrm>
            <a:off x="2913827" y="4453128"/>
            <a:ext cx="2036003" cy="365760"/>
          </a:xfrm>
          <a:prstGeom prst="homePlate">
            <a:avLst>
              <a:gd name="adj" fmla="val 30000"/>
            </a:avLst>
          </a:prstGeom>
          <a:solidFill>
            <a:srgbClr val="1E4A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3" name="TextBox 17442"/>
          <p:cNvSpPr txBox="1"/>
          <p:nvPr/>
        </p:nvSpPr>
        <p:spPr>
          <a:xfrm>
            <a:off x="2986979" y="4453128"/>
            <a:ext cx="1761683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>
                <a:solidFill>
                  <a:srgbClr val="FFFFFF"/>
                </a:solidFill>
                <a:latin typeface="Calibri"/>
              </a:rPr>
              <a:t>2  SIMULATE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2950403" y="4873752"/>
            <a:ext cx="1962851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en-US">
                <a:solidFill>
                  <a:srgbClr val="FFB35C"/>
                </a:solidFill>
                <a:latin typeface="Calibri"/>
              </a:rPr>
              <a:t>Multi-Disturbance Scaling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2950403" y="5111496"/>
            <a:ext cx="1962851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40" b="0" i="0" lang="en-US">
                <a:solidFill>
                  <a:srgbClr val="E4ECF7"/>
                </a:solidFill>
                <a:latin typeface="Calibri"/>
              </a:rPr>
              <a:t>Generates a 2000x2000 universe with 10% S&amp;P noise, Beer-Lambert fog, and ±20 px platform jitter.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2913827" y="5788152"/>
            <a:ext cx="2017715" cy="475488"/>
          </a:xfrm>
          <a:prstGeom prst="roundRect">
            <a:avLst>
              <a:gd name="adj" fmla="val 15384"/>
            </a:avLst>
          </a:prstGeom>
          <a:solidFill>
            <a:srgbClr val="1E4A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7" name="TextBox 17446"/>
          <p:cNvSpPr txBox="1"/>
          <p:nvPr/>
        </p:nvSpPr>
        <p:spPr>
          <a:xfrm>
            <a:off x="2913827" y="5806440"/>
            <a:ext cx="2017715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lang="en-US">
                <a:solidFill>
                  <a:srgbClr val="F08418"/>
                </a:solidFill>
                <a:latin typeface="Calibri"/>
              </a:rPr>
              <a:t>Deterministic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2913827" y="6062472"/>
            <a:ext cx="2017715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80" b="0" i="0" lang="en-US">
                <a:solidFill>
                  <a:srgbClr val="B9C7DE"/>
                </a:solidFill>
                <a:latin typeface="Calibri"/>
              </a:rPr>
              <a:t>30 Hz loop</a:t>
            </a:r>
          </a:p>
        </p:txBody>
      </p:sp>
      <p:sp>
        <p:nvSpPr>
          <p:cNvPr id="17449" name="Pentagon 17448"/>
          <p:cNvSpPr/>
          <p:nvPr/>
        </p:nvSpPr>
        <p:spPr>
          <a:xfrm>
            <a:off x="5077846" y="4453128"/>
            <a:ext cx="2036003" cy="365760"/>
          </a:xfrm>
          <a:prstGeom prst="homePlate">
            <a:avLst>
              <a:gd name="adj" fmla="val 30000"/>
            </a:avLst>
          </a:prstGeom>
          <a:solidFill>
            <a:srgbClr val="1E4A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50" name="TextBox 17449"/>
          <p:cNvSpPr txBox="1"/>
          <p:nvPr/>
        </p:nvSpPr>
        <p:spPr>
          <a:xfrm>
            <a:off x="5150998" y="4453128"/>
            <a:ext cx="1761683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>
                <a:solidFill>
                  <a:srgbClr val="FFFFFF"/>
                </a:solidFill>
                <a:latin typeface="Calibri"/>
              </a:rPr>
              <a:t>3  ACQUIRE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5114422" y="4873752"/>
            <a:ext cx="1962851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en-US">
                <a:solidFill>
                  <a:srgbClr val="FFB35C"/>
                </a:solidFill>
                <a:latin typeface="Calibri"/>
              </a:rPr>
              <a:t>Instant Lock Acquisition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5114422" y="5111496"/>
            <a:ext cx="1962851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40" b="0" i="0" lang="en-US">
                <a:solidFill>
                  <a:srgbClr val="E4ECF7"/>
                </a:solidFill>
                <a:latin typeface="Calibri"/>
              </a:rPr>
              <a:t>Autonomous beacon acquisition in ≤ 0.8 s, beating ISRO's ≤ 2.0 s mandate by &gt;60%.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5077846" y="5788152"/>
            <a:ext cx="2017715" cy="475488"/>
          </a:xfrm>
          <a:prstGeom prst="roundRect">
            <a:avLst>
              <a:gd name="adj" fmla="val 15384"/>
            </a:avLst>
          </a:prstGeom>
          <a:solidFill>
            <a:srgbClr val="1E4A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54" name="TextBox 17453"/>
          <p:cNvSpPr txBox="1"/>
          <p:nvPr/>
        </p:nvSpPr>
        <p:spPr>
          <a:xfrm>
            <a:off x="5077846" y="5806440"/>
            <a:ext cx="2017715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lang="en-US">
                <a:solidFill>
                  <a:srgbClr val="F08418"/>
                </a:solidFill>
                <a:latin typeface="Calibri"/>
              </a:rPr>
              <a:t>≤ 0.8 s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5077846" y="6062472"/>
            <a:ext cx="2017715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80" b="0" i="0" lang="en-US">
                <a:solidFill>
                  <a:srgbClr val="B9C7DE"/>
                </a:solidFill>
                <a:latin typeface="Calibri"/>
              </a:rPr>
              <a:t>SLA: ≤ 2 s</a:t>
            </a:r>
          </a:p>
        </p:txBody>
      </p:sp>
      <p:sp>
        <p:nvSpPr>
          <p:cNvPr id="17456" name="Pentagon 17455"/>
          <p:cNvSpPr/>
          <p:nvPr/>
        </p:nvSpPr>
        <p:spPr>
          <a:xfrm>
            <a:off x="7241865" y="4453128"/>
            <a:ext cx="2036003" cy="365760"/>
          </a:xfrm>
          <a:prstGeom prst="homePlate">
            <a:avLst>
              <a:gd name="adj" fmla="val 30000"/>
            </a:avLst>
          </a:prstGeom>
          <a:solidFill>
            <a:srgbClr val="1E4A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57" name="TextBox 17456"/>
          <p:cNvSpPr txBox="1"/>
          <p:nvPr/>
        </p:nvSpPr>
        <p:spPr>
          <a:xfrm>
            <a:off x="7315017" y="4453128"/>
            <a:ext cx="1761683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>
                <a:solidFill>
                  <a:srgbClr val="FFFFFF"/>
                </a:solidFill>
                <a:latin typeface="Calibri"/>
              </a:rPr>
              <a:t>4  TRACK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7278441" y="4873752"/>
            <a:ext cx="1962851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en-US">
                <a:solidFill>
                  <a:srgbClr val="FFB35C"/>
                </a:solidFill>
                <a:latin typeface="Calibri"/>
              </a:rPr>
              <a:t>Sub-Pixel Precision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7278441" y="5111496"/>
            <a:ext cx="1962851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40" b="0" i="0" lang="en-US">
                <a:solidFill>
                  <a:srgbClr val="E4ECF7"/>
                </a:solidFill>
                <a:latin typeface="Calibri"/>
              </a:rPr>
              <a:t>Maintains continuous centroid lock with error ≤ 1.5 px nominal, ≤ 4.8 px under extreme noise.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7241865" y="5788152"/>
            <a:ext cx="2017715" cy="475488"/>
          </a:xfrm>
          <a:prstGeom prst="roundRect">
            <a:avLst>
              <a:gd name="adj" fmla="val 15384"/>
            </a:avLst>
          </a:prstGeom>
          <a:solidFill>
            <a:srgbClr val="1E4A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61" name="TextBox 17460"/>
          <p:cNvSpPr txBox="1"/>
          <p:nvPr/>
        </p:nvSpPr>
        <p:spPr>
          <a:xfrm>
            <a:off x="7241865" y="5806440"/>
            <a:ext cx="2017715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lang="en-US">
                <a:solidFill>
                  <a:srgbClr val="F08418"/>
                </a:solidFill>
                <a:latin typeface="Calibri"/>
              </a:rPr>
              <a:t>≤ 1.5 px</a:t>
            </a:r>
          </a:p>
        </p:txBody>
      </p:sp>
      <p:sp>
        <p:nvSpPr>
          <p:cNvPr id="17462" name="TextBox 17461"/>
          <p:cNvSpPr txBox="1"/>
          <p:nvPr/>
        </p:nvSpPr>
        <p:spPr>
          <a:xfrm>
            <a:off x="7241865" y="6062472"/>
            <a:ext cx="2017715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80" b="0" i="0" lang="en-US">
                <a:solidFill>
                  <a:srgbClr val="B9C7DE"/>
                </a:solidFill>
                <a:latin typeface="Calibri"/>
              </a:rPr>
              <a:t>SLA: ≤ 10 px</a:t>
            </a:r>
          </a:p>
        </p:txBody>
      </p:sp>
      <p:sp>
        <p:nvSpPr>
          <p:cNvPr id="17463" name="Pentagon 17462"/>
          <p:cNvSpPr/>
          <p:nvPr/>
        </p:nvSpPr>
        <p:spPr>
          <a:xfrm>
            <a:off x="9405884" y="4453128"/>
            <a:ext cx="2036003" cy="365760"/>
          </a:xfrm>
          <a:prstGeom prst="homePlate">
            <a:avLst>
              <a:gd name="adj" fmla="val 30000"/>
            </a:avLst>
          </a:prstGeom>
          <a:solidFill>
            <a:srgbClr val="D970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64" name="TextBox 17463"/>
          <p:cNvSpPr txBox="1"/>
          <p:nvPr/>
        </p:nvSpPr>
        <p:spPr>
          <a:xfrm>
            <a:off x="9479036" y="4453128"/>
            <a:ext cx="1761683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>
                <a:solidFill>
                  <a:srgbClr val="FFFFFF"/>
                </a:solidFill>
                <a:latin typeface="Calibri"/>
              </a:rPr>
              <a:t>5  AUDIT</a:t>
            </a:r>
          </a:p>
        </p:txBody>
      </p:sp>
      <p:sp>
        <p:nvSpPr>
          <p:cNvPr id="17465" name="TextBox 17464"/>
          <p:cNvSpPr txBox="1"/>
          <p:nvPr/>
        </p:nvSpPr>
        <p:spPr>
          <a:xfrm>
            <a:off x="9442460" y="4873752"/>
            <a:ext cx="1962851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en-US">
                <a:solidFill>
                  <a:srgbClr val="FFB35C"/>
                </a:solidFill>
                <a:latin typeface="Calibri"/>
              </a:rPr>
              <a:t>Automated ISRO Benchmark</a:t>
            </a:r>
          </a:p>
        </p:txBody>
      </p:sp>
      <p:sp>
        <p:nvSpPr>
          <p:cNvPr id="17466" name="TextBox 17465"/>
          <p:cNvSpPr txBox="1"/>
          <p:nvPr/>
        </p:nvSpPr>
        <p:spPr>
          <a:xfrm>
            <a:off x="9442460" y="5111496"/>
            <a:ext cx="1962851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40" b="0" i="0" lang="en-US">
                <a:solidFill>
                  <a:srgbClr val="E4ECF7"/>
                </a:solidFill>
                <a:latin typeface="Calibri"/>
              </a:rPr>
              <a:t>Auto-exports timestamped CSV/PDF reports detailing RMSE, FPS, and lock retention rates.</a:t>
            </a:r>
          </a:p>
        </p:txBody>
      </p:sp>
      <p:sp>
        <p:nvSpPr>
          <p:cNvPr id="17467" name="Rounded Rectangle 17466"/>
          <p:cNvSpPr/>
          <p:nvPr/>
        </p:nvSpPr>
        <p:spPr>
          <a:xfrm>
            <a:off x="9405884" y="5788152"/>
            <a:ext cx="2017715" cy="475488"/>
          </a:xfrm>
          <a:prstGeom prst="roundRect">
            <a:avLst>
              <a:gd name="adj" fmla="val 15384"/>
            </a:avLst>
          </a:prstGeom>
          <a:solidFill>
            <a:srgbClr val="1E4A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68" name="TextBox 17467"/>
          <p:cNvSpPr txBox="1"/>
          <p:nvPr/>
        </p:nvSpPr>
        <p:spPr>
          <a:xfrm>
            <a:off x="9405884" y="5806440"/>
            <a:ext cx="2017715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lang="en-US">
                <a:solidFill>
                  <a:srgbClr val="FFB35C"/>
                </a:solidFill>
                <a:latin typeface="Calibri"/>
              </a:rPr>
              <a:t>100%</a:t>
            </a:r>
          </a:p>
        </p:txBody>
      </p:sp>
      <p:sp>
        <p:nvSpPr>
          <p:cNvPr id="17469" name="TextBox 17468"/>
          <p:cNvSpPr txBox="1"/>
          <p:nvPr/>
        </p:nvSpPr>
        <p:spPr>
          <a:xfrm>
            <a:off x="9405884" y="6062472"/>
            <a:ext cx="2017715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80" b="0" i="0" lang="en-US">
                <a:solidFill>
                  <a:srgbClr val="B9C7DE"/>
                </a:solidFill>
                <a:latin typeface="Calibri"/>
              </a:rPr>
              <a:t>Automated compliance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Times New Roman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5448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sz="1300"/>
              <a:t>Phoenix X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2057400" y="914400"/>
            <a:ext cx="9418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C757D"/>
                </a:solidFill>
                <a:latin typeface="Arial"/>
              </a:defRPr>
            </a:pPr>
            <a:r>
              <a:rPr sz="1000">
                <a:solidFill>
                  <a:srgbClr val="566074"/>
                </a:solidFill>
              </a:rPr>
              <a:t>PROJECT PHOENIX: AI-Based Virtual Camera Tracking for Mobile FSOC  |  SIH26169 (ISRO / SAC)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48640" y="1325880"/>
            <a:ext cx="6903720" cy="4937759"/>
          </a:xfrm>
          <a:prstGeom prst="roundRect">
            <a:avLst>
              <a:gd name="adj" fmla="val 2222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13" name="Rounded Rectangle 17412"/>
          <p:cNvSpPr/>
          <p:nvPr/>
        </p:nvSpPr>
        <p:spPr>
          <a:xfrm>
            <a:off x="731520" y="1453895"/>
            <a:ext cx="4512271" cy="256032"/>
          </a:xfrm>
          <a:prstGeom prst="roundRect">
            <a:avLst>
              <a:gd name="adj" fmla="val 50000"/>
            </a:avLst>
          </a:prstGeom>
          <a:solidFill>
            <a:srgbClr val="E1EE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731520" y="1453895"/>
            <a:ext cx="4512271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en-US" spc="80">
                <a:solidFill>
                  <a:srgbClr val="0070C0"/>
                </a:solidFill>
                <a:latin typeface="Calibri"/>
              </a:rPr>
              <a:t>VERIFIED PEER-REVIEWED RESEARCH CITATIONS (2023–2025)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713232" y="1746504"/>
            <a:ext cx="6574536" cy="722376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822959" y="1801368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en-US">
                <a:solidFill>
                  <a:srgbClr val="D9700F"/>
                </a:solidFill>
                <a:latin typeface="Consolas"/>
              </a:rPr>
              <a:t>01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1261872" y="1792224"/>
            <a:ext cx="5897879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69" b="1" i="0" lang="en-US">
                <a:solidFill>
                  <a:srgbClr val="14345C"/>
                </a:solidFill>
                <a:latin typeface="Calibri"/>
              </a:rPr>
              <a:t>Liu et al. (IEEE ICSOS, 2025)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1261872" y="2020824"/>
            <a:ext cx="5897879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840" b="0" i="1" lang="en-US">
                <a:solidFill>
                  <a:srgbClr val="566074"/>
                </a:solidFill>
                <a:latin typeface="Calibri"/>
              </a:rPr>
              <a:t>'Pointing, Acquisition, and Tracking (PAT) for Optical Satellite Communications: The ALIGN UK Mission'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40" b="0" i="0" lang="en-US">
                <a:solidFill>
                  <a:srgbClr val="1E2638"/>
                </a:solidFill>
                <a:latin typeface="Calibri"/>
              </a:rPr>
              <a:t>Satellite PAT handover: establishes coarse-to-fine transition dynamics and ≤ 2 s acquisition SLA.</a:t>
            </a:r>
            <a:r>
              <a:rPr sz="760" b="0" i="0" lang="en-US">
                <a:solidFill>
                  <a:srgbClr val="8C97A8"/>
                </a:solidFill>
                <a:latin typeface="Calibri"/>
              </a:rPr>
              <a:t>  DOI: 10.1109/icsos66026.2025.11443125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713232" y="2519172"/>
            <a:ext cx="6574536" cy="722376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822959" y="257403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en-US">
                <a:solidFill>
                  <a:srgbClr val="D9700F"/>
                </a:solidFill>
                <a:latin typeface="Consolas"/>
              </a:rPr>
              <a:t>02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1261872" y="2564891"/>
            <a:ext cx="5897879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69" b="1" i="0" lang="en-US">
                <a:solidFill>
                  <a:srgbClr val="14345C"/>
                </a:solidFill>
                <a:latin typeface="Calibri"/>
              </a:rPr>
              <a:t>Sun, Wang, Wu &amp; Liu (MDPI Photonics, 2024)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1261872" y="2793491"/>
            <a:ext cx="5897879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840" b="0" i="1" lang="en-US">
                <a:solidFill>
                  <a:srgbClr val="566074"/>
                </a:solidFill>
                <a:latin typeface="Calibri"/>
              </a:rPr>
              <a:t>'High-Precision Tracking of Free-Space Optical Communication System on Mobile Platforms'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40" b="0" i="0" lang="en-US">
                <a:solidFill>
                  <a:srgbClr val="1E2638"/>
                </a:solidFill>
                <a:latin typeface="Calibri"/>
              </a:rPr>
              <a:t>Mobile platform dynamics: validates multi-axis platform jitter rejection (±20 px/frame).</a:t>
            </a:r>
            <a:r>
              <a:rPr sz="760" b="0" i="0" lang="en-US">
                <a:solidFill>
                  <a:srgbClr val="8C97A8"/>
                </a:solidFill>
                <a:latin typeface="Calibri"/>
              </a:rPr>
              <a:t>  DOI: 10.3390/photonics11100900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713232" y="3291839"/>
            <a:ext cx="6574536" cy="722376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822959" y="3346703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en-US">
                <a:solidFill>
                  <a:srgbClr val="D9700F"/>
                </a:solidFill>
                <a:latin typeface="Consolas"/>
              </a:rPr>
              <a:t>03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1261872" y="3337559"/>
            <a:ext cx="5897879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69" b="1" i="0" lang="en-US">
                <a:solidFill>
                  <a:srgbClr val="14345C"/>
                </a:solidFill>
                <a:latin typeface="Calibri"/>
              </a:rPr>
              <a:t>Saha, Qin, Li, Ye &amp; Jayasuriya (IEEE/CVF CVPR, 2024)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1261872" y="3566159"/>
            <a:ext cx="5897879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840" b="0" i="1" lang="en-US">
                <a:solidFill>
                  <a:srgbClr val="566074"/>
                </a:solidFill>
                <a:latin typeface="Calibri"/>
              </a:rPr>
              <a:t>'Turb-Seg-Res: A Segment-then-Restore Pipeline for Dynamic Videos with Atmospheric Turbulence'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40" b="0" i="0" lang="en-US">
                <a:solidFill>
                  <a:srgbClr val="1E2638"/>
                </a:solidFill>
                <a:latin typeface="Calibri"/>
              </a:rPr>
              <a:t>Deep vision in turbulence: formulates spatio-temporal segmentation under refractive shimmer.</a:t>
            </a:r>
            <a:r>
              <a:rPr sz="760" b="0" i="0" lang="en-US">
                <a:solidFill>
                  <a:srgbClr val="8C97A8"/>
                </a:solidFill>
                <a:latin typeface="Calibri"/>
              </a:rPr>
              <a:t>  DOI: 10.1109/CVPR52733.2024.02389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713232" y="4064508"/>
            <a:ext cx="6574536" cy="722376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28" name="TextBox 17427"/>
          <p:cNvSpPr txBox="1"/>
          <p:nvPr/>
        </p:nvSpPr>
        <p:spPr>
          <a:xfrm>
            <a:off x="822959" y="4119372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en-US">
                <a:solidFill>
                  <a:srgbClr val="D9700F"/>
                </a:solidFill>
                <a:latin typeface="Consolas"/>
              </a:rPr>
              <a:t>04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1261872" y="4110228"/>
            <a:ext cx="5897879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69" b="1" i="0" lang="en-US">
                <a:solidFill>
                  <a:srgbClr val="14345C"/>
                </a:solidFill>
                <a:latin typeface="Calibri"/>
              </a:rPr>
              <a:t>Qin, Saha, Chung, Jayasuriya, Ye &amp; Li (ECCV, 2024)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1261872" y="4338828"/>
            <a:ext cx="5897879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840" b="0" i="1" lang="en-US">
                <a:solidFill>
                  <a:srgbClr val="566074"/>
                </a:solidFill>
                <a:latin typeface="Calibri"/>
              </a:rPr>
              <a:t>'Unsupervised Moving Object Segmentation with Atmospheric Turbulence'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40" b="0" i="0" lang="en-US">
                <a:solidFill>
                  <a:srgbClr val="1E2638"/>
                </a:solidFill>
                <a:latin typeface="Calibri"/>
              </a:rPr>
              <a:t>Deep saliency prior: separates faint moving beacons under dense haze, fog and scintillation.</a:t>
            </a:r>
            <a:r>
              <a:rPr sz="760" b="0" i="0" lang="en-US">
                <a:solidFill>
                  <a:srgbClr val="8C97A8"/>
                </a:solidFill>
                <a:latin typeface="Calibri"/>
              </a:rPr>
              <a:t>  DOI: 10.1007/978-3-031-72658-3_2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713232" y="4837176"/>
            <a:ext cx="6574536" cy="722376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822959" y="489204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en-US">
                <a:solidFill>
                  <a:srgbClr val="D9700F"/>
                </a:solidFill>
                <a:latin typeface="Consolas"/>
              </a:rPr>
              <a:t>05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1261872" y="4882896"/>
            <a:ext cx="5897879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69" b="1" i="0" lang="en-US">
                <a:solidFill>
                  <a:srgbClr val="14345C"/>
                </a:solidFill>
                <a:latin typeface="Calibri"/>
              </a:rPr>
              <a:t>Yang, Xie, Liu, Mo &amp; Zeng (MDPI Remote Sensing, 2023)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1261872" y="5111496"/>
            <a:ext cx="5897879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840" b="0" i="1" lang="en-US">
                <a:solidFill>
                  <a:srgbClr val="566074"/>
                </a:solidFill>
                <a:latin typeface="Calibri"/>
              </a:rPr>
              <a:t>'Centroid Extraction of Laser Spots Captured by Infrared Detectors Combining Observation Data'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40" b="0" i="0" lang="en-US">
                <a:solidFill>
                  <a:srgbClr val="1E2638"/>
                </a:solidFill>
                <a:latin typeface="Calibri"/>
              </a:rPr>
              <a:t>Sub-pixel Gaussian diffusion: mathematical proof of &lt; 0.2 px centroid accuracy under noise.</a:t>
            </a:r>
            <a:r>
              <a:rPr sz="760" b="0" i="0" lang="en-US">
                <a:solidFill>
                  <a:srgbClr val="8C97A8"/>
                </a:solidFill>
                <a:latin typeface="Calibri"/>
              </a:rPr>
              <a:t>  DOI: 10.3390/rs15082129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713232" y="5609844"/>
            <a:ext cx="6574536" cy="722376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36" name="TextBox 17435"/>
          <p:cNvSpPr txBox="1"/>
          <p:nvPr/>
        </p:nvSpPr>
        <p:spPr>
          <a:xfrm>
            <a:off x="822959" y="5664707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en-US">
                <a:solidFill>
                  <a:srgbClr val="D9700F"/>
                </a:solidFill>
                <a:latin typeface="Consolas"/>
              </a:rPr>
              <a:t>06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1261872" y="5655564"/>
            <a:ext cx="5897879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69" b="1" i="0" lang="en-US">
                <a:solidFill>
                  <a:srgbClr val="14345C"/>
                </a:solidFill>
                <a:latin typeface="Calibri"/>
              </a:rPr>
              <a:t>Kaushal &amp; Kaddoum (IEEE COMST, 2016)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1261872" y="5884164"/>
            <a:ext cx="5897879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840" b="0" i="1" lang="en-US">
                <a:solidFill>
                  <a:srgbClr val="566074"/>
                </a:solidFill>
                <a:latin typeface="Calibri"/>
              </a:rPr>
              <a:t>'Free Space Optical Communication: Challenges and Mitigation Techniques'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40" b="0" i="0" lang="en-US">
                <a:solidFill>
                  <a:srgbClr val="1E2638"/>
                </a:solidFill>
                <a:latin typeface="Calibri"/>
              </a:rPr>
              <a:t>Foundational FSOC survey: gold-standard reference for Beer-Lambert &amp; Gamma-Gamma channels.</a:t>
            </a:r>
            <a:r>
              <a:rPr sz="760" b="0" i="0" lang="en-US">
                <a:solidFill>
                  <a:srgbClr val="8C97A8"/>
                </a:solidFill>
                <a:latin typeface="Calibri"/>
              </a:rPr>
              <a:t>  DOI: 10.1109/COMST.2016.2617691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7635240" y="1325880"/>
            <a:ext cx="4007815" cy="4937759"/>
          </a:xfrm>
          <a:prstGeom prst="roundRect">
            <a:avLst>
              <a:gd name="adj" fmla="val 2737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40" name="Rounded Rectangle 17439"/>
          <p:cNvSpPr/>
          <p:nvPr/>
        </p:nvSpPr>
        <p:spPr>
          <a:xfrm>
            <a:off x="7836408" y="1453895"/>
            <a:ext cx="3260494" cy="256032"/>
          </a:xfrm>
          <a:prstGeom prst="roundRect">
            <a:avLst>
              <a:gd name="adj" fmla="val 50000"/>
            </a:avLst>
          </a:prstGeom>
          <a:solidFill>
            <a:srgbClr val="E1EE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1" name="TextBox 17440"/>
          <p:cNvSpPr txBox="1"/>
          <p:nvPr/>
        </p:nvSpPr>
        <p:spPr>
          <a:xfrm>
            <a:off x="7836408" y="1453895"/>
            <a:ext cx="326049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en-US" spc="80">
                <a:solidFill>
                  <a:srgbClr val="0070C0"/>
                </a:solidFill>
                <a:latin typeface="Calibri"/>
              </a:rPr>
              <a:t>PROTOTYPE PROOF &amp; VERIFICATION ASSETS</a:t>
            </a:r>
          </a:p>
        </p:txBody>
      </p:sp>
      <p:pic>
        <p:nvPicPr>
          <p:cNvPr id="17442" name="Picture 17441" descr="GitHub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6408" y="1801368"/>
            <a:ext cx="182880" cy="182880"/>
          </a:xfrm>
          <a:prstGeom prst="rect">
            <a:avLst/>
          </a:prstGeom>
        </p:spPr>
      </p:pic>
      <p:sp>
        <p:nvSpPr>
          <p:cNvPr id="17443" name="TextBox 17442"/>
          <p:cNvSpPr txBox="1"/>
          <p:nvPr/>
        </p:nvSpPr>
        <p:spPr>
          <a:xfrm>
            <a:off x="8092440" y="1792224"/>
            <a:ext cx="3349447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>
                <a:solidFill>
                  <a:srgbClr val="B35A00"/>
                </a:solidFill>
                <a:latin typeface="Calibri"/>
              </a:rPr>
              <a:t>Open-Source GitHub Repository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7836408" y="2057400"/>
            <a:ext cx="3605479" cy="438912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5" name="TextBox 17444"/>
          <p:cNvSpPr txBox="1"/>
          <p:nvPr/>
        </p:nvSpPr>
        <p:spPr>
          <a:xfrm>
            <a:off x="7927848" y="2057400"/>
            <a:ext cx="3422599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40" b="0" i="0" lang="en-US">
                <a:solidFill>
                  <a:srgbClr val="14345C"/>
                </a:solidFill>
                <a:latin typeface="Consolas"/>
              </a:rPr>
              <a:t>github.com/jvstin47/Phoenix-X-AI-Based-Virtual-
Camera-Tracking-System-SIH26169</a:t>
            </a:r>
          </a:p>
        </p:txBody>
      </p:sp>
      <p:cxnSp>
        <p:nvCxnSpPr>
          <p:cNvPr id="17446" name="Connector 17445"/>
          <p:cNvCxnSpPr/>
          <p:nvPr/>
        </p:nvCxnSpPr>
        <p:spPr>
          <a:xfrm>
            <a:off x="7836408" y="2606039"/>
            <a:ext cx="3605479" cy="0"/>
          </a:xfrm>
          <a:prstGeom prst="line">
            <a:avLst/>
          </a:prstGeom>
          <a:ln w="12700">
            <a:solidFill>
              <a:srgbClr val="D9E2EE"/>
            </a:solidFill>
          </a:ln>
        </p:spPr>
      </p:cxnSp>
      <p:sp>
        <p:nvSpPr>
          <p:cNvPr id="17447" name="TextBox 17446"/>
          <p:cNvSpPr txBox="1"/>
          <p:nvPr/>
        </p:nvSpPr>
        <p:spPr>
          <a:xfrm>
            <a:off x="7836408" y="2697480"/>
            <a:ext cx="3605479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>
                <a:solidFill>
                  <a:srgbClr val="B35A00"/>
                </a:solidFill>
                <a:latin typeface="Calibri"/>
              </a:rPr>
              <a:t>Documented Engineering Deliverables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7836408" y="2962656"/>
            <a:ext cx="3605479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10" b="0" i="0" lang="en-US">
                <a:solidFill>
                  <a:srgbClr val="1E2638"/>
                </a:solidFill>
                <a:latin typeface="Consolas"/>
              </a:rPr>
              <a:t>1. docs/system_architecture_plan.md</a:t>
            </a:r>
          </a:p>
          <a:p>
            <a:pPr algn="l"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760" b="0" i="1" lang="en-US">
                <a:solidFill>
                  <a:srgbClr val="566074"/>
                </a:solidFill>
                <a:latin typeface="Calibri"/>
              </a:rPr>
              <a:t>(Complete Code Blueprint)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10" b="0" i="0" lang="en-US">
                <a:solidFill>
                  <a:srgbClr val="1E2638"/>
                </a:solidFill>
                <a:latin typeface="Consolas"/>
              </a:rPr>
              <a:t>2. academic_research/literature_review_and_citations.md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sz="200" b="0" i="0" lang="en-US">
                <a:solidFill>
                  <a:srgbClr val="1E2638"/>
                </a:solidFill>
                <a:latin typeface="Consolas"/>
              </a:rPr>
              <a:t/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10" b="0" i="0" lang="en-US">
                <a:solidFill>
                  <a:srgbClr val="1E2638"/>
                </a:solidFill>
                <a:latin typeface="Consolas"/>
              </a:rPr>
              <a:t>3. academic_research/papers/</a:t>
            </a:r>
          </a:p>
          <a:p>
            <a:pPr algn="l"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760" b="0" i="1" lang="en-US">
                <a:solidFill>
                  <a:srgbClr val="566074"/>
                </a:solidFill>
                <a:latin typeface="Calibri"/>
              </a:rPr>
              <a:t>(Downloaded CVPR &amp; ECCV PDFs)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10" b="0" i="0" lang="en-US">
                <a:solidFill>
                  <a:srgbClr val="1E2638"/>
                </a:solidFill>
                <a:latin typeface="Consolas"/>
              </a:rPr>
              <a:t>4. presentation/generate_presentation.py</a:t>
            </a:r>
          </a:p>
          <a:p>
            <a:pPr algn="l"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sz="760" b="0" i="1" lang="en-US">
                <a:solidFill>
                  <a:srgbClr val="566074"/>
                </a:solidFill>
                <a:latin typeface="Calibri"/>
              </a:rPr>
              <a:t>(Automated SIH Deck)</a:t>
            </a:r>
          </a:p>
        </p:txBody>
      </p:sp>
      <p:cxnSp>
        <p:nvCxnSpPr>
          <p:cNvPr id="17449" name="Connector 17448"/>
          <p:cNvCxnSpPr/>
          <p:nvPr/>
        </p:nvCxnSpPr>
        <p:spPr>
          <a:xfrm>
            <a:off x="7836408" y="3941063"/>
            <a:ext cx="3605479" cy="0"/>
          </a:xfrm>
          <a:prstGeom prst="line">
            <a:avLst/>
          </a:prstGeom>
          <a:ln w="12700">
            <a:solidFill>
              <a:srgbClr val="D9E2EE"/>
            </a:solidFill>
          </a:ln>
        </p:spPr>
      </p:cxnSp>
      <p:sp>
        <p:nvSpPr>
          <p:cNvPr id="17450" name="TextBox 17449"/>
          <p:cNvSpPr txBox="1"/>
          <p:nvPr/>
        </p:nvSpPr>
        <p:spPr>
          <a:xfrm>
            <a:off x="7836408" y="4032504"/>
            <a:ext cx="3605479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>
                <a:solidFill>
                  <a:srgbClr val="B35A00"/>
                </a:solidFill>
                <a:latin typeface="Calibri"/>
              </a:rPr>
              <a:t>Prototype Deliverable Subsystems</a:t>
            </a:r>
          </a:p>
        </p:txBody>
      </p:sp>
      <p:sp>
        <p:nvSpPr>
          <p:cNvPr id="17451" name="Oval 17450"/>
          <p:cNvSpPr/>
          <p:nvPr/>
        </p:nvSpPr>
        <p:spPr>
          <a:xfrm>
            <a:off x="7836408" y="4320540"/>
            <a:ext cx="173736" cy="173736"/>
          </a:xfrm>
          <a:prstGeom prst="ellipse">
            <a:avLst/>
          </a:prstGeom>
          <a:solidFill>
            <a:srgbClr val="15A4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52" name="Picture 17451" descr="Check mar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5498" y="4359630"/>
            <a:ext cx="95554" cy="95554"/>
          </a:xfrm>
          <a:prstGeom prst="rect">
            <a:avLst/>
          </a:prstGeom>
        </p:spPr>
      </p:pic>
      <p:sp>
        <p:nvSpPr>
          <p:cNvPr id="17453" name="TextBox 17452"/>
          <p:cNvSpPr txBox="1"/>
          <p:nvPr/>
        </p:nvSpPr>
        <p:spPr>
          <a:xfrm>
            <a:off x="8092440" y="4306824"/>
            <a:ext cx="3349447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40" b="0" i="0" lang="en-US">
                <a:solidFill>
                  <a:srgbClr val="1E2638"/>
                </a:solidFill>
                <a:latin typeface="Calibri"/>
              </a:rPr>
              <a:t>Dual-Mode Simulator: Mode A (Closed-Loop SIL) + Mode B (ISRO Benchmark-2 MP4 Ingestion)</a:t>
            </a:r>
          </a:p>
        </p:txBody>
      </p:sp>
      <p:sp>
        <p:nvSpPr>
          <p:cNvPr id="17454" name="Oval 17453"/>
          <p:cNvSpPr/>
          <p:nvPr/>
        </p:nvSpPr>
        <p:spPr>
          <a:xfrm>
            <a:off x="7836408" y="4593031"/>
            <a:ext cx="173736" cy="173736"/>
          </a:xfrm>
          <a:prstGeom prst="ellipse">
            <a:avLst/>
          </a:prstGeom>
          <a:solidFill>
            <a:srgbClr val="15A4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55" name="Picture 17454" descr="Check mar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5498" y="4632121"/>
            <a:ext cx="95554" cy="95554"/>
          </a:xfrm>
          <a:prstGeom prst="rect">
            <a:avLst/>
          </a:prstGeom>
        </p:spPr>
      </p:pic>
      <p:sp>
        <p:nvSpPr>
          <p:cNvPr id="17456" name="TextBox 17455"/>
          <p:cNvSpPr txBox="1"/>
          <p:nvPr/>
        </p:nvSpPr>
        <p:spPr>
          <a:xfrm>
            <a:off x="8092440" y="4579315"/>
            <a:ext cx="3349447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40" b="0" i="0" lang="en-US">
                <a:solidFill>
                  <a:srgbClr val="1E2638"/>
                </a:solidFill>
                <a:latin typeface="Calibri"/>
              </a:rPr>
              <a:t>Vectorized Rank-Order Median Denoising (10% S&amp;P rejection in 0.8 ms)</a:t>
            </a:r>
          </a:p>
        </p:txBody>
      </p:sp>
      <p:sp>
        <p:nvSpPr>
          <p:cNvPr id="17457" name="Oval 17456"/>
          <p:cNvSpPr/>
          <p:nvPr/>
        </p:nvSpPr>
        <p:spPr>
          <a:xfrm>
            <a:off x="7836408" y="4865522"/>
            <a:ext cx="173736" cy="173736"/>
          </a:xfrm>
          <a:prstGeom prst="ellipse">
            <a:avLst/>
          </a:prstGeom>
          <a:solidFill>
            <a:srgbClr val="15A4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58" name="Picture 17457" descr="Check mar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5498" y="4904613"/>
            <a:ext cx="95554" cy="95554"/>
          </a:xfrm>
          <a:prstGeom prst="rect">
            <a:avLst/>
          </a:prstGeom>
        </p:spPr>
      </p:pic>
      <p:sp>
        <p:nvSpPr>
          <p:cNvPr id="17459" name="TextBox 17458"/>
          <p:cNvSpPr txBox="1"/>
          <p:nvPr/>
        </p:nvSpPr>
        <p:spPr>
          <a:xfrm>
            <a:off x="8092440" y="4851806"/>
            <a:ext cx="3349447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40" b="0" i="0" lang="en-US">
                <a:solidFill>
                  <a:srgbClr val="1E2638"/>
                </a:solidFill>
                <a:latin typeface="Calibri"/>
              </a:rPr>
              <a:t>Continuous 2D Gaussian Surface Centroiding (&lt; 0.2 px error)</a:t>
            </a:r>
          </a:p>
        </p:txBody>
      </p:sp>
      <p:sp>
        <p:nvSpPr>
          <p:cNvPr id="17460" name="Oval 17459"/>
          <p:cNvSpPr/>
          <p:nvPr/>
        </p:nvSpPr>
        <p:spPr>
          <a:xfrm>
            <a:off x="7836408" y="5138013"/>
            <a:ext cx="173736" cy="173736"/>
          </a:xfrm>
          <a:prstGeom prst="ellipse">
            <a:avLst/>
          </a:prstGeom>
          <a:solidFill>
            <a:srgbClr val="15A4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61" name="Picture 17460" descr="Check mar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5498" y="5177104"/>
            <a:ext cx="95554" cy="95554"/>
          </a:xfrm>
          <a:prstGeom prst="rect">
            <a:avLst/>
          </a:prstGeom>
        </p:spPr>
      </p:pic>
      <p:sp>
        <p:nvSpPr>
          <p:cNvPr id="17462" name="TextBox 17461"/>
          <p:cNvSpPr txBox="1"/>
          <p:nvPr/>
        </p:nvSpPr>
        <p:spPr>
          <a:xfrm>
            <a:off x="8092440" y="5124297"/>
            <a:ext cx="3349447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40" b="0" i="0" lang="en-US">
                <a:solidFill>
                  <a:srgbClr val="1E2638"/>
                </a:solidFill>
                <a:latin typeface="Calibri"/>
              </a:rPr>
              <a:t>Interacting Multiple Model (IMM) Kinematic Filter (CV + CT states)</a:t>
            </a:r>
          </a:p>
        </p:txBody>
      </p:sp>
      <p:sp>
        <p:nvSpPr>
          <p:cNvPr id="17463" name="Oval 17462"/>
          <p:cNvSpPr/>
          <p:nvPr/>
        </p:nvSpPr>
        <p:spPr>
          <a:xfrm>
            <a:off x="7836408" y="5410504"/>
            <a:ext cx="173736" cy="173736"/>
          </a:xfrm>
          <a:prstGeom prst="ellipse">
            <a:avLst/>
          </a:prstGeom>
          <a:solidFill>
            <a:srgbClr val="15A4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64" name="Picture 17463" descr="Check mar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5498" y="5449595"/>
            <a:ext cx="95554" cy="95554"/>
          </a:xfrm>
          <a:prstGeom prst="rect">
            <a:avLst/>
          </a:prstGeom>
        </p:spPr>
      </p:pic>
      <p:sp>
        <p:nvSpPr>
          <p:cNvPr id="17465" name="TextBox 17464"/>
          <p:cNvSpPr txBox="1"/>
          <p:nvPr/>
        </p:nvSpPr>
        <p:spPr>
          <a:xfrm>
            <a:off x="8092440" y="5396788"/>
            <a:ext cx="3349447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40" b="0" i="0" lang="en-US">
                <a:solidFill>
                  <a:srgbClr val="1E2638"/>
                </a:solidFill>
                <a:latin typeface="Calibri"/>
              </a:rPr>
              <a:t>Clamped Slew-Rate Servo (5-10°/s) with Anti-Windup PID</a:t>
            </a:r>
          </a:p>
        </p:txBody>
      </p:sp>
      <p:sp>
        <p:nvSpPr>
          <p:cNvPr id="17466" name="Oval 17465"/>
          <p:cNvSpPr/>
          <p:nvPr/>
        </p:nvSpPr>
        <p:spPr>
          <a:xfrm>
            <a:off x="7836408" y="5682996"/>
            <a:ext cx="173736" cy="173736"/>
          </a:xfrm>
          <a:prstGeom prst="ellipse">
            <a:avLst/>
          </a:prstGeom>
          <a:solidFill>
            <a:srgbClr val="15A4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67" name="Picture 17466" descr="Check mar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5498" y="5722086"/>
            <a:ext cx="95554" cy="95554"/>
          </a:xfrm>
          <a:prstGeom prst="rect">
            <a:avLst/>
          </a:prstGeom>
        </p:spPr>
      </p:pic>
      <p:sp>
        <p:nvSpPr>
          <p:cNvPr id="17468" name="TextBox 17467"/>
          <p:cNvSpPr txBox="1"/>
          <p:nvPr/>
        </p:nvSpPr>
        <p:spPr>
          <a:xfrm>
            <a:off x="8092440" y="5669280"/>
            <a:ext cx="3349447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40" b="0" i="0" lang="en-US">
                <a:solidFill>
                  <a:srgbClr val="1E2638"/>
                </a:solidFill>
                <a:latin typeface="Calibri"/>
              </a:rPr>
              <a:t>PyQt6 Dual-Viewport Cockpit with Real-Time Telemetry HUD</a:t>
            </a:r>
          </a:p>
        </p:txBody>
      </p:sp>
      <p:sp>
        <p:nvSpPr>
          <p:cNvPr id="17469" name="Oval 17468"/>
          <p:cNvSpPr/>
          <p:nvPr/>
        </p:nvSpPr>
        <p:spPr>
          <a:xfrm>
            <a:off x="7836408" y="5955487"/>
            <a:ext cx="173736" cy="173736"/>
          </a:xfrm>
          <a:prstGeom prst="ellipse">
            <a:avLst/>
          </a:prstGeom>
          <a:solidFill>
            <a:srgbClr val="15A4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70" name="Picture 17469" descr="Check mar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5498" y="5994577"/>
            <a:ext cx="95554" cy="95554"/>
          </a:xfrm>
          <a:prstGeom prst="rect">
            <a:avLst/>
          </a:prstGeom>
        </p:spPr>
      </p:pic>
      <p:sp>
        <p:nvSpPr>
          <p:cNvPr id="17471" name="TextBox 17470"/>
          <p:cNvSpPr txBox="1"/>
          <p:nvPr/>
        </p:nvSpPr>
        <p:spPr>
          <a:xfrm>
            <a:off x="8092440" y="5941771"/>
            <a:ext cx="3349447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40" b="0" i="0" lang="en-US">
                <a:solidFill>
                  <a:srgbClr val="1E2638"/>
                </a:solidFill>
                <a:latin typeface="Calibri"/>
              </a:rPr>
              <a:t>Automated CSV/PDF Benchmark Audit Generator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7524</TotalTime>
  <Words>346</Words>
  <Application>Microsoft Macintosh PowerPoint</Application>
  <PresentationFormat>Widescreen</PresentationFormat>
  <Paragraphs>60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Justin </cp:lastModifiedBy>
  <cp:revision>149</cp:revision>
  <dcterms:created xsi:type="dcterms:W3CDTF">2013-12-12T18:46:50Z</dcterms:created>
  <dcterms:modified xsi:type="dcterms:W3CDTF">2026-09-18T06:04:45Z</dcterms:modified>
  <cp:category/>
</cp:coreProperties>
</file>