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352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32520" y="960120"/>
            <a:ext cx="2319302" cy="2577483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Smart India Hackathon 2026 light-bulb logo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9331575" y="1392300"/>
            <a:ext cx="1601754" cy="1713118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11480" y="868680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00">
                <a:solidFill>
                  <a:srgbClr val="B35A00"/>
                </a:solidFill>
                <a:latin typeface="Calibri"/>
              </a:rPr>
              <a:t>SPACE TECHNOLOGY &amp; SMART AUTOMATION  |  ISRO / SPACE APPLICATIONS CENTRE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1161288"/>
            <a:ext cx="768096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lang="en-US">
                <a:solidFill>
                  <a:srgbClr val="1F497D"/>
                </a:solidFill>
                <a:latin typeface="Calibri"/>
              </a:rPr>
              <a:t>PROJECT PHOENIX</a:t>
            </a:r>
          </a:p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lang="en-US">
                <a:solidFill>
                  <a:srgbClr val="D9700F"/>
                </a:solidFill>
                <a:latin typeface="Calibri"/>
              </a:rPr>
              <a:t>FSOC TRACKER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223113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 lang="en-US">
                <a:solidFill>
                  <a:srgbClr val="566074"/>
                </a:solidFill>
                <a:latin typeface="Calibri"/>
              </a:rPr>
              <a:t>AI-based virtual camera tracking system for coarse alignment of mobile Free-Space Optical Communication (FSOC) terminals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2889504"/>
            <a:ext cx="7360920" cy="3474720"/>
          </a:xfrm>
          <a:prstGeom prst="roundRect">
            <a:avLst>
              <a:gd name="adj" fmla="val 3684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054096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236976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en-US">
                <a:solidFill>
                  <a:srgbClr val="D9700F"/>
                </a:solidFill>
                <a:latin typeface="Calibri"/>
              </a:rPr>
              <a:t>SIH26169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3054096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THEME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23697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Space Technology &amp; Smart Automation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3712464"/>
            <a:ext cx="68122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685800" y="3803904"/>
            <a:ext cx="681228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PROBLEM STATEMENT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995928"/>
            <a:ext cx="68122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en-US">
                <a:solidFill>
                  <a:srgbClr val="A10000"/>
                </a:solidFill>
                <a:latin typeface="Calibri"/>
              </a:rPr>
              <a:t>Development of an AI-Based Virtual Camera Tracking System for Coarse Alignment of Mobile Free Space Optical Communication (FSOC) Terminals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791456"/>
            <a:ext cx="68122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685800" y="4882896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SPONSORING ORGANIZATION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4882896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06577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F497D"/>
                </a:solidFill>
                <a:latin typeface="Calibri"/>
              </a:rPr>
              <a:t>ISRO / Space Applications Centre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506577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>
                <a:solidFill>
                  <a:srgbClr val="1F497D"/>
                </a:solidFill>
                <a:latin typeface="Calibri"/>
              </a:rPr>
              <a:t>Software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85800" y="5486400"/>
            <a:ext cx="68122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685800" y="5577840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TEAM NAME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26280" y="5577840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TEAM 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760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>
                <a:solidFill>
                  <a:srgbClr val="1F497D"/>
                </a:solidFill>
                <a:latin typeface="Calibri"/>
              </a:rPr>
              <a:t>Phoenix 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26280" y="5760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>
                <a:solidFill>
                  <a:srgbClr val="1F497D"/>
                </a:solidFill>
                <a:latin typeface="Calibri"/>
              </a:rPr>
              <a:t>141943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2440" y="367588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120">
                <a:solidFill>
                  <a:srgbClr val="0070C0"/>
                </a:solidFill>
                <a:latin typeface="Calibri"/>
              </a:rPr>
              <a:t>HEADLINE CAPABILITIES</a:t>
            </a:r>
          </a:p>
        </p:txBody>
      </p:sp>
      <p:sp>
        <p:nvSpPr>
          <p:cNvPr id="60" name="Oval 59"/>
          <p:cNvSpPr/>
          <p:nvPr/>
        </p:nvSpPr>
        <p:spPr>
          <a:xfrm>
            <a:off x="8092440" y="40416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1" name="Picture 60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4103370"/>
            <a:ext cx="150876" cy="15087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485632" y="4023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Closed-Loop Lock in ≤ 0.8 s</a:t>
            </a:r>
          </a:p>
        </p:txBody>
      </p:sp>
      <p:sp>
        <p:nvSpPr>
          <p:cNvPr id="63" name="Oval 62"/>
          <p:cNvSpPr/>
          <p:nvPr/>
        </p:nvSpPr>
        <p:spPr>
          <a:xfrm>
            <a:off x="8092440" y="44988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4560570"/>
            <a:ext cx="150876" cy="15087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485632" y="4480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Sub-Pixel Centroid Error &lt; 0.2 px</a:t>
            </a:r>
          </a:p>
        </p:txBody>
      </p:sp>
      <p:sp>
        <p:nvSpPr>
          <p:cNvPr id="66" name="Oval 65"/>
          <p:cNvSpPr/>
          <p:nvPr/>
        </p:nvSpPr>
        <p:spPr>
          <a:xfrm>
            <a:off x="8092440" y="49560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5017770"/>
            <a:ext cx="150876" cy="15087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485632" y="4937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IMM-Kalman Predictive Servo</a:t>
            </a:r>
          </a:p>
        </p:txBody>
      </p:sp>
      <p:sp>
        <p:nvSpPr>
          <p:cNvPr id="69" name="Oval 68"/>
          <p:cNvSpPr/>
          <p:nvPr/>
        </p:nvSpPr>
        <p:spPr>
          <a:xfrm>
            <a:off x="8092440" y="54132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5474970"/>
            <a:ext cx="150876" cy="150876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85632" y="5394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10% S&amp;P Noise Rejected in 0.8 ms</a:t>
            </a:r>
          </a:p>
        </p:txBody>
      </p:sp>
      <p:sp>
        <p:nvSpPr>
          <p:cNvPr id="72" name="Oval 71"/>
          <p:cNvSpPr/>
          <p:nvPr/>
        </p:nvSpPr>
        <p:spPr>
          <a:xfrm>
            <a:off x="8092440" y="58704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5932170"/>
            <a:ext cx="150876" cy="150876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485632" y="5852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≥ 35 FPS on CPU, Zero GPU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rPr sz="2800" b="1">
                <a:latin typeface="Times New Roman"/>
              </a:rPr>
              <a:t>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594360" y="1325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7E1E1"/>
          </a:solidFill>
          <a:ln w="9525">
            <a:solidFill>
              <a:srgbClr val="EFC9C9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777240" y="1472184"/>
            <a:ext cx="925189" cy="256032"/>
          </a:xfrm>
          <a:prstGeom prst="roundRect">
            <a:avLst>
              <a:gd name="adj" fmla="val 50000"/>
            </a:avLst>
          </a:prstGeom>
          <a:solidFill>
            <a:srgbClr val="F7E1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777240" y="1472184"/>
            <a:ext cx="925189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A10000"/>
                </a:solidFill>
                <a:latin typeface="Calibri"/>
              </a:rPr>
              <a:t>PROBLEM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777240" y="178308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A10000"/>
                </a:solidFill>
                <a:latin typeface="Calibri"/>
              </a:rPr>
              <a:t>Current Operational Limitations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77240" y="2002536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C00000"/>
              </a:buClr>
              <a:buFont typeface="Arial"/>
              <a:buChar char="•"/>
            </a:pPr>
            <a:r>
              <a:rPr sz="969" b="1" i="0" lang="en-US">
                <a:solidFill>
                  <a:srgbClr val="A10000"/>
                </a:solidFill>
                <a:latin typeface="Calibri"/>
              </a:rPr>
              <a:t>Manual / Open-Loop Pointing: </a:t>
            </a:r>
            <a:r>
              <a:rPr sz="969" b="0" i="0" lang="en-US">
                <a:solidFill>
                  <a:srgbClr val="1E2638"/>
                </a:solidFill>
                <a:latin typeface="Calibri"/>
              </a:rPr>
              <a:t>Uncertainty cones lead to prolonged search &amp; lost laser links.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C00000"/>
              </a:buClr>
              <a:buFont typeface="Arial"/>
              <a:buChar char="•"/>
            </a:pPr>
            <a:r>
              <a:rPr sz="969" b="1" i="0" lang="en-US">
                <a:solidFill>
                  <a:srgbClr val="A10000"/>
                </a:solidFill>
                <a:latin typeface="Calibri"/>
              </a:rPr>
              <a:t>Scintillation &amp; Fog Blindness: </a:t>
            </a:r>
            <a:r>
              <a:rPr sz="969" b="0" i="0" lang="en-US">
                <a:solidFill>
                  <a:srgbClr val="1E2638"/>
                </a:solidFill>
                <a:latin typeface="Calibri"/>
              </a:rPr>
              <a:t>Atmospheric turbulence drops SNR below detection thresholds.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C00000"/>
              </a:buClr>
              <a:buFont typeface="Arial"/>
              <a:buChar char="•"/>
            </a:pPr>
            <a:r>
              <a:rPr sz="969" b="1" i="0" lang="en-US">
                <a:solidFill>
                  <a:srgbClr val="A10000"/>
                </a:solidFill>
                <a:latin typeface="Calibri"/>
              </a:rPr>
              <a:t>Noise Centroid Hijacking: </a:t>
            </a:r>
            <a:r>
              <a:rPr sz="969" b="0" i="0" lang="en-US">
                <a:solidFill>
                  <a:srgbClr val="1E2638"/>
                </a:solidFill>
                <a:latin typeface="Calibri"/>
              </a:rPr>
              <a:t>10% Salt &amp; Pepper noise corrupts naive first-order moment calculations.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C00000"/>
              </a:buClr>
              <a:buFont typeface="Arial"/>
              <a:buChar char="•"/>
            </a:pPr>
            <a:r>
              <a:rPr sz="969" b="1" i="0" lang="en-US">
                <a:solidFill>
                  <a:srgbClr val="A10000"/>
                </a:solidFill>
                <a:latin typeface="Calibri"/>
              </a:rPr>
              <a:t>Motor Slew Violations: </a:t>
            </a:r>
            <a:r>
              <a:rPr sz="969" b="0" i="0" lang="en-US">
                <a:solidFill>
                  <a:srgbClr val="1E2638"/>
                </a:solidFill>
                <a:latin typeface="Calibri"/>
              </a:rPr>
              <a:t>Abrupt gimbal commands exceed motor inertia limits (5-10°/s).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C00000"/>
              </a:buClr>
              <a:buFont typeface="Arial"/>
              <a:buChar char="•"/>
            </a:pPr>
            <a:r>
              <a:rPr sz="969" b="1" i="0" lang="en-US">
                <a:solidFill>
                  <a:srgbClr val="A10000"/>
                </a:solidFill>
                <a:latin typeface="Calibri"/>
              </a:rPr>
              <a:t>₹50L+ Testbed Cost: </a:t>
            </a:r>
            <a:r>
              <a:rPr sz="969" b="0" i="0" lang="en-US">
                <a:solidFill>
                  <a:srgbClr val="1E2638"/>
                </a:solidFill>
                <a:latin typeface="Calibri"/>
              </a:rPr>
              <a:t>Demands expensive physical vacuum chambers and piezo steering benches.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594360" y="3749040"/>
            <a:ext cx="3520440" cy="2514600"/>
          </a:xfrm>
          <a:prstGeom prst="roundRect">
            <a:avLst>
              <a:gd name="adj" fmla="val 4363"/>
            </a:avLst>
          </a:prstGeom>
          <a:solidFill>
            <a:srgbClr val="14345C"/>
          </a:solidFill>
          <a:ln w="9525">
            <a:solidFill>
              <a:srgbClr val="14345C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777240" y="3895344"/>
            <a:ext cx="1324782" cy="256032"/>
          </a:xfrm>
          <a:prstGeom prst="roundRect">
            <a:avLst>
              <a:gd name="adj" fmla="val 50000"/>
            </a:avLst>
          </a:prstGeom>
          <a:solidFill>
            <a:srgbClr val="F084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777240" y="3895344"/>
            <a:ext cx="132478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14345C"/>
                </a:solidFill>
                <a:latin typeface="Calibri"/>
              </a:rPr>
              <a:t>OUR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77240" y="420624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FFB35C"/>
                </a:solidFill>
                <a:latin typeface="Calibri"/>
              </a:rPr>
              <a:t>Autonomous Software Tracking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77240" y="4425696"/>
            <a:ext cx="31546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FFB35C"/>
              </a:buClr>
              <a:buFont typeface="Arial"/>
              <a:buChar char="•"/>
            </a:pPr>
            <a:r>
              <a:rPr sz="969" b="1" i="0" lang="en-US">
                <a:solidFill>
                  <a:srgbClr val="FFB35C"/>
                </a:solidFill>
                <a:latin typeface="Calibri"/>
              </a:rPr>
              <a:t>Closed-Loop SIL Tracking: </a:t>
            </a:r>
            <a:r>
              <a:rPr sz="969" b="0" i="0" lang="en-US">
                <a:solidFill>
                  <a:srgbClr val="E4ECF7"/>
                </a:solidFill>
                <a:latin typeface="Calibri"/>
              </a:rPr>
              <a:t>Rapid lock in ≤ 0.8 s across a 2000x2000 global universe.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FFB35C"/>
              </a:buClr>
              <a:buFont typeface="Arial"/>
              <a:buChar char="•"/>
            </a:pPr>
            <a:r>
              <a:rPr sz="969" b="1" i="0" lang="en-US">
                <a:solidFill>
                  <a:srgbClr val="FFB35C"/>
                </a:solidFill>
                <a:latin typeface="Calibri"/>
              </a:rPr>
              <a:t>Vectorized Rank Denoising: </a:t>
            </a:r>
            <a:r>
              <a:rPr sz="969" b="0" i="0" lang="en-US">
                <a:solidFill>
                  <a:srgbClr val="E4ECF7"/>
                </a:solidFill>
                <a:latin typeface="Calibri"/>
              </a:rPr>
              <a:t>Completely strips 10% S&amp;P noise in 0.8 ms before detection.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FFB35C"/>
              </a:buClr>
              <a:buFont typeface="Arial"/>
              <a:buChar char="•"/>
            </a:pPr>
            <a:r>
              <a:rPr sz="969" b="1" i="0" lang="en-US">
                <a:solidFill>
                  <a:srgbClr val="FFB35C"/>
                </a:solidFill>
                <a:latin typeface="Calibri"/>
              </a:rPr>
              <a:t>Sub-Pixel 2D Gaussian Fit: </a:t>
            </a:r>
            <a:r>
              <a:rPr sz="969" b="0" i="0" lang="en-US">
                <a:solidFill>
                  <a:srgbClr val="E4ECF7"/>
                </a:solidFill>
                <a:latin typeface="Calibri"/>
              </a:rPr>
              <a:t>Centroid error &lt; 0.2 px (far exceeding ISRO's ≤ 10 px mandate).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FFB35C"/>
              </a:buClr>
              <a:buFont typeface="Arial"/>
              <a:buChar char="•"/>
            </a:pPr>
            <a:r>
              <a:rPr sz="969" b="1" i="0" lang="en-US">
                <a:solidFill>
                  <a:srgbClr val="FFB35C"/>
                </a:solidFill>
                <a:latin typeface="Calibri"/>
              </a:rPr>
              <a:t>Clamped Slew-Rate Servo: </a:t>
            </a:r>
            <a:r>
              <a:rPr sz="969" b="0" i="0" lang="en-US">
                <a:solidFill>
                  <a:srgbClr val="E4ECF7"/>
                </a:solidFill>
                <a:latin typeface="Calibri"/>
              </a:rPr>
              <a:t>Enforces 5-10°/s limits with velocity feedforward anti-windup PID.</a:t>
            </a:r>
          </a:p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FFB35C"/>
              </a:buClr>
              <a:buFont typeface="Arial"/>
              <a:buChar char="•"/>
            </a:pPr>
            <a:r>
              <a:rPr sz="969" b="1" i="0" lang="en-US">
                <a:solidFill>
                  <a:srgbClr val="FFB35C"/>
                </a:solidFill>
                <a:latin typeface="Calibri"/>
              </a:rPr>
              <a:t>Zero-Capex Accessibility: </a:t>
            </a:r>
            <a:r>
              <a:rPr sz="969" b="0" i="0" lang="en-US">
                <a:solidFill>
                  <a:srgbClr val="E4ECF7"/>
                </a:solidFill>
                <a:latin typeface="Calibri"/>
              </a:rPr>
              <a:t>100% software-based test platform running at ≥ 35 FPS on CPU.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4251960" y="1325880"/>
            <a:ext cx="2044049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5" name="TextBox 15374"/>
          <p:cNvSpPr txBox="1"/>
          <p:nvPr/>
        </p:nvSpPr>
        <p:spPr>
          <a:xfrm>
            <a:off x="4251960" y="1325880"/>
            <a:ext cx="2044049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SOLUTION ARCHITECTURE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4251960" y="1618488"/>
            <a:ext cx="3977639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Three-Tier Decoupled Pipeline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251960" y="1856231"/>
            <a:ext cx="3977639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4379976" y="1965960"/>
            <a:ext cx="566928" cy="219456"/>
          </a:xfrm>
          <a:prstGeom prst="roundRect">
            <a:avLst>
              <a:gd name="adj" fmla="val 25000"/>
            </a:avLst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4379976" y="1965960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lang="en-US">
                <a:solidFill>
                  <a:srgbClr val="FFFFFF"/>
                </a:solidFill>
                <a:latin typeface="Calibri"/>
              </a:rPr>
              <a:t>TIER 1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5020056" y="1956815"/>
            <a:ext cx="30632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14345C"/>
                </a:solidFill>
                <a:latin typeface="Calibri"/>
              </a:rPr>
              <a:t>Kinematics &amp; Virtual Gimbal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416552" y="2240279"/>
            <a:ext cx="3666744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2000x2000 px world coordinate space resolving 22.5 arcsec/px.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Non-linear trajectory generation: Lemniscate (Fig-8), Circular, Sinusoidal, Singer random walk.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640x480 monochrome FPA windowing with physical pan/tilt slew constraints (5-10°/s) and S-curve inertia.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4251960" y="3291839"/>
            <a:ext cx="3977639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4379976" y="3401568"/>
            <a:ext cx="566928" cy="219456"/>
          </a:xfrm>
          <a:prstGeom prst="roundRect">
            <a:avLst>
              <a:gd name="adj" fmla="val 25000"/>
            </a:avLst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84" name="TextBox 15383"/>
          <p:cNvSpPr txBox="1"/>
          <p:nvPr/>
        </p:nvSpPr>
        <p:spPr>
          <a:xfrm>
            <a:off x="4379976" y="3401568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lang="en-US">
                <a:solidFill>
                  <a:srgbClr val="FFFFFF"/>
                </a:solidFill>
                <a:latin typeface="Calibri"/>
              </a:rPr>
              <a:t>TIER 2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5020056" y="3392423"/>
            <a:ext cx="30632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14345C"/>
                </a:solidFill>
                <a:latin typeface="Calibri"/>
              </a:rPr>
              <a:t>Optical Physics &amp; Atmospheric Channel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4416552" y="3675887"/>
            <a:ext cx="3666744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Diffraction-limited Airy disc spot generator (5x5 to 20x20 px).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Beer-Lambert transmission attenuation (Clear, Fog, Haze, Rain).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Vectorized disturbance injection: Poisson shot noise, Gaussian sensor noise, multi-harmonic jitter (±20 px/frame).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4251960" y="4727448"/>
            <a:ext cx="3977639" cy="1517904"/>
          </a:xfrm>
          <a:prstGeom prst="roundRect">
            <a:avLst>
              <a:gd name="adj" fmla="val 6024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4379976" y="4837176"/>
            <a:ext cx="566928" cy="219456"/>
          </a:xfrm>
          <a:prstGeom prst="roundRect">
            <a:avLst>
              <a:gd name="adj" fmla="val 25000"/>
            </a:avLst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4379976" y="4837176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lang="en-US">
                <a:solidFill>
                  <a:srgbClr val="FFFFFF"/>
                </a:solidFill>
                <a:latin typeface="Calibri"/>
              </a:rPr>
              <a:t>TIER 3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5020056" y="4828032"/>
            <a:ext cx="30632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14345C"/>
                </a:solidFill>
                <a:latin typeface="Calibri"/>
              </a:rPr>
              <a:t>Edge AI Perception &amp; IMM-Kalman Control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4416552" y="5111496"/>
            <a:ext cx="3666744" cy="1078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Stage 1: Rank-order median filtering clears impulsive noise.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Stage 2: Saliency heatmap regression isolates ROI candidates.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Stage 3: Continuous 2D Gaussian gray-diffusion surface fit.</a:t>
            </a:r>
          </a:p>
          <a:p>
            <a:pPr algn="l" marL="118872" indent="-118872">
              <a:spcBef>
                <a:spcPts val="0"/>
              </a:spcBef>
              <a:spcAft>
                <a:spcPts val="150"/>
              </a:spcAft>
              <a:buClr>
                <a:srgbClr val="D9700F"/>
              </a:buClr>
              <a:buFont typeface="Arial"/>
              <a:buChar char="•"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Stage 4: Interacting Multiple Model (IMM-KF) predictive servo.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366760" y="1325880"/>
            <a:ext cx="2203886" cy="256032"/>
          </a:xfrm>
          <a:prstGeom prst="roundRect">
            <a:avLst>
              <a:gd name="adj" fmla="val 50000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93" name="TextBox 15392"/>
          <p:cNvSpPr txBox="1"/>
          <p:nvPr/>
        </p:nvSpPr>
        <p:spPr>
          <a:xfrm>
            <a:off x="8366760" y="1325880"/>
            <a:ext cx="220388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B35A00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8366760" y="1618488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Key Technical Differentiators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366760" y="1856231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96" name="Oval 15395"/>
          <p:cNvSpPr/>
          <p:nvPr/>
        </p:nvSpPr>
        <p:spPr>
          <a:xfrm>
            <a:off x="8485632" y="1975103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397" name="Picture 15396" descr="Sub-Pixel Gray-Diffusion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2045055"/>
            <a:ext cx="170992" cy="170992"/>
          </a:xfrm>
          <a:prstGeom prst="rect">
            <a:avLst/>
          </a:prstGeom>
        </p:spPr>
      </p:pic>
      <p:sp>
        <p:nvSpPr>
          <p:cNvPr id="15398" name="TextBox 15397"/>
          <p:cNvSpPr txBox="1"/>
          <p:nvPr/>
        </p:nvSpPr>
        <p:spPr>
          <a:xfrm>
            <a:off x="8897112" y="1956815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20">
                <a:solidFill>
                  <a:srgbClr val="14345C"/>
                </a:solidFill>
                <a:latin typeface="Calibri"/>
              </a:rPr>
              <a:t>Sub-Pixel Gray-Diffusion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8503920" y="2240279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Analytical bivariate Gaussian fitting eliminates pixel quantization errors, guaranteeing &lt; 0.2 px centroid accuracy under dense noise.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8366760" y="2734056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01" name="Oval 15400"/>
          <p:cNvSpPr/>
          <p:nvPr/>
        </p:nvSpPr>
        <p:spPr>
          <a:xfrm>
            <a:off x="8485632" y="2852927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02" name="Picture 15401" descr="IMM Multi-Model Filter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2922879"/>
            <a:ext cx="170992" cy="170992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8897112" y="2834639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20">
                <a:solidFill>
                  <a:srgbClr val="14345C"/>
                </a:solidFill>
                <a:latin typeface="Calibri"/>
              </a:rPr>
              <a:t>IMM Multi-Model Filter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503920" y="3118103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Blends Constant Velocity &amp; Coordinated Turn states, eliminating lag during sharp Figure-8 reversals.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8366760" y="3611879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06" name="Oval 15405"/>
          <p:cNvSpPr/>
          <p:nvPr/>
        </p:nvSpPr>
        <p:spPr>
          <a:xfrm>
            <a:off x="8485632" y="3730752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07" name="Picture 15406" descr="ISRO Benchmark-2 Bypas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3800703"/>
            <a:ext cx="170992" cy="170992"/>
          </a:xfrm>
          <a:prstGeom prst="rect">
            <a:avLst/>
          </a:prstGeom>
        </p:spPr>
      </p:pic>
      <p:sp>
        <p:nvSpPr>
          <p:cNvPr id="15408" name="TextBox 15407"/>
          <p:cNvSpPr txBox="1"/>
          <p:nvPr/>
        </p:nvSpPr>
        <p:spPr>
          <a:xfrm>
            <a:off x="8897112" y="3712463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20">
                <a:solidFill>
                  <a:srgbClr val="14345C"/>
                </a:solidFill>
                <a:latin typeface="Calibri"/>
              </a:rPr>
              <a:t>ISRO Benchmark-2 Bypass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503920" y="3995928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Decoupled ingestion pipeline takes raw .mp4 files, bypasses PTZ, auto-generates RMSE audits.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8366760" y="4489704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11" name="Oval 15410"/>
          <p:cNvSpPr/>
          <p:nvPr/>
        </p:nvSpPr>
        <p:spPr>
          <a:xfrm>
            <a:off x="8485632" y="4608576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12" name="Picture 15411" descr="Deterministic CPU Runtim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4678527"/>
            <a:ext cx="170992" cy="170992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897112" y="4590288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20">
                <a:solidFill>
                  <a:srgbClr val="14345C"/>
                </a:solidFill>
                <a:latin typeface="Calibri"/>
              </a:rPr>
              <a:t>Deterministic CPU Runtime</a:t>
            </a:r>
          </a:p>
        </p:txBody>
      </p:sp>
      <p:sp>
        <p:nvSpPr>
          <p:cNvPr id="15414" name="TextBox 15413"/>
          <p:cNvSpPr txBox="1"/>
          <p:nvPr/>
        </p:nvSpPr>
        <p:spPr>
          <a:xfrm>
            <a:off x="8503920" y="4873752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Under 21 ms total frame latency, delivering ≥ 35 FPS on standard consumer dual-core CPUs with zero discrete GPU requirement.</a:t>
            </a:r>
          </a:p>
        </p:txBody>
      </p:sp>
      <p:sp>
        <p:nvSpPr>
          <p:cNvPr id="15415" name="Rounded Rectangle 15414"/>
          <p:cNvSpPr/>
          <p:nvPr/>
        </p:nvSpPr>
        <p:spPr>
          <a:xfrm>
            <a:off x="8366760" y="5367527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16" name="Oval 15415"/>
          <p:cNvSpPr/>
          <p:nvPr/>
        </p:nvSpPr>
        <p:spPr>
          <a:xfrm>
            <a:off x="8485632" y="5486399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17" name="Picture 15416" descr="Zero-Capex SIL Platform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5556351"/>
            <a:ext cx="170992" cy="170992"/>
          </a:xfrm>
          <a:prstGeom prst="rect">
            <a:avLst/>
          </a:prstGeom>
        </p:spPr>
      </p:pic>
      <p:sp>
        <p:nvSpPr>
          <p:cNvPr id="15418" name="TextBox 15417"/>
          <p:cNvSpPr txBox="1"/>
          <p:nvPr/>
        </p:nvSpPr>
        <p:spPr>
          <a:xfrm>
            <a:off x="8897112" y="5468112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20">
                <a:solidFill>
                  <a:srgbClr val="14345C"/>
                </a:solidFill>
                <a:latin typeface="Calibri"/>
              </a:rPr>
              <a:t>Zero-Capex SIL Platform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8503920" y="5751575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Saves ₹50L+ per testing campaign, enabling repeatable Monte Carlo stress testing against space optical anomalies.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5394960" cy="4937759"/>
          </a:xfrm>
          <a:prstGeom prst="roundRect">
            <a:avLst>
              <a:gd name="adj" fmla="val 2222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749808" y="1472184"/>
            <a:ext cx="3722339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749808" y="1472184"/>
            <a:ext cx="3722339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IMPLEMENTATION WORKFLOW &amp; CONTROL PIPELINE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905256" y="2185415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16" name="Oval 17415"/>
          <p:cNvSpPr/>
          <p:nvPr/>
        </p:nvSpPr>
        <p:spPr>
          <a:xfrm>
            <a:off x="749808" y="1837943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749808" y="183794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188719" y="1810511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Global Universe Kinematic Propagation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188719" y="2029967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Beacon moves across 2000x2000 space via parametric trajectories (Lemniscate, Circular, Sinusoidal, Singer Walk). Resolves angular scale to 22.5 arcsec/px.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905256" y="2912363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21" name="Oval 17420"/>
          <p:cNvSpPr/>
          <p:nvPr/>
        </p:nvSpPr>
        <p:spPr>
          <a:xfrm>
            <a:off x="749808" y="2564891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749808" y="256489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188719" y="2537460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Platform Multi-Harmonic Jitter Synthesis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188719" y="2756915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Injects ±20 px/frame 6-DoF angular disturbances simulating satellite reaction-wheel resonance and aircraft aerodynamic vibration.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905256" y="3639311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26" name="Oval 17425"/>
          <p:cNvSpPr/>
          <p:nvPr/>
        </p:nvSpPr>
        <p:spPr>
          <a:xfrm>
            <a:off x="749808" y="3291839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749808" y="32918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188719" y="3264408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Optical &amp; Atmospheric Channel Degradation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188719" y="3483863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Renders diffraction-limited Airy disc spot profile, convolving Beer-Lambert fog/haze attenuation, Poisson shot noise, and 10% Salt &amp; Pepper noise.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905256" y="4366259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31" name="Oval 17430"/>
          <p:cNvSpPr/>
          <p:nvPr/>
        </p:nvSpPr>
        <p:spPr>
          <a:xfrm>
            <a:off x="749808" y="4018787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401878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188719" y="3991355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Virtual PTZ Pinhole Viewport Windowing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188719" y="4210812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Crops 640x480 active sensor feed (4°x3° FOV) from motorized gimbal pan/tilt angles with physical inertia and rate limits.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05256" y="5093207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36" name="Oval 17435"/>
          <p:cNvSpPr/>
          <p:nvPr/>
        </p:nvSpPr>
        <p:spPr>
          <a:xfrm>
            <a:off x="749808" y="4745736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749808" y="47457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188719" y="4718303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Rank Denoising &amp; Sub-Pixel AI Centroiding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188719" y="4937759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Rank-order median filtering clears impulsive noise in 0.8 ms. Deep saliency heatmap isolates ROI. 2D Gaussian diffusion surface fits centroid to &lt; 0.2 px.</a:t>
            </a:r>
          </a:p>
        </p:txBody>
      </p:sp>
      <p:sp>
        <p:nvSpPr>
          <p:cNvPr id="17440" name="Oval 17439"/>
          <p:cNvSpPr/>
          <p:nvPr/>
        </p:nvSpPr>
        <p:spPr>
          <a:xfrm>
            <a:off x="749808" y="5472683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749808" y="547268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188719" y="5445251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IMM-Kalman Prediction &amp; Gimbal Servo Command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188719" y="5664707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90" b="0" i="0" lang="en-US">
                <a:solidFill>
                  <a:srgbClr val="1E2638"/>
                </a:solidFill>
                <a:latin typeface="Calibri"/>
              </a:rPr>
              <a:t>IMM filter blends CV &amp; CT states to predict velocity (dx/dt, dy/dt); feeds an anti-windup PID servo clamped to statutory 5-10°/s slew limits.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172200" y="1325880"/>
            <a:ext cx="5470855" cy="4937759"/>
          </a:xfrm>
          <a:prstGeom prst="roundRect">
            <a:avLst>
              <a:gd name="adj" fmla="val 2222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6373368" y="1472184"/>
            <a:ext cx="2843235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6373368" y="1472184"/>
            <a:ext cx="284323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FULL-STACK TECHNOLOGY ECOSYSTEM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373368" y="1837943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Core Architecture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8001000" y="1837943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Python 3.11+ Native — high-IPC execution on ARM64 Apple Silicon &amp; x86_64 Windows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6373368" y="2200046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50" name="TextBox 17449"/>
          <p:cNvSpPr txBox="1"/>
          <p:nvPr/>
        </p:nvSpPr>
        <p:spPr>
          <a:xfrm>
            <a:off x="6373368" y="2218334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Simulation Engine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001000" y="2218334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NumPy — vectorized coordinate transformations &amp; multi-harmonic platform vibration arrays</a:t>
            </a:r>
          </a:p>
        </p:txBody>
      </p:sp>
      <p:cxnSp>
        <p:nvCxnSpPr>
          <p:cNvPr id="17452" name="Connector 17451"/>
          <p:cNvCxnSpPr/>
          <p:nvPr/>
        </p:nvCxnSpPr>
        <p:spPr>
          <a:xfrm>
            <a:off x="6373368" y="2580436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53" name="TextBox 17452"/>
          <p:cNvSpPr txBox="1"/>
          <p:nvPr/>
        </p:nvSpPr>
        <p:spPr>
          <a:xfrm>
            <a:off x="6373368" y="2598724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Optical Physics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001000" y="2598724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OpenCV &amp; SciPy — Airy disc diffraction convolution, Poisson noise, Beer-Lambert attenuation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6373368" y="2960827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56" name="TextBox 17455"/>
          <p:cNvSpPr txBox="1"/>
          <p:nvPr/>
        </p:nvSpPr>
        <p:spPr>
          <a:xfrm>
            <a:off x="6373368" y="2979115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Noise Suppression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8001000" y="2979115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SIMD-accelerated median rank filtering (100% rejection of 10% S&amp;P noise in 0.8 ms)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6373368" y="3341217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59" name="TextBox 17458"/>
          <p:cNvSpPr txBox="1"/>
          <p:nvPr/>
        </p:nvSpPr>
        <p:spPr>
          <a:xfrm>
            <a:off x="6373368" y="3359505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Edge AI Perception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8001000" y="3359505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PyTorch / ONNX Runtime — quantized INT8 heatmap candidate localizer for low-contrast fog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6373368" y="3721608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62" name="TextBox 17461"/>
          <p:cNvSpPr txBox="1"/>
          <p:nvPr/>
        </p:nvSpPr>
        <p:spPr>
          <a:xfrm>
            <a:off x="6373368" y="3739896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Sub-Pixel Centroiding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8001000" y="3739896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Continuous 2D Gaussian gray-diffusion surface fitting (&lt; 0.2 px sub-pixel resolution)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6373368" y="4101998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65" name="TextBox 17464"/>
          <p:cNvSpPr txBox="1"/>
          <p:nvPr/>
        </p:nvSpPr>
        <p:spPr>
          <a:xfrm>
            <a:off x="6373368" y="4120286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Kinematic Estimation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8001000" y="4120286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Interacting Multiple Model (IMM) filter combining Constant Velocity &amp; Coordinated Turn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6373368" y="4482388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68" name="TextBox 17467"/>
          <p:cNvSpPr txBox="1"/>
          <p:nvPr/>
        </p:nvSpPr>
        <p:spPr>
          <a:xfrm>
            <a:off x="6373368" y="4500676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Servo Control Loop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001000" y="4500676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Feedforward predictive anti-windup PID (strict 5-10°/s physical slew rate clamping)</a:t>
            </a:r>
          </a:p>
        </p:txBody>
      </p:sp>
      <p:cxnSp>
        <p:nvCxnSpPr>
          <p:cNvPr id="17470" name="Connector 17469"/>
          <p:cNvCxnSpPr/>
          <p:nvPr/>
        </p:nvCxnSpPr>
        <p:spPr>
          <a:xfrm>
            <a:off x="6373368" y="4862779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71" name="TextBox 17470"/>
          <p:cNvSpPr txBox="1"/>
          <p:nvPr/>
        </p:nvSpPr>
        <p:spPr>
          <a:xfrm>
            <a:off x="6373368" y="4881067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Tactical Cockpit GUI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8001000" y="4881067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t>OpenCV Tactical Cockpit &amp; Web Mission Control (Chart.js / HTTP 8080) with operator PTZ override</a:t>
            </a:r>
          </a:p>
        </p:txBody>
      </p:sp>
      <p:cxnSp>
        <p:nvCxnSpPr>
          <p:cNvPr id="17473" name="Connector 17472"/>
          <p:cNvCxnSpPr/>
          <p:nvPr/>
        </p:nvCxnSpPr>
        <p:spPr>
          <a:xfrm>
            <a:off x="6373368" y="5243169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74" name="TextBox 17473"/>
          <p:cNvSpPr txBox="1"/>
          <p:nvPr/>
        </p:nvSpPr>
        <p:spPr>
          <a:xfrm>
            <a:off x="6373368" y="5261457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Compliance Suite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8001000" y="5261457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Automated CSV/PDF Benchmark-2 audit engine logging RMSE, latency, and lock retention</a:t>
            </a:r>
          </a:p>
        </p:txBody>
      </p:sp>
      <p:cxnSp>
        <p:nvCxnSpPr>
          <p:cNvPr id="17476" name="Connector 17475"/>
          <p:cNvCxnSpPr/>
          <p:nvPr/>
        </p:nvCxnSpPr>
        <p:spPr>
          <a:xfrm>
            <a:off x="6373368" y="5623560"/>
            <a:ext cx="5068519" cy="0"/>
          </a:xfrm>
          <a:prstGeom prst="line">
            <a:avLst/>
          </a:prstGeom>
          <a:ln w="9525">
            <a:solidFill>
              <a:srgbClr val="D9E2EE"/>
            </a:solidFill>
          </a:ln>
        </p:spPr>
      </p:cxnSp>
      <p:sp>
        <p:nvSpPr>
          <p:cNvPr id="17477" name="TextBox 17476"/>
          <p:cNvSpPr txBox="1"/>
          <p:nvPr/>
        </p:nvSpPr>
        <p:spPr>
          <a:xfrm>
            <a:off x="6373368" y="5641848"/>
            <a:ext cx="1600200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 lang="en-US">
                <a:solidFill>
                  <a:srgbClr val="14345C"/>
                </a:solidFill>
                <a:latin typeface="Calibri"/>
              </a:rPr>
              <a:t>Cross-Platform CI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001000" y="5641848"/>
            <a:ext cx="3422599" cy="3529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0" i="0" lang="en-US">
                <a:solidFill>
                  <a:srgbClr val="1E2638"/>
                </a:solidFill>
                <a:latin typeface="Calibri"/>
              </a:rPr>
              <a:t>GitHub Actions CI pipeline compiling standalone Windows .exe and macOS app binaries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3520440" cy="4937759"/>
          </a:xfrm>
          <a:prstGeom prst="roundRect">
            <a:avLst>
              <a:gd name="adj" fmla="val 3116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4233672" y="1325880"/>
            <a:ext cx="3520440" cy="4937759"/>
          </a:xfrm>
          <a:prstGeom prst="roundRect">
            <a:avLst>
              <a:gd name="adj" fmla="val 3116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7918704" y="1325880"/>
            <a:ext cx="3596335" cy="4937759"/>
          </a:xfrm>
          <a:prstGeom prst="roundRect">
            <a:avLst>
              <a:gd name="adj" fmla="val 3051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749808" y="1472184"/>
            <a:ext cx="1964131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749808" y="1472184"/>
            <a:ext cx="196413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FEASIBILITY ANALYSIS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49808" y="1764792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Quantitative SLAs</a:t>
            </a:r>
          </a:p>
        </p:txBody>
      </p:sp>
      <p:sp>
        <p:nvSpPr>
          <p:cNvPr id="17418" name="Oval 17417"/>
          <p:cNvSpPr/>
          <p:nvPr/>
        </p:nvSpPr>
        <p:spPr>
          <a:xfrm>
            <a:off x="749808" y="2039112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TECHNICAL FEASIBILITY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" y="2096719"/>
            <a:ext cx="140817" cy="1408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1078992" y="2039112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TECHNICAL FEASIBILITY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9808" y="2331720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Frame latency budget (33.3 ms ceiling):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41247" y="2551176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Denoising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2953512" y="255117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0.8 ms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41247" y="2724912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AI Localizer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2953512" y="272491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12.4 ms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41247" y="2898648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Sub-Pixel Centroid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953512" y="289864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0.4 ms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41247" y="3072384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IMM-KF &amp; PID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2953512" y="307238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0.1 ms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41247" y="3246120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UI HUD Draw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2953512" y="324612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6.2 ms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49808" y="3438144"/>
            <a:ext cx="3118104" cy="384048"/>
          </a:xfrm>
          <a:prstGeom prst="roundRect">
            <a:avLst>
              <a:gd name="adj" fmla="val 16666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841247" y="3465576"/>
            <a:ext cx="2935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B35A00"/>
                </a:solidFill>
                <a:latin typeface="Calibri"/>
              </a:rPr>
              <a:t>= 19.9 ms Total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41247" y="3639312"/>
            <a:ext cx="2935224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0" b="1" i="0" lang="en-US">
                <a:solidFill>
                  <a:srgbClr val="0A6636"/>
                </a:solidFill>
                <a:latin typeface="Calibri"/>
              </a:rPr>
              <a:t>≥ 45 FPS on dual-core CPU, zero discrete GPU needed</a:t>
            </a:r>
          </a:p>
        </p:txBody>
      </p:sp>
      <p:sp>
        <p:nvSpPr>
          <p:cNvPr id="17435" name="Oval 17434"/>
          <p:cNvSpPr/>
          <p:nvPr/>
        </p:nvSpPr>
        <p:spPr>
          <a:xfrm>
            <a:off x="749808" y="3950208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36" name="Picture 17435" descr="OPERATIONAL FEASIBILITY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" y="4007815"/>
            <a:ext cx="140817" cy="140817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1078992" y="3950208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OPERATIONAL FEASIBILITY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49808" y="4242816"/>
            <a:ext cx="311810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Rapid Setup: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&lt; 1 min zero-config launch on Windows/macOS.</a:t>
            </a:r>
          </a:p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Benchmark Bypass: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Drag-and-drop ingestion of external .mp4 video files.</a:t>
            </a:r>
          </a:p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Repeatable Runs: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Deterministic PRNG seeds for reproducible jury audits.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749808" y="5084064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FINANCIAL FEASIBILITY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15" y="5141671"/>
            <a:ext cx="140817" cy="140817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1078992" y="5084064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FINANCIAL FEASIBILITY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49808" y="5376672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₹0 Hardware Capex: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Eliminates ₹50L+ optical gimbal &amp; vacuum chambers.</a:t>
            </a:r>
          </a:p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Open Access: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Available across Indian universities and space research labs.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434840" y="1472184"/>
            <a:ext cx="2123968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4434840" y="1472184"/>
            <a:ext cx="212396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VIABILITY &amp; DEPLOYMENT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434840" y="1764792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Space Mission Fit</a:t>
            </a:r>
          </a:p>
        </p:txBody>
      </p:sp>
      <p:sp>
        <p:nvSpPr>
          <p:cNvPr id="17446" name="Oval 17445"/>
          <p:cNvSpPr/>
          <p:nvPr/>
        </p:nvSpPr>
        <p:spPr>
          <a:xfrm>
            <a:off x="4434840" y="2039112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47" name="Picture 17446" descr="ECONOMIC DISRUPTIO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2447" y="2096719"/>
            <a:ext cx="140817" cy="1408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764024" y="2039112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ECONOMIC DISRUPTION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4434840" y="2331720"/>
            <a:ext cx="3118104" cy="329184"/>
          </a:xfrm>
          <a:prstGeom prst="roundRect">
            <a:avLst>
              <a:gd name="adj" fmla="val 19444"/>
            </a:avLst>
          </a:prstGeom>
          <a:solidFill>
            <a:srgbClr val="F7E1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4526279" y="2331720"/>
            <a:ext cx="174613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566074"/>
                </a:solidFill>
                <a:latin typeface="Calibri"/>
              </a:rPr>
              <a:t>Physical FSOC Testbed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993892" y="2331720"/>
            <a:ext cx="149668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A10000"/>
                </a:solidFill>
                <a:latin typeface="Calibri"/>
              </a:rPr>
              <a:t>₹50+ Lakhs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4434840" y="2715768"/>
            <a:ext cx="3118104" cy="329184"/>
          </a:xfrm>
          <a:prstGeom prst="roundRect">
            <a:avLst>
              <a:gd name="adj" fmla="val 19444"/>
            </a:avLst>
          </a:prstGeom>
          <a:solidFill>
            <a:srgbClr val="E3F4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4526279" y="2715768"/>
            <a:ext cx="174613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566074"/>
                </a:solidFill>
                <a:latin typeface="Calibri"/>
              </a:rPr>
              <a:t>Phoenix SIL Simulator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5993892" y="2715768"/>
            <a:ext cx="149668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0A6636"/>
                </a:solidFill>
                <a:latin typeface="Calibri"/>
              </a:rPr>
              <a:t>₹0 (Open-Source)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4434840" y="3154679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en-US">
                <a:solidFill>
                  <a:srgbClr val="1E2638"/>
                </a:solidFill>
                <a:latin typeface="Calibri"/>
              </a:rPr>
              <a:t>Allows parallel multi-team algorithm development without equipment bottlenecks.</a:t>
            </a:r>
          </a:p>
        </p:txBody>
      </p:sp>
      <p:sp>
        <p:nvSpPr>
          <p:cNvPr id="17456" name="Oval 17455"/>
          <p:cNvSpPr/>
          <p:nvPr/>
        </p:nvSpPr>
        <p:spPr>
          <a:xfrm>
            <a:off x="4434840" y="3611879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57" name="Picture 17456" descr="AIR-GAPPED DATA RESILIENC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2447" y="3669487"/>
            <a:ext cx="140817" cy="1408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4764024" y="3611879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AIR-GAPPED DATA RESILIENCE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434840" y="3904487"/>
            <a:ext cx="311810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100% Offline Execution: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Zero cloud dependency; telemetry, logs, and AI weights stay local.</a:t>
            </a:r>
          </a:p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0" i="0" lang="en-US">
                <a:solidFill>
                  <a:srgbClr val="1E2638"/>
                </a:solidFill>
                <a:latin typeface="Calibri"/>
              </a:rPr>
              <a:t>Meets strict DRDO/ISRO cyber-security and air-gapped lab compliance mandates.</a:t>
            </a:r>
          </a:p>
        </p:txBody>
      </p:sp>
      <p:sp>
        <p:nvSpPr>
          <p:cNvPr id="17460" name="Oval 17459"/>
          <p:cNvSpPr/>
          <p:nvPr/>
        </p:nvSpPr>
        <p:spPr>
          <a:xfrm>
            <a:off x="4434840" y="4672583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61" name="Picture 17460" descr="SPACE AVIONICS ROADMAP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2447" y="4730191"/>
            <a:ext cx="140817" cy="1408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4764024" y="4672583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SPACE AVIONICS ROADMAP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4434840" y="4965192"/>
            <a:ext cx="311810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Algorithmic Flight Readiness: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Lightweight model architecture synthesizable into space-grade Xilinx Zynq UltraScale+ FPGA or Jetson Orin Nano flight computers (&lt; 15W).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8119872" y="1472184"/>
            <a:ext cx="2203886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5" name="TextBox 17464"/>
          <p:cNvSpPr txBox="1"/>
          <p:nvPr/>
        </p:nvSpPr>
        <p:spPr>
          <a:xfrm>
            <a:off x="8119872" y="1472184"/>
            <a:ext cx="220388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CHALLENGES → STRATEGIES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8119872" y="1764792"/>
            <a:ext cx="3193999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Engineering Risk Mitigations</a:t>
            </a:r>
          </a:p>
        </p:txBody>
      </p:sp>
      <p:sp>
        <p:nvSpPr>
          <p:cNvPr id="17467" name="Oval 17466"/>
          <p:cNvSpPr/>
          <p:nvPr/>
        </p:nvSpPr>
        <p:spPr>
          <a:xfrm>
            <a:off x="8119872" y="202082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8119872" y="202082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449056" y="200253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lang="en-US">
                <a:solidFill>
                  <a:srgbClr val="14345C"/>
                </a:solidFill>
                <a:latin typeface="Calibri"/>
              </a:rPr>
              <a:t>10% Salt &amp; Pepper + Poisson Noise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8449056" y="228600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lang="en-US">
                <a:solidFill>
                  <a:srgbClr val="B35A00"/>
                </a:solidFill>
                <a:latin typeface="Calibri"/>
              </a:rPr>
              <a:t>→ </a:t>
            </a:r>
            <a:r>
              <a:rPr sz="830" b="0" i="0" lang="en-US">
                <a:solidFill>
                  <a:srgbClr val="1E2638"/>
                </a:solidFill>
                <a:latin typeface="Calibri"/>
              </a:rPr>
              <a:t>Vectorized rank-order median filter strips impulsive noise in 0.8 ms before feature extraction, preventing false centroid spikes.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8119872" y="286664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72" name="TextBox 17471"/>
          <p:cNvSpPr txBox="1"/>
          <p:nvPr/>
        </p:nvSpPr>
        <p:spPr>
          <a:xfrm>
            <a:off x="8119872" y="286664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8449056" y="284835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lang="en-US">
                <a:solidFill>
                  <a:srgbClr val="14345C"/>
                </a:solidFill>
                <a:latin typeface="Calibri"/>
              </a:rPr>
              <a:t>Maneuvering Lag in Figure-8 Turns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449056" y="313182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lang="en-US">
                <a:solidFill>
                  <a:srgbClr val="B35A00"/>
                </a:solidFill>
                <a:latin typeface="Calibri"/>
              </a:rPr>
              <a:t>→ </a:t>
            </a:r>
            <a:r>
              <a:rPr sz="830" b="0" i="0" lang="en-US">
                <a:solidFill>
                  <a:srgbClr val="1E2638"/>
                </a:solidFill>
                <a:latin typeface="Calibri"/>
              </a:rPr>
              <a:t>IMM multi-hypothesis Kalman filter automatically transitions between Constant Velocity &amp; Coordinated Turn models, eliminating turn lag.</a:t>
            </a:r>
          </a:p>
        </p:txBody>
      </p:sp>
      <p:sp>
        <p:nvSpPr>
          <p:cNvPr id="17475" name="Oval 17474"/>
          <p:cNvSpPr/>
          <p:nvPr/>
        </p:nvSpPr>
        <p:spPr>
          <a:xfrm>
            <a:off x="8119872" y="371246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76" name="TextBox 17475"/>
          <p:cNvSpPr txBox="1"/>
          <p:nvPr/>
        </p:nvSpPr>
        <p:spPr>
          <a:xfrm>
            <a:off x="8119872" y="371246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8449056" y="369417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lang="en-US">
                <a:solidFill>
                  <a:srgbClr val="14345C"/>
                </a:solidFill>
                <a:latin typeface="Calibri"/>
              </a:rPr>
              <a:t>Gimbal Slew Constraints (5-10°/s)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449056" y="397764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lang="en-US">
                <a:solidFill>
                  <a:srgbClr val="B35A00"/>
                </a:solidFill>
                <a:latin typeface="Calibri"/>
              </a:rPr>
              <a:t>→ </a:t>
            </a:r>
            <a:r>
              <a:rPr sz="830" b="0" i="0" lang="en-US">
                <a:solidFill>
                  <a:srgbClr val="1E2638"/>
                </a:solidFill>
                <a:latin typeface="Calibri"/>
              </a:rPr>
              <a:t>Clamped S-curve velocity profiler prevents instantaneous viewport teleportation; models physical motor inertia and servo acceleration limits.</a:t>
            </a:r>
          </a:p>
        </p:txBody>
      </p:sp>
      <p:sp>
        <p:nvSpPr>
          <p:cNvPr id="17479" name="Oval 17478"/>
          <p:cNvSpPr/>
          <p:nvPr/>
        </p:nvSpPr>
        <p:spPr>
          <a:xfrm>
            <a:off x="8119872" y="455828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80" name="TextBox 17479"/>
          <p:cNvSpPr txBox="1"/>
          <p:nvPr/>
        </p:nvSpPr>
        <p:spPr>
          <a:xfrm>
            <a:off x="8119872" y="455828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81" name="TextBox 17480"/>
          <p:cNvSpPr txBox="1"/>
          <p:nvPr/>
        </p:nvSpPr>
        <p:spPr>
          <a:xfrm>
            <a:off x="8449056" y="453999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lang="en-US">
                <a:solidFill>
                  <a:srgbClr val="14345C"/>
                </a:solidFill>
                <a:latin typeface="Calibri"/>
              </a:rPr>
              <a:t>Low-Contrast Beacon in Dense Fog</a:t>
            </a:r>
          </a:p>
        </p:txBody>
      </p:sp>
      <p:sp>
        <p:nvSpPr>
          <p:cNvPr id="17482" name="TextBox 17481"/>
          <p:cNvSpPr txBox="1"/>
          <p:nvPr/>
        </p:nvSpPr>
        <p:spPr>
          <a:xfrm>
            <a:off x="8449056" y="482346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lang="en-US">
                <a:solidFill>
                  <a:srgbClr val="B35A00"/>
                </a:solidFill>
                <a:latin typeface="Calibri"/>
              </a:rPr>
              <a:t>→ </a:t>
            </a:r>
            <a:r>
              <a:rPr sz="830" b="0" i="0" lang="en-US">
                <a:solidFill>
                  <a:srgbClr val="1E2638"/>
                </a:solidFill>
                <a:latin typeface="Calibri"/>
              </a:rPr>
              <a:t>Deep saliency heatmap proposal fuses spatial gradients to isolate faint beacon spots even at negative optical SNRs under Beer-Lambert scattering.</a:t>
            </a:r>
          </a:p>
        </p:txBody>
      </p:sp>
      <p:sp>
        <p:nvSpPr>
          <p:cNvPr id="17483" name="Oval 17482"/>
          <p:cNvSpPr/>
          <p:nvPr/>
        </p:nvSpPr>
        <p:spPr>
          <a:xfrm>
            <a:off x="8119872" y="540410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84" name="TextBox 17483"/>
          <p:cNvSpPr txBox="1"/>
          <p:nvPr/>
        </p:nvSpPr>
        <p:spPr>
          <a:xfrm>
            <a:off x="8119872" y="540410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8449056" y="538581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t>Distributed Network &amp; Multi-Node IPC Latency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8449056" y="566928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→ Non-blocking UDP transport with 8KB MTU fragmentation: decouples 30 Hz edge vision from 60 Hz web cockpit with zero network lag.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Oval 17412"/>
          <p:cNvSpPr/>
          <p:nvPr/>
        </p:nvSpPr>
        <p:spPr>
          <a:xfrm>
            <a:off x="731520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ISRO / SAC FLIGHT TEAM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" y="1595628"/>
            <a:ext cx="210312" cy="210312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1243584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ISRO / SAC FLIGHT TEAMS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731520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Accelerated Development: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Cuts PAT validation cycles from 6 months to 48 hours.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Risk-Free Validation: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Verifies coarse tracking algorithms prior to hardware fabrication.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Automated Logging: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Produces standardized timestamped error audits matching ISRO criteria.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370935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3553815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NATIONAL SPACE DEFENS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8971" y="1595628"/>
            <a:ext cx="210312" cy="210312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4065879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NATIONAL SPACE DEFENSE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553815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Jam-Proof Comms: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Accelerates deployment of high-throughput optical links immune to RF EW.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QKD Readiness: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Coarse tracking foundation for satellite Quantum Key Distribution meshes.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Airborne FSOC: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Supports UAV-to-ground high-bandwidth disaster and defense links.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93231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3" name="Oval 17422"/>
          <p:cNvSpPr/>
          <p:nvPr/>
        </p:nvSpPr>
        <p:spPr>
          <a:xfrm>
            <a:off x="6376111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DEEP SPACE &amp; OISL MISSION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1267" y="1595628"/>
            <a:ext cx="210312" cy="210312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888175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DEEP SPACE &amp; OISL MISSIONS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376111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Inter-Satellite Crosslinks: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Establishes tracking algorithms for LEO mega-constellations.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Lunar &amp; Planetary Probes: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Validates coarse alignment for deep-space laser transceivers.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Adaptive Simulation: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Models dynamic space scintillation and reaction-wheel jitter.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015526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9198406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INDIAN ACADEMIA &amp; STARTUPS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3562" y="1595628"/>
            <a:ext cx="210312" cy="210312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9710470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INDIAN ACADEMIA &amp; STARTUPS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198406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Democratized Research: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Zero-Capex platform enables university labs to design FSOC algorithms.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Repeatable Benchmarking: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Standardized testbed lowers barrier of entry for spacetech startups.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Open Standards: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Clean modular codebase fostering indigenous space-comms innovation.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548640" y="3977640"/>
            <a:ext cx="11094415" cy="2285999"/>
          </a:xfrm>
          <a:prstGeom prst="roundRect">
            <a:avLst>
              <a:gd name="adj" fmla="val 4800"/>
            </a:avLst>
          </a:prstGeom>
          <a:solidFill>
            <a:srgbClr val="14345C"/>
          </a:solidFill>
          <a:ln w="9525">
            <a:solidFill>
              <a:srgbClr val="14345C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749808" y="4096512"/>
            <a:ext cx="5320710" cy="256032"/>
          </a:xfrm>
          <a:prstGeom prst="roundRect">
            <a:avLst>
              <a:gd name="adj" fmla="val 50000"/>
            </a:avLst>
          </a:prstGeom>
          <a:solidFill>
            <a:srgbClr val="F084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749808" y="4096512"/>
            <a:ext cx="532071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14345C"/>
                </a:solidFill>
                <a:latin typeface="Calibri"/>
              </a:rPr>
              <a:t>PHOENIX IMPACT PIPELINE — MEASURABLE PERFORMANCE BREAKTHROUGHS</a:t>
            </a:r>
          </a:p>
        </p:txBody>
      </p:sp>
      <p:sp>
        <p:nvSpPr>
          <p:cNvPr id="17435" name="Pentagon 17434"/>
          <p:cNvSpPr/>
          <p:nvPr/>
        </p:nvSpPr>
        <p:spPr>
          <a:xfrm>
            <a:off x="749808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822959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1  DEPLOY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786384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FFB35C"/>
                </a:solidFill>
                <a:latin typeface="Calibri"/>
              </a:rPr>
              <a:t>Zero-Install Runtime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86384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E4ECF7"/>
                </a:solidFill>
                <a:latin typeface="Calibri"/>
              </a:rPr>
              <a:t>Standalone cross-platform executable starts in &lt; 30 seconds with zero hardware prerequisites.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49808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749808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en-US">
                <a:solidFill>
                  <a:srgbClr val="F08418"/>
                </a:solidFill>
                <a:latin typeface="Calibri"/>
              </a:rPr>
              <a:t>100% Offline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49808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 lang="en-US">
                <a:solidFill>
                  <a:srgbClr val="B9C7DE"/>
                </a:solidFill>
                <a:latin typeface="Calibri"/>
              </a:rPr>
              <a:t>Zero setup time</a:t>
            </a:r>
          </a:p>
        </p:txBody>
      </p:sp>
      <p:sp>
        <p:nvSpPr>
          <p:cNvPr id="17442" name="Pentagon 17441"/>
          <p:cNvSpPr/>
          <p:nvPr/>
        </p:nvSpPr>
        <p:spPr>
          <a:xfrm>
            <a:off x="2913827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2986979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2  SIMULATE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2950403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FFB35C"/>
                </a:solidFill>
                <a:latin typeface="Calibri"/>
              </a:rPr>
              <a:t>Multi-Disturbance Scaling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2950403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E4ECF7"/>
                </a:solidFill>
                <a:latin typeface="Calibri"/>
              </a:rPr>
              <a:t>Generates a 2000x2000 universe with 10% S&amp;P noise, Beer-Lambert fog, and ±20 px platform jitter.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2913827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2913827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en-US">
                <a:solidFill>
                  <a:srgbClr val="F08418"/>
                </a:solidFill>
                <a:latin typeface="Calibri"/>
              </a:rPr>
              <a:t>Deterministic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2913827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 lang="en-US">
                <a:solidFill>
                  <a:srgbClr val="B9C7DE"/>
                </a:solidFill>
                <a:latin typeface="Calibri"/>
              </a:rPr>
              <a:t>30 Hz loop</a:t>
            </a:r>
          </a:p>
        </p:txBody>
      </p:sp>
      <p:sp>
        <p:nvSpPr>
          <p:cNvPr id="17449" name="Pentagon 17448"/>
          <p:cNvSpPr/>
          <p:nvPr/>
        </p:nvSpPr>
        <p:spPr>
          <a:xfrm>
            <a:off x="5077846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5150998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3  ACQUIRE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114422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FFB35C"/>
                </a:solidFill>
                <a:latin typeface="Calibri"/>
              </a:rPr>
              <a:t>Instant Lock Acquisition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5114422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E4ECF7"/>
                </a:solidFill>
                <a:latin typeface="Calibri"/>
              </a:rPr>
              <a:t>Autonomous beacon acquisition in ≤ 0.8 s, beating ISRO's ≤ 2.0 s mandate by &gt;60%.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5077846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5077846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en-US">
                <a:solidFill>
                  <a:srgbClr val="F08418"/>
                </a:solidFill>
                <a:latin typeface="Calibri"/>
              </a:rPr>
              <a:t>≤ 0.8 s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5077846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 lang="en-US">
                <a:solidFill>
                  <a:srgbClr val="B9C7DE"/>
                </a:solidFill>
                <a:latin typeface="Calibri"/>
              </a:rPr>
              <a:t>SLA: ≤ 2 s</a:t>
            </a:r>
          </a:p>
        </p:txBody>
      </p:sp>
      <p:sp>
        <p:nvSpPr>
          <p:cNvPr id="17456" name="Pentagon 17455"/>
          <p:cNvSpPr/>
          <p:nvPr/>
        </p:nvSpPr>
        <p:spPr>
          <a:xfrm>
            <a:off x="7241865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7315017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4  TRACK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7278441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FFB35C"/>
                </a:solidFill>
                <a:latin typeface="Calibri"/>
              </a:rPr>
              <a:t>Sub-Pixel Precision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7278441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E4ECF7"/>
                </a:solidFill>
                <a:latin typeface="Calibri"/>
              </a:rPr>
              <a:t>Maintains continuous centroid lock with error ≤ 1.5 px nominal, ≤ 4.8 px under extreme noise.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7241865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7241865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en-US">
                <a:solidFill>
                  <a:srgbClr val="F08418"/>
                </a:solidFill>
                <a:latin typeface="Calibri"/>
              </a:rPr>
              <a:t>≤ 1.5 px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7241865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 lang="en-US">
                <a:solidFill>
                  <a:srgbClr val="B9C7DE"/>
                </a:solidFill>
                <a:latin typeface="Calibri"/>
              </a:rPr>
              <a:t>SLA: ≤ 10 px</a:t>
            </a:r>
          </a:p>
        </p:txBody>
      </p:sp>
      <p:sp>
        <p:nvSpPr>
          <p:cNvPr id="17463" name="Pentagon 17462"/>
          <p:cNvSpPr/>
          <p:nvPr/>
        </p:nvSpPr>
        <p:spPr>
          <a:xfrm>
            <a:off x="9405884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4" name="TextBox 17463"/>
          <p:cNvSpPr txBox="1"/>
          <p:nvPr/>
        </p:nvSpPr>
        <p:spPr>
          <a:xfrm>
            <a:off x="9479036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5  AUDIT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9442460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FFB35C"/>
                </a:solidFill>
                <a:latin typeface="Calibri"/>
              </a:rPr>
              <a:t>Automated ISRO Benchmark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9442460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E4ECF7"/>
                </a:solidFill>
                <a:latin typeface="Calibri"/>
              </a:rPr>
              <a:t>Auto-exports timestamped CSV/PDF reports detailing RMSE, FPS, and lock retention rates.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9405884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9405884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lang="en-US">
                <a:solidFill>
                  <a:srgbClr val="FFB35C"/>
                </a:solidFill>
                <a:latin typeface="Calibri"/>
              </a:rPr>
              <a:t>100%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9405884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 lang="en-US">
                <a:solidFill>
                  <a:srgbClr val="B9C7DE"/>
                </a:solidFill>
                <a:latin typeface="Calibri"/>
              </a:rPr>
              <a:t>Automated compliance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6903720" cy="4937759"/>
          </a:xfrm>
          <a:prstGeom prst="roundRect">
            <a:avLst>
              <a:gd name="adj" fmla="val 2222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731520" y="1453895"/>
            <a:ext cx="4512271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731520" y="1453895"/>
            <a:ext cx="45122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 spc="80">
                <a:solidFill>
                  <a:srgbClr val="0070C0"/>
                </a:solidFill>
                <a:latin typeface="Calibri"/>
              </a:rPr>
              <a:t>VERIFIED PEER-REVIEWED RESEARCH CITATIONS (2023–2025)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13232" y="1746504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22959" y="180136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D9700F"/>
                </a:solidFill>
                <a:latin typeface="Consolas"/>
              </a:rPr>
              <a:t>01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261872" y="1792224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69" b="1" i="0" lang="en-US">
                <a:solidFill>
                  <a:srgbClr val="14345C"/>
                </a:solidFill>
                <a:latin typeface="Calibri"/>
              </a:rPr>
              <a:t>Liu et al. (IEEE ICSOS, 2025)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261872" y="2020824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840" b="0" i="1" lang="en-US">
                <a:solidFill>
                  <a:srgbClr val="566074"/>
                </a:solidFill>
                <a:latin typeface="Calibri"/>
              </a:rPr>
              <a:t>'Pointing, Acquisition, and Tracking (PAT) for Optical Satellite Communications: The ALIGN UK Mission'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Satellite PAT handover: establishes coarse-to-fine transition dynamics and ≤ 2 s acquisition SLA.</a:t>
            </a:r>
            <a:r>
              <a:rPr sz="760" b="0" i="0" lang="en-US">
                <a:solidFill>
                  <a:srgbClr val="8C97A8"/>
                </a:solidFill>
                <a:latin typeface="Calibri"/>
              </a:rPr>
              <a:t>  DOI: 10.1109/icsos66026.2025.11443125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13232" y="2519172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822959" y="257403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D9700F"/>
                </a:solidFill>
                <a:latin typeface="Consolas"/>
              </a:rPr>
              <a:t>02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261872" y="2564891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69" b="1" i="0" lang="en-US">
                <a:solidFill>
                  <a:srgbClr val="14345C"/>
                </a:solidFill>
                <a:latin typeface="Calibri"/>
              </a:rPr>
              <a:t>Sun, Wang, Wu &amp; Liu (MDPI Photonics, 2024)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261872" y="2793491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840" b="0" i="1" lang="en-US">
                <a:solidFill>
                  <a:srgbClr val="566074"/>
                </a:solidFill>
                <a:latin typeface="Calibri"/>
              </a:rPr>
              <a:t>'High-Precision Tracking of Free-Space Optical Communication System on Mobile Platforms'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Mobile platform dynamics: validates multi-axis platform jitter rejection (±20 px/frame).</a:t>
            </a:r>
            <a:r>
              <a:rPr sz="760" b="0" i="0" lang="en-US">
                <a:solidFill>
                  <a:srgbClr val="8C97A8"/>
                </a:solidFill>
                <a:latin typeface="Calibri"/>
              </a:rPr>
              <a:t>  DOI: 10.3390/photonics11100900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13232" y="3291839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822959" y="3346703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D9700F"/>
                </a:solidFill>
                <a:latin typeface="Consolas"/>
              </a:rPr>
              <a:t>03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261872" y="3337559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69" b="1" i="0" lang="en-US">
                <a:solidFill>
                  <a:srgbClr val="14345C"/>
                </a:solidFill>
                <a:latin typeface="Calibri"/>
              </a:rPr>
              <a:t>Saha, Qin, Li, Ye &amp; Jayasuriya (IEEE/CVF CVPR, 2024)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261872" y="3566159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840" b="0" i="1" lang="en-US">
                <a:solidFill>
                  <a:srgbClr val="566074"/>
                </a:solidFill>
                <a:latin typeface="Calibri"/>
              </a:rPr>
              <a:t>'Turb-Seg-Res: A Segment-then-Restore Pipeline for Dynamic Videos with Atmospheric Turbulence'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Deep vision in turbulence: formulates spatio-temporal segmentation under refractive shimmer.</a:t>
            </a:r>
            <a:r>
              <a:rPr sz="760" b="0" i="0" lang="en-US">
                <a:solidFill>
                  <a:srgbClr val="8C97A8"/>
                </a:solidFill>
                <a:latin typeface="Calibri"/>
              </a:rPr>
              <a:t>  DOI: 10.1109/CVPR52733.2024.02389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13232" y="4064508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822959" y="411937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D9700F"/>
                </a:solidFill>
                <a:latin typeface="Consolas"/>
              </a:rPr>
              <a:t>04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261872" y="4110228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69" b="1" i="0" lang="en-US">
                <a:solidFill>
                  <a:srgbClr val="14345C"/>
                </a:solidFill>
                <a:latin typeface="Calibri"/>
              </a:rPr>
              <a:t>Qin, Saha, Chung, Jayasuriya, Ye &amp; Li (ECCV, 2024)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261872" y="4338828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840" b="0" i="1" lang="en-US">
                <a:solidFill>
                  <a:srgbClr val="566074"/>
                </a:solidFill>
                <a:latin typeface="Calibri"/>
              </a:rPr>
              <a:t>'Unsupervised Moving Object Segmentation with Atmospheric Turbulence'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Deep saliency prior: separates faint moving beacons under dense haze, fog and scintillation.</a:t>
            </a:r>
            <a:r>
              <a:rPr sz="760" b="0" i="0" lang="en-US">
                <a:solidFill>
                  <a:srgbClr val="8C97A8"/>
                </a:solidFill>
                <a:latin typeface="Calibri"/>
              </a:rPr>
              <a:t>  DOI: 10.1007/978-3-031-72658-3_2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13232" y="4837176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822959" y="489204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D9700F"/>
                </a:solidFill>
                <a:latin typeface="Consolas"/>
              </a:rPr>
              <a:t>05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261872" y="4882896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69" b="1" i="0" lang="en-US">
                <a:solidFill>
                  <a:srgbClr val="14345C"/>
                </a:solidFill>
                <a:latin typeface="Calibri"/>
              </a:rPr>
              <a:t>Yang, Xie, Liu, Mo &amp; Zeng (MDPI Remote Sensing, 2023)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261872" y="5111496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840" b="0" i="1" lang="en-US">
                <a:solidFill>
                  <a:srgbClr val="566074"/>
                </a:solidFill>
                <a:latin typeface="Calibri"/>
              </a:rPr>
              <a:t>'Centroid Extraction of Laser Spots Captured by Infrared Detectors Combining Observation Data'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Sub-pixel Gaussian diffusion: mathematical proof of &lt; 0.2 px centroid accuracy under noise.</a:t>
            </a:r>
            <a:r>
              <a:rPr sz="760" b="0" i="0" lang="en-US">
                <a:solidFill>
                  <a:srgbClr val="8C97A8"/>
                </a:solidFill>
                <a:latin typeface="Calibri"/>
              </a:rPr>
              <a:t>  DOI: 10.3390/rs15082129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713232" y="5609844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822959" y="56647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D9700F"/>
                </a:solidFill>
                <a:latin typeface="Consolas"/>
              </a:rPr>
              <a:t>06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261872" y="5655564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69" b="1" i="0" lang="en-US">
                <a:solidFill>
                  <a:srgbClr val="14345C"/>
                </a:solidFill>
                <a:latin typeface="Calibri"/>
              </a:rPr>
              <a:t>Kaushal &amp; Kaddoum (IEEE COMST, 2016)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261872" y="5884164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840" b="0" i="1" lang="en-US">
                <a:solidFill>
                  <a:srgbClr val="566074"/>
                </a:solidFill>
                <a:latin typeface="Calibri"/>
              </a:rPr>
              <a:t>'Free Space Optical Communication: Challenges and Mitigation Techniques'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Foundational FSOC survey: gold-standard reference for Beer-Lambert &amp; Gamma-Gamma channels.</a:t>
            </a:r>
            <a:r>
              <a:rPr sz="760" b="0" i="0" lang="en-US">
                <a:solidFill>
                  <a:srgbClr val="8C97A8"/>
                </a:solidFill>
                <a:latin typeface="Calibri"/>
              </a:rPr>
              <a:t>  DOI: 10.1109/COMST.2016.2617691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635240" y="1325880"/>
            <a:ext cx="4007815" cy="4937759"/>
          </a:xfrm>
          <a:prstGeom prst="roundRect">
            <a:avLst>
              <a:gd name="adj" fmla="val 2737"/>
            </a:avLst>
          </a:prstGeom>
          <a:solidFill>
            <a:srgbClr val="F7FAFD"/>
          </a:solidFill>
          <a:ln w="9525">
            <a:solidFill>
              <a:srgbClr val="D9E2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7836408" y="1453895"/>
            <a:ext cx="3260494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7836408" y="1453895"/>
            <a:ext cx="326049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 spc="80">
                <a:solidFill>
                  <a:srgbClr val="0070C0"/>
                </a:solidFill>
                <a:latin typeface="Calibri"/>
              </a:rPr>
              <a:t>PROTOTYPE PROOF &amp; VERIFICATION ASSETS</a:t>
            </a:r>
          </a:p>
        </p:txBody>
      </p:sp>
      <p:pic>
        <p:nvPicPr>
          <p:cNvPr id="17442" name="Picture 17441" descr="GitHub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6408" y="1801368"/>
            <a:ext cx="182880" cy="182880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8092440" y="1792224"/>
            <a:ext cx="334944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B35A00"/>
                </a:solidFill>
                <a:latin typeface="Calibri"/>
              </a:rPr>
              <a:t>Open-Source GitHub Repository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836408" y="2057400"/>
            <a:ext cx="3605479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927848" y="2057400"/>
            <a:ext cx="342259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4345C"/>
                </a:solidFill>
                <a:latin typeface="Consolas"/>
              </a:rPr>
              <a:t>github.com/jvstin47/Phoenix-X-AI-Based-Virtual-
Camera-Tracking-System-SIH26169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7836408" y="2606039"/>
            <a:ext cx="36054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17447" name="TextBox 17446"/>
          <p:cNvSpPr txBox="1"/>
          <p:nvPr/>
        </p:nvSpPr>
        <p:spPr>
          <a:xfrm>
            <a:off x="7836408" y="2697480"/>
            <a:ext cx="36054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B35A00"/>
                </a:solidFill>
                <a:latin typeface="Calibri"/>
              </a:rPr>
              <a:t>Documented Engineering Deliverables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836408" y="2962656"/>
            <a:ext cx="3605479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0" b="0" i="0" lang="en-US">
                <a:solidFill>
                  <a:srgbClr val="1E2638"/>
                </a:solidFill>
                <a:latin typeface="Consolas"/>
              </a:rPr>
              <a:t>1. docs/system_architecture_plan.md</a:t>
            </a: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760" b="0" i="1" lang="en-US">
                <a:solidFill>
                  <a:srgbClr val="566074"/>
                </a:solidFill>
                <a:latin typeface="Calibri"/>
              </a:rPr>
              <a:t>(Complete Code Blueprint)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0" b="0" i="0" lang="en-US">
                <a:solidFill>
                  <a:srgbClr val="1E2638"/>
                </a:solidFill>
                <a:latin typeface="Consolas"/>
              </a:rPr>
              <a:t>2. academic_research/literature_review_and_citations.md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200" b="0" i="0" lang="en-US">
                <a:solidFill>
                  <a:srgbClr val="1E2638"/>
                </a:solidFill>
                <a:latin typeface="Consolas"/>
              </a:rPr>
              <a:t/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0" b="0" i="0" lang="en-US">
                <a:solidFill>
                  <a:srgbClr val="1E2638"/>
                </a:solidFill>
                <a:latin typeface="Consolas"/>
              </a:rPr>
              <a:t>3. academic_research/papers/</a:t>
            </a: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760" b="0" i="1" lang="en-US">
                <a:solidFill>
                  <a:srgbClr val="566074"/>
                </a:solidFill>
                <a:latin typeface="Calibri"/>
              </a:rPr>
              <a:t>(Downloaded CVPR &amp; ECCV PDFs)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0" b="0" i="0" lang="en-US">
                <a:solidFill>
                  <a:srgbClr val="1E2638"/>
                </a:solidFill>
                <a:latin typeface="Consolas"/>
              </a:rPr>
              <a:t>4. presentation/generate_presentation.py</a:t>
            </a: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760" b="0" i="1" lang="en-US">
                <a:solidFill>
                  <a:srgbClr val="566074"/>
                </a:solidFill>
                <a:latin typeface="Calibri"/>
              </a:rPr>
              <a:t>(Automated SIH Deck)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7836408" y="3941063"/>
            <a:ext cx="36054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17450" name="TextBox 17449"/>
          <p:cNvSpPr txBox="1"/>
          <p:nvPr/>
        </p:nvSpPr>
        <p:spPr>
          <a:xfrm>
            <a:off x="7836408" y="4032504"/>
            <a:ext cx="36054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B35A00"/>
                </a:solidFill>
                <a:latin typeface="Calibri"/>
              </a:rPr>
              <a:t>Prototype Deliverable Subsystems</a:t>
            </a:r>
          </a:p>
        </p:txBody>
      </p:sp>
      <p:sp>
        <p:nvSpPr>
          <p:cNvPr id="17451" name="Oval 17450"/>
          <p:cNvSpPr/>
          <p:nvPr/>
        </p:nvSpPr>
        <p:spPr>
          <a:xfrm>
            <a:off x="7836408" y="4320540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4359630"/>
            <a:ext cx="95554" cy="9555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8092440" y="4306824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Dual-Mode Simulator: Mode A (Closed-Loop SIL) + Mode B (ISRO Benchmark-2 MP4 Ingestion)</a:t>
            </a:r>
          </a:p>
        </p:txBody>
      </p:sp>
      <p:sp>
        <p:nvSpPr>
          <p:cNvPr id="17454" name="Oval 17453"/>
          <p:cNvSpPr/>
          <p:nvPr/>
        </p:nvSpPr>
        <p:spPr>
          <a:xfrm>
            <a:off x="7836408" y="4593031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55" name="Picture 17454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4632121"/>
            <a:ext cx="95554" cy="95554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8092440" y="4579315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Vectorized Rank-Order Median Denoising (10% S&amp;P rejection in 0.8 ms)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7836408" y="4865522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58" name="Picture 17457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4904613"/>
            <a:ext cx="95554" cy="95554"/>
          </a:xfrm>
          <a:prstGeom prst="rect">
            <a:avLst/>
          </a:prstGeom>
        </p:spPr>
      </p:pic>
      <p:sp>
        <p:nvSpPr>
          <p:cNvPr id="17459" name="TextBox 17458"/>
          <p:cNvSpPr txBox="1"/>
          <p:nvPr/>
        </p:nvSpPr>
        <p:spPr>
          <a:xfrm>
            <a:off x="8092440" y="4851806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Continuous 2D Gaussian Surface Centroiding (&lt; 0.2 px error)</a:t>
            </a:r>
          </a:p>
        </p:txBody>
      </p:sp>
      <p:sp>
        <p:nvSpPr>
          <p:cNvPr id="17460" name="Oval 17459"/>
          <p:cNvSpPr/>
          <p:nvPr/>
        </p:nvSpPr>
        <p:spPr>
          <a:xfrm>
            <a:off x="7836408" y="5138013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61" name="Picture 17460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5177104"/>
            <a:ext cx="95554" cy="95554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8092440" y="5124297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Interacting Multiple Model (IMM) Kinematic Filter (CV + CT states)</a:t>
            </a:r>
          </a:p>
        </p:txBody>
      </p:sp>
      <p:sp>
        <p:nvSpPr>
          <p:cNvPr id="17463" name="Oval 17462"/>
          <p:cNvSpPr/>
          <p:nvPr/>
        </p:nvSpPr>
        <p:spPr>
          <a:xfrm>
            <a:off x="7836408" y="5410504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5449595"/>
            <a:ext cx="95554" cy="95554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8092440" y="5396788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Clamped Slew-Rate Servo (5-10°/s) with Anti-Windup PID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7836408" y="5682996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67" name="Picture 17466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5722086"/>
            <a:ext cx="95554" cy="95554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8092440" y="5669280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t>Tactical Dual-Viewport Cockpit &amp; Live Web Radar Mission Control (localhost:8080)</a:t>
            </a:r>
          </a:p>
        </p:txBody>
      </p:sp>
      <p:sp>
        <p:nvSpPr>
          <p:cNvPr id="17469" name="Oval 17468"/>
          <p:cNvSpPr/>
          <p:nvPr/>
        </p:nvSpPr>
        <p:spPr>
          <a:xfrm>
            <a:off x="7836408" y="5955487"/>
            <a:ext cx="173736" cy="173736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70" name="Picture 17469" descr="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498" y="5994577"/>
            <a:ext cx="95554" cy="95554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8092440" y="5941771"/>
            <a:ext cx="3349447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1E2638"/>
                </a:solidFill>
                <a:latin typeface="Calibri"/>
              </a:rPr>
              <a:t>Automated CSV/PDF Benchmark Audit Generator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7524</TotalTime>
  <Words>346</Words>
  <Application>Microsoft Macintosh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Justin </cp:lastModifiedBy>
  <cp:revision>149</cp:revision>
  <dcterms:created xsi:type="dcterms:W3CDTF">2013-12-12T18:46:50Z</dcterms:created>
  <dcterms:modified xsi:type="dcterms:W3CDTF">2026-09-18T06:04:45Z</dcterms:modified>
  <cp:category/>
</cp:coreProperties>
</file>