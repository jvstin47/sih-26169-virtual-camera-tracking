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352" y="1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32520" y="960120"/>
            <a:ext cx="2319302" cy="2577483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11480" y="868680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 spc="100">
                <a:solidFill>
                  <a:srgbClr val="B35A00"/>
                </a:solidFill>
                <a:latin typeface="Calibri"/>
              </a:rPr>
              <a:t>SPACE TECHNOLOGY &amp; SMART AUTOMATION  |  ISRO / SPACE APPLICATIONS CENTRE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1161288"/>
            <a:ext cx="76809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1F497D"/>
                </a:solidFill>
                <a:latin typeface="Calibri"/>
              </a:rPr>
              <a:t>PROJECT PHOENIX</a:t>
            </a:r>
          </a:p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1" i="0" lang="en-US">
                <a:solidFill>
                  <a:srgbClr val="D9700F"/>
                </a:solidFill>
                <a:latin typeface="Calibri"/>
              </a:rPr>
              <a:t>FSOC TRACKER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223113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50" b="0" i="0" lang="en-US">
                <a:solidFill>
                  <a:srgbClr val="566074"/>
                </a:solidFill>
                <a:latin typeface="Calibri"/>
              </a:rPr>
              <a:t>AI-based virtual camera tracking system for coarse alignment of mobile Free-Space Optical Communication (FSOC) terminals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2889504"/>
            <a:ext cx="7360920" cy="3474720"/>
          </a:xfrm>
          <a:prstGeom prst="roundRect">
            <a:avLst>
              <a:gd name="adj" fmla="val 3684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3054096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323697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lang="en-US">
                <a:solidFill>
                  <a:srgbClr val="D9700F"/>
                </a:solidFill>
                <a:latin typeface="Calibri"/>
              </a:rPr>
              <a:t>SIH26169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80" y="305409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THEME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3236976"/>
            <a:ext cx="3017520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Space Technology &amp; Smart Automation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3712464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85800" y="3803904"/>
            <a:ext cx="681228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PROBLEM STATEMENT TITLE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3995928"/>
            <a:ext cx="681228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 lang="en-US">
                <a:solidFill>
                  <a:srgbClr val="A10000"/>
                </a:solidFill>
                <a:latin typeface="Calibri"/>
              </a:rPr>
              <a:t>Development of an AI-Based Virtual Camera Tracking System for Coarse Alignment of Mobile Free Space Optical Communication (FSOC) Terminals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85800" y="4791456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85800" y="4882896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SPONSORING ORGANIZATION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488289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CATEGORY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06577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1F497D"/>
                </a:solidFill>
                <a:latin typeface="Calibri"/>
              </a:rPr>
              <a:t>ISRO / Space Applications Centre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506577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Software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85800" y="5486400"/>
            <a:ext cx="68122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685800" y="5577840"/>
            <a:ext cx="356616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NAME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26280" y="5577840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en-US" spc="150">
                <a:solidFill>
                  <a:srgbClr val="0070C0"/>
                </a:solidFill>
                <a:latin typeface="Calibri"/>
              </a:rPr>
              <a:t>TEAM 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7607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Phoenix 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57607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lang="en-US">
                <a:solidFill>
                  <a:srgbClr val="1F497D"/>
                </a:solidFill>
                <a:latin typeface="Calibri"/>
              </a:rPr>
              <a:t>141943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2440" y="3675887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120">
                <a:solidFill>
                  <a:srgbClr val="0070C0"/>
                </a:solidFill>
                <a:latin typeface="Calibri"/>
              </a:rPr>
              <a:t>HEADLINE CAPABILITIES</a:t>
            </a:r>
          </a:p>
        </p:txBody>
      </p:sp>
      <p:sp>
        <p:nvSpPr>
          <p:cNvPr id="60" name="Oval 59"/>
          <p:cNvSpPr/>
          <p:nvPr/>
        </p:nvSpPr>
        <p:spPr>
          <a:xfrm>
            <a:off x="8092440" y="40416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1" name="Picture 60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103370"/>
            <a:ext cx="150876" cy="15087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485632" y="4023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Closed-Loop Lock in ≤ 0.8 s</a:t>
            </a:r>
          </a:p>
        </p:txBody>
      </p:sp>
      <p:sp>
        <p:nvSpPr>
          <p:cNvPr id="63" name="Oval 62"/>
          <p:cNvSpPr/>
          <p:nvPr/>
        </p:nvSpPr>
        <p:spPr>
          <a:xfrm>
            <a:off x="8092440" y="44988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4560570"/>
            <a:ext cx="150876" cy="15087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485632" y="4480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Sub-Pixel Centroid Error &lt; 0.2 px</a:t>
            </a:r>
          </a:p>
        </p:txBody>
      </p:sp>
      <p:sp>
        <p:nvSpPr>
          <p:cNvPr id="66" name="Oval 65"/>
          <p:cNvSpPr/>
          <p:nvPr/>
        </p:nvSpPr>
        <p:spPr>
          <a:xfrm>
            <a:off x="8092440" y="49560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017770"/>
            <a:ext cx="150876" cy="150876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485632" y="4937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IMM-Kalman Predictive Servo</a:t>
            </a:r>
          </a:p>
        </p:txBody>
      </p:sp>
      <p:sp>
        <p:nvSpPr>
          <p:cNvPr id="69" name="Oval 68"/>
          <p:cNvSpPr/>
          <p:nvPr/>
        </p:nvSpPr>
        <p:spPr>
          <a:xfrm>
            <a:off x="8092440" y="54132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0" name="Picture 69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474970"/>
            <a:ext cx="150876" cy="150876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485632" y="5394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10% S&amp;P Noise Rejected in 0.8 ms</a:t>
            </a:r>
          </a:p>
        </p:txBody>
      </p:sp>
      <p:sp>
        <p:nvSpPr>
          <p:cNvPr id="72" name="Oval 71"/>
          <p:cNvSpPr/>
          <p:nvPr/>
        </p:nvSpPr>
        <p:spPr>
          <a:xfrm>
            <a:off x="8092440" y="5870448"/>
            <a:ext cx="274320" cy="274320"/>
          </a:xfrm>
          <a:prstGeom prst="ellipse">
            <a:avLst/>
          </a:prstGeom>
          <a:solidFill>
            <a:srgbClr val="15A4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3" name="Picture 72" descr="Check 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4162" y="5932170"/>
            <a:ext cx="150876" cy="15087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485632" y="5852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1F497D"/>
                </a:solidFill>
                <a:latin typeface="Calibri"/>
              </a:rPr>
              <a:t>≥ 35 FPS on CPU, Zero GPU Needed</a:t>
            </a:r>
          </a:p>
        </p:txBody>
      </p:sp>
      <p:pic>
        <p:nvPicPr>
          <p:cNvPr id="75" name="Picture 74" descr="01_satellite_ground_laser_lin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188720"/>
            <a:ext cx="361188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2800" b="1">
                <a:latin typeface="Times New Roman"/>
              </a:rP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3258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7E1E1"/>
          </a:solidFill>
          <a:ln w="9525">
            <a:solidFill>
              <a:srgbClr val="EFC9C9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65" name="Rounded Rectangle 15364"/>
          <p:cNvSpPr/>
          <p:nvPr/>
        </p:nvSpPr>
        <p:spPr>
          <a:xfrm>
            <a:off x="777240" y="1472184"/>
            <a:ext cx="925189" cy="256032"/>
          </a:xfrm>
          <a:prstGeom prst="roundRect">
            <a:avLst>
              <a:gd name="adj" fmla="val 50000"/>
            </a:avLst>
          </a:prstGeom>
          <a:solidFill>
            <a:srgbClr val="F7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777240" y="1472184"/>
            <a:ext cx="92518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A10000"/>
                </a:solidFill>
                <a:latin typeface="Calibri"/>
              </a:rPr>
              <a:t>PROBLEM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777240" y="178308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A10000"/>
                </a:solidFill>
                <a:latin typeface="Calibri"/>
              </a:rPr>
              <a:t>Current Operational Limitations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777240" y="2002536"/>
            <a:ext cx="315468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Manual / Open-Loop Pointing: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Uncertainty cones lead to prolonged search &amp; lost laser links.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Scintillation &amp; Fog Blindness: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Atmospheric turbulence drops SNR below detection thresholds.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Noise Centroid Hijacking: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10% Salt &amp; Pepper noise corrupts naive first-order moment calculations.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Motor Slew Violations: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Abrupt gimbal commands exceed motor inertia limits (5-10°/s).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Arial"/>
              <a:buChar char="•"/>
            </a:pPr>
            <a:r>
              <a:rPr sz="969" b="1" i="0" lang="en-US">
                <a:solidFill>
                  <a:srgbClr val="A10000"/>
                </a:solidFill>
                <a:latin typeface="Calibri"/>
              </a:rPr>
              <a:t>₹50L+ Testbed Cost: </a:t>
            </a:r>
            <a:r>
              <a:rPr sz="969" b="0" i="0" lang="en-US">
                <a:solidFill>
                  <a:srgbClr val="1E2638"/>
                </a:solidFill>
                <a:latin typeface="Calibri"/>
              </a:rPr>
              <a:t>Demands expensive physical vacuum chambers and piezo steering benches.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594360" y="3749040"/>
            <a:ext cx="3520440" cy="2514600"/>
          </a:xfrm>
          <a:prstGeom prst="roundRect">
            <a:avLst>
              <a:gd name="adj" fmla="val 4363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777240" y="3895344"/>
            <a:ext cx="1324782" cy="256032"/>
          </a:xfrm>
          <a:prstGeom prst="roundRect">
            <a:avLst>
              <a:gd name="adj" fmla="val 50000"/>
            </a:avLst>
          </a:prstGeom>
          <a:solidFill>
            <a:srgbClr val="F084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777240" y="3895344"/>
            <a:ext cx="132478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14345C"/>
                </a:solidFill>
                <a:latin typeface="Calibri"/>
              </a:rPr>
              <a:t>OUR SOLUTION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777240" y="4206240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FFB35C"/>
                </a:solidFill>
                <a:latin typeface="Calibri"/>
              </a:rPr>
              <a:t>Autonomous Software Tracking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777240" y="4425696"/>
            <a:ext cx="315468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Closed-Loop SIL Tracking: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Rapid lock in ≤ 0.8 s across a 2000x2000 global universe.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Vectorized Rank Denoising: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Completely strips 10% S&amp;P noise in 0.8 ms before detection.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Sub-Pixel 2D Gaussian Fit: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Centroid error &lt; 0.2 px (far exceeding ISRO's ≤ 10 px mandate).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Clamped Slew-Rate Servo: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Enforces 5-10°/s limits with velocity feedforward anti-windup PID.</a:t>
            </a:r>
          </a:p>
          <a:p>
            <a:pPr algn="l" marL="137160" indent="-137160">
              <a:spcBef>
                <a:spcPts val="0"/>
              </a:spcBef>
              <a:spcAft>
                <a:spcPts val="300"/>
              </a:spcAft>
              <a:buClr>
                <a:srgbClr val="FFB35C"/>
              </a:buClr>
              <a:buFont typeface="Arial"/>
              <a:buChar char="•"/>
            </a:pPr>
            <a:r>
              <a:rPr sz="969" b="1" i="0" lang="en-US">
                <a:solidFill>
                  <a:srgbClr val="FFB35C"/>
                </a:solidFill>
                <a:latin typeface="Calibri"/>
              </a:rPr>
              <a:t>Zero-Capex Accessibility: </a:t>
            </a:r>
            <a:r>
              <a:rPr sz="969" b="0" i="0" lang="en-US">
                <a:solidFill>
                  <a:srgbClr val="E4ECF7"/>
                </a:solidFill>
                <a:latin typeface="Calibri"/>
              </a:rPr>
              <a:t>100% software-based test platform running at ≥ 35 FPS on CPU.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4251960" y="1325880"/>
            <a:ext cx="2044049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4251960" y="1325880"/>
            <a:ext cx="204404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SOLUTION ARCHITECTURE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4251960" y="1618488"/>
            <a:ext cx="397763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Three-Tier Decoupled Pipeline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251960" y="1856231"/>
            <a:ext cx="3977639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78" name="Rounded Rectangle 15377"/>
          <p:cNvSpPr/>
          <p:nvPr/>
        </p:nvSpPr>
        <p:spPr>
          <a:xfrm>
            <a:off x="4379976" y="1965960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9" name="TextBox 15378"/>
          <p:cNvSpPr txBox="1"/>
          <p:nvPr/>
        </p:nvSpPr>
        <p:spPr>
          <a:xfrm>
            <a:off x="4379976" y="1965960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en-US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020056" y="1956815"/>
            <a:ext cx="30632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14345C"/>
                </a:solidFill>
                <a:latin typeface="Calibri"/>
              </a:rPr>
              <a:t>Kinematics &amp; Virtual Gimbal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4416552" y="2240279"/>
            <a:ext cx="3666744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2000x2000 px world coordinate space resolving 22.5 arcsec/px.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Non-linear trajectory generation: Lemniscate (Fig-8), Circular, Sinusoidal, Singer random walk.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640x480 monochrome FPA windowing with physical pan/tilt slew constraints (5-10°/s) and S-curve inertia.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251960" y="3291839"/>
            <a:ext cx="3977639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83" name="Rounded Rectangle 15382"/>
          <p:cNvSpPr/>
          <p:nvPr/>
        </p:nvSpPr>
        <p:spPr>
          <a:xfrm>
            <a:off x="4379976" y="3401568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4379976" y="3401568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en-US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5020056" y="3392423"/>
            <a:ext cx="30632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14345C"/>
                </a:solidFill>
                <a:latin typeface="Calibri"/>
              </a:rPr>
              <a:t>Optical Physics &amp; Atmospheric Channel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4416552" y="3675887"/>
            <a:ext cx="3666744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Diffraction-limited Airy disc spot generator (5x5 to 20x20 px).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Beer-Lambert transmission attenuation (Clear, Fog, Haze, Rain).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Vectorized disturbance injection: Poisson shot noise, Gaussian sensor noise, multi-harmonic jitter (±20 px/frame).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251960" y="4727448"/>
            <a:ext cx="3977639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4379976" y="4837176"/>
            <a:ext cx="566928" cy="219456"/>
          </a:xfrm>
          <a:prstGeom prst="roundRect">
            <a:avLst>
              <a:gd name="adj" fmla="val 25000"/>
            </a:avLst>
          </a:prstGeom>
          <a:solidFill>
            <a:srgbClr val="1F497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4379976" y="4837176"/>
            <a:ext cx="566928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en-US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5020056" y="4828032"/>
            <a:ext cx="3063239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14345C"/>
                </a:solidFill>
                <a:latin typeface="Calibri"/>
              </a:rPr>
              <a:t>Edge AI Perception &amp; IMM-Kalman Control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4416552" y="5111496"/>
            <a:ext cx="3666744" cy="1078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Stage 1: Rank-order median filtering clears impulsive noise.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Stage 2: Saliency heatmap regression isolates ROI candidates.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Stage 3: Continuous 2D Gaussian gray-diffusion surface fit.</a:t>
            </a:r>
          </a:p>
          <a:p>
            <a:pPr algn="l" marL="118872" indent="-118872">
              <a:spcBef>
                <a:spcPts val="0"/>
              </a:spcBef>
              <a:spcAft>
                <a:spcPts val="150"/>
              </a:spcAft>
              <a:buClr>
                <a:srgbClr val="D9700F"/>
              </a:buClr>
              <a:buFont typeface="Arial"/>
              <a:buChar char="•"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Stage 4: Interacting Multiple Model (IMM-KF) predictive servo.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8366760" y="1325880"/>
            <a:ext cx="2203886" cy="256032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93" name="TextBox 15392"/>
          <p:cNvSpPr txBox="1"/>
          <p:nvPr/>
        </p:nvSpPr>
        <p:spPr>
          <a:xfrm>
            <a:off x="8366760" y="1325880"/>
            <a:ext cx="220388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B35A00"/>
                </a:solidFill>
                <a:latin typeface="Calibri"/>
              </a:rPr>
              <a:t>INNOVATION &amp; UNIQUENESS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8366760" y="1618488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Key Technical Differentiators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8366760" y="1856231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396" name="Oval 15395"/>
          <p:cNvSpPr/>
          <p:nvPr/>
        </p:nvSpPr>
        <p:spPr>
          <a:xfrm>
            <a:off x="8485632" y="1975103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397" name="Picture 15396" descr="Sub-Pixel Gray-Diffus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2045055"/>
            <a:ext cx="170992" cy="170992"/>
          </a:xfrm>
          <a:prstGeom prst="rect">
            <a:avLst/>
          </a:prstGeom>
        </p:spPr>
      </p:pic>
      <p:sp>
        <p:nvSpPr>
          <p:cNvPr id="15398" name="TextBox 15397"/>
          <p:cNvSpPr txBox="1"/>
          <p:nvPr/>
        </p:nvSpPr>
        <p:spPr>
          <a:xfrm>
            <a:off x="8897112" y="1956815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Sub-Pixel Gray-Diffusion</a:t>
            </a:r>
          </a:p>
        </p:txBody>
      </p:sp>
      <p:sp>
        <p:nvSpPr>
          <p:cNvPr id="15399" name="TextBox 15398"/>
          <p:cNvSpPr txBox="1"/>
          <p:nvPr/>
        </p:nvSpPr>
        <p:spPr>
          <a:xfrm>
            <a:off x="8503920" y="2240279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Analytical bivariate Gaussian fitting eliminates pixel quantization errors, guaranteeing &lt; 0.2 px centroid accuracy under dense noise.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8366760" y="2734056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01" name="Oval 15400"/>
          <p:cNvSpPr/>
          <p:nvPr/>
        </p:nvSpPr>
        <p:spPr>
          <a:xfrm>
            <a:off x="8485632" y="2852927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02" name="Picture 15401" descr="IMM Multi-Model Filter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2922879"/>
            <a:ext cx="170992" cy="170992"/>
          </a:xfrm>
          <a:prstGeom prst="rect">
            <a:avLst/>
          </a:prstGeom>
        </p:spPr>
      </p:pic>
      <p:sp>
        <p:nvSpPr>
          <p:cNvPr id="15403" name="TextBox 15402"/>
          <p:cNvSpPr txBox="1"/>
          <p:nvPr/>
        </p:nvSpPr>
        <p:spPr>
          <a:xfrm>
            <a:off x="8897112" y="2834639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IMM Multi-Model Filter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8503920" y="3118103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Blends Constant Velocity &amp; Coordinated Turn states, eliminating lag during sharp Figure-8 reversals.</a:t>
            </a:r>
          </a:p>
        </p:txBody>
      </p:sp>
      <p:sp>
        <p:nvSpPr>
          <p:cNvPr id="15405" name="Rounded Rectangle 15404"/>
          <p:cNvSpPr/>
          <p:nvPr/>
        </p:nvSpPr>
        <p:spPr>
          <a:xfrm>
            <a:off x="8366760" y="3611879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06" name="Oval 15405"/>
          <p:cNvSpPr/>
          <p:nvPr/>
        </p:nvSpPr>
        <p:spPr>
          <a:xfrm>
            <a:off x="8485632" y="3730752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07" name="Picture 15406" descr="ISRO Benchmark-2 Bypas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3800703"/>
            <a:ext cx="170992" cy="170992"/>
          </a:xfrm>
          <a:prstGeom prst="rect">
            <a:avLst/>
          </a:prstGeom>
        </p:spPr>
      </p:pic>
      <p:sp>
        <p:nvSpPr>
          <p:cNvPr id="15408" name="TextBox 15407"/>
          <p:cNvSpPr txBox="1"/>
          <p:nvPr/>
        </p:nvSpPr>
        <p:spPr>
          <a:xfrm>
            <a:off x="8897112" y="3712463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ISRO Benchmark-2 Bypass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8503920" y="3995928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Decoupled ingestion pipeline takes raw .mp4 files, bypasses PTZ, auto-generates RMSE audits.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8366760" y="4489704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11" name="Oval 15410"/>
          <p:cNvSpPr/>
          <p:nvPr/>
        </p:nvSpPr>
        <p:spPr>
          <a:xfrm>
            <a:off x="8485632" y="4608576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12" name="Picture 15411" descr="Deterministic CPU Runtim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4678527"/>
            <a:ext cx="170992" cy="170992"/>
          </a:xfrm>
          <a:prstGeom prst="rect">
            <a:avLst/>
          </a:prstGeom>
        </p:spPr>
      </p:pic>
      <p:sp>
        <p:nvSpPr>
          <p:cNvPr id="15413" name="TextBox 15412"/>
          <p:cNvSpPr txBox="1"/>
          <p:nvPr/>
        </p:nvSpPr>
        <p:spPr>
          <a:xfrm>
            <a:off x="8897112" y="4590288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Deterministic CPU Runtime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8503920" y="4873752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Under 21 ms total frame latency, delivering ≥ 35 FPS on standard consumer dual-core CPUs with zero discrete GPU requirement.</a:t>
            </a:r>
          </a:p>
        </p:txBody>
      </p:sp>
      <p:sp>
        <p:nvSpPr>
          <p:cNvPr id="15415" name="Rounded Rectangle 15414"/>
          <p:cNvSpPr/>
          <p:nvPr/>
        </p:nvSpPr>
        <p:spPr>
          <a:xfrm>
            <a:off x="8366760" y="5367527"/>
            <a:ext cx="3200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416" name="Oval 15415"/>
          <p:cNvSpPr/>
          <p:nvPr/>
        </p:nvSpPr>
        <p:spPr>
          <a:xfrm>
            <a:off x="8485632" y="5486399"/>
            <a:ext cx="310896" cy="310896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417" name="Picture 15416" descr="Zero-Capex SIL Platform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583" y="5556351"/>
            <a:ext cx="170992" cy="170992"/>
          </a:xfrm>
          <a:prstGeom prst="rect">
            <a:avLst/>
          </a:prstGeom>
        </p:spPr>
      </p:pic>
      <p:sp>
        <p:nvSpPr>
          <p:cNvPr id="15418" name="TextBox 15417"/>
          <p:cNvSpPr txBox="1"/>
          <p:nvPr/>
        </p:nvSpPr>
        <p:spPr>
          <a:xfrm>
            <a:off x="8897112" y="5468112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20">
                <a:solidFill>
                  <a:srgbClr val="14345C"/>
                </a:solidFill>
                <a:latin typeface="Calibri"/>
              </a:rPr>
              <a:t>Zero-Capex SIL Platform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503920" y="5751575"/>
            <a:ext cx="292608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Saves ₹50L+ per testing campaign, enabling repeatable Monte Carlo stress testing against space optical anomalies.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5394960" cy="4937759"/>
          </a:xfrm>
          <a:prstGeom prst="roundRect">
            <a:avLst>
              <a:gd name="adj" fmla="val 2222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49808" y="1472184"/>
            <a:ext cx="3722339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49808" y="1472184"/>
            <a:ext cx="372233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IMPLEMENTATION WORKFLOW &amp; CONTROL PIPELINE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905256" y="2185415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16" name="Oval 17415"/>
          <p:cNvSpPr/>
          <p:nvPr/>
        </p:nvSpPr>
        <p:spPr>
          <a:xfrm>
            <a:off x="749808" y="1837943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749808" y="183794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188719" y="1810511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Global Universe Kinematic Propagation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188719" y="2029967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Beacon moves across 2000x2000 space via parametric trajectories (Lemniscate, Circular, Sinusoidal, Singer Walk). Resolves angular scale to 22.5 arcsec/px.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905256" y="2912363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21" name="Oval 17420"/>
          <p:cNvSpPr/>
          <p:nvPr/>
        </p:nvSpPr>
        <p:spPr>
          <a:xfrm>
            <a:off x="749808" y="2564891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749808" y="2564891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188719" y="2537460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Platform Multi-Harmonic Jitter Synthesis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188719" y="2756915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Injects ±20 px/frame 6-DoF angular disturbances simulating satellite reaction-wheel resonance and aircraft aerodynamic vibration.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905256" y="3639311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26" name="Oval 17425"/>
          <p:cNvSpPr/>
          <p:nvPr/>
        </p:nvSpPr>
        <p:spPr>
          <a:xfrm>
            <a:off x="749808" y="3291839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749808" y="329183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188719" y="3264408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Optical &amp; Atmospheric Channel Degradation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188719" y="3483863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Renders diffraction-limited Airy disc spot profile, convolving Beer-Lambert fog/haze attenuation, Poisson shot noise, and 10% Salt &amp; Pepper noise.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905256" y="4366259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31" name="Oval 17430"/>
          <p:cNvSpPr/>
          <p:nvPr/>
        </p:nvSpPr>
        <p:spPr>
          <a:xfrm>
            <a:off x="749808" y="4018787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749808" y="4018787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188719" y="3991355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Virtual PTZ Pinhole Viewport Windowing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188719" y="4210812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Crops 640x480 active sensor feed (4°x3° FOV) from motorized gimbal pan/tilt angles with physical inertia and rate limits.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905256" y="5093207"/>
            <a:ext cx="0" cy="333757"/>
          </a:xfrm>
          <a:prstGeom prst="line">
            <a:avLst/>
          </a:prstGeom>
          <a:ln w="19050">
            <a:solidFill>
              <a:srgbClr val="F3C9A5"/>
            </a:solidFill>
          </a:ln>
        </p:spPr>
      </p:cxnSp>
      <p:sp>
        <p:nvSpPr>
          <p:cNvPr id="17436" name="Oval 17435"/>
          <p:cNvSpPr/>
          <p:nvPr/>
        </p:nvSpPr>
        <p:spPr>
          <a:xfrm>
            <a:off x="749808" y="4745736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749808" y="474573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188719" y="4718303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Rank Denoising &amp; Sub-Pixel AI Centroiding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188719" y="4937759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Rank-order median filtering clears impulsive noise in 0.8 ms. Deep saliency heatmap isolates ROI. 2D Gaussian diffusion surface fits centroid to &lt; 0.2 px.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749808" y="5472683"/>
            <a:ext cx="292608" cy="292608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49808" y="5472683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en-US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1188719" y="5445251"/>
            <a:ext cx="4553712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en-US">
                <a:solidFill>
                  <a:srgbClr val="14345C"/>
                </a:solidFill>
                <a:latin typeface="Calibri"/>
              </a:rPr>
              <a:t>IMM-Kalman Prediction &amp; Gimbal Servo Command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1188719" y="5664707"/>
            <a:ext cx="455371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90" b="0" i="0" lang="en-US">
                <a:solidFill>
                  <a:srgbClr val="1E2638"/>
                </a:solidFill>
                <a:latin typeface="Calibri"/>
              </a:rPr>
              <a:t>IMM filter blends CV &amp; CT states to predict velocity (dx/dt, dy/dt); feeds an anti-windup PID servo clamped to statutory 5-10°/s slew limits.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172200" y="1325880"/>
            <a:ext cx="5470855" cy="4937759"/>
          </a:xfrm>
          <a:prstGeom prst="roundRect">
            <a:avLst>
              <a:gd name="adj" fmla="val 2222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6373368" y="1472184"/>
            <a:ext cx="2843235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373368" y="1472184"/>
            <a:ext cx="284323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FULL-STACK TECHNOLOGY ECOSYSTEM</a:t>
            </a:r>
          </a:p>
        </p:txBody>
      </p:sp>
      <p:pic>
        <p:nvPicPr>
          <p:cNvPr id="17447" name="Picture 17446" descr="05_distributed_3node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28800"/>
            <a:ext cx="5193792" cy="2286000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6309360" y="4251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2240"/>
                </a:solidFill>
              </a:defRPr>
            </a:pPr>
            <a:r>
              <a:t>IMM Kinematics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909560" y="4251960"/>
            <a:ext cx="3593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Dual-mode Kalman filter combining CV and CT models to eliminate lag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309360" y="47548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2240"/>
                </a:solidFill>
              </a:defRPr>
            </a:pPr>
            <a:r>
              <a:t>Servo Control Loop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7909560" y="4754880"/>
            <a:ext cx="3593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Feedforward predictive anti-windup PID (strict 5-10°/s slew clamping)</a:t>
            </a:r>
          </a:p>
        </p:txBody>
      </p:sp>
      <p:cxnSp>
        <p:nvCxnSpPr>
          <p:cNvPr id="17452" name="Connector 17451"/>
          <p:cNvCxnSpPr/>
          <p:nvPr/>
        </p:nvCxnSpPr>
        <p:spPr>
          <a:xfrm>
            <a:off x="6309360" y="4700016"/>
            <a:ext cx="51937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TextBox 17452"/>
          <p:cNvSpPr txBox="1"/>
          <p:nvPr/>
        </p:nvSpPr>
        <p:spPr>
          <a:xfrm>
            <a:off x="6309360" y="5257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2240"/>
                </a:solidFill>
              </a:defRPr>
            </a:pPr>
            <a:r>
              <a:t>Tactical Cockpit GUI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7909560" y="5257800"/>
            <a:ext cx="3593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OpenCV Tactical HUD &amp; Live Web Radar (HTTP 8080) with manual PTZ override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6309360" y="5202936"/>
            <a:ext cx="51937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TextBox 17455"/>
          <p:cNvSpPr txBox="1"/>
          <p:nvPr/>
        </p:nvSpPr>
        <p:spPr>
          <a:xfrm>
            <a:off x="6309360" y="57607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F2240"/>
                </a:solidFill>
              </a:defRPr>
            </a:pPr>
            <a:r>
              <a:t>Compliance &amp; CI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7909560" y="5760720"/>
            <a:ext cx="35935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Automated CSV/PDF Benchmark-2 audit engine logging RMSE &amp; lock retention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6309360" y="5705856"/>
            <a:ext cx="51937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3520440" cy="4937759"/>
          </a:xfrm>
          <a:prstGeom prst="roundRect">
            <a:avLst>
              <a:gd name="adj" fmla="val 3116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4233672" y="1325880"/>
            <a:ext cx="3520440" cy="4937759"/>
          </a:xfrm>
          <a:prstGeom prst="roundRect">
            <a:avLst>
              <a:gd name="adj" fmla="val 3116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4" name="Rounded Rectangle 17413"/>
          <p:cNvSpPr/>
          <p:nvPr/>
        </p:nvSpPr>
        <p:spPr>
          <a:xfrm>
            <a:off x="7918704" y="1325880"/>
            <a:ext cx="3596335" cy="4937759"/>
          </a:xfrm>
          <a:prstGeom prst="roundRect">
            <a:avLst>
              <a:gd name="adj" fmla="val 3051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749808" y="1472184"/>
            <a:ext cx="1964131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749808" y="1472184"/>
            <a:ext cx="1964131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FEASIBILITY ANALYSIS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49808" y="1764792"/>
            <a:ext cx="3118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Quantitative SLAs</a:t>
            </a:r>
          </a:p>
        </p:txBody>
      </p:sp>
      <p:sp>
        <p:nvSpPr>
          <p:cNvPr id="17418" name="Oval 17417"/>
          <p:cNvSpPr/>
          <p:nvPr/>
        </p:nvSpPr>
        <p:spPr>
          <a:xfrm>
            <a:off x="749808" y="2039112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TECHNICAL FEASIBILITY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" y="2096719"/>
            <a:ext cx="140817" cy="140817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1078992" y="203911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TECHNICAL FEASIBILITY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49808" y="2331720"/>
            <a:ext cx="3118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Frame latency budget (33.3 ms ceiling):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41247" y="2551176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Denoising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953512" y="2551176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0.8 ms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41247" y="2724912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AI Localizer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953512" y="2724912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12.4 ms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841247" y="2898648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Sub-Pixel Centroid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953512" y="2898648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0.4 ms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41247" y="3072384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IMM-KF &amp; PID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953512" y="3072384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0.1 ms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41247" y="3246120"/>
            <a:ext cx="2112264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1E2638"/>
                </a:solidFill>
                <a:latin typeface="Calibri"/>
              </a:rPr>
              <a:t>UI HUD Draw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2953512" y="3246120"/>
            <a:ext cx="914400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1" i="0" lang="en-US">
                <a:solidFill>
                  <a:srgbClr val="1E2638"/>
                </a:solidFill>
                <a:latin typeface="Calibri"/>
              </a:rPr>
              <a:t>6.2 ms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749808" y="3438144"/>
            <a:ext cx="3118104" cy="384048"/>
          </a:xfrm>
          <a:prstGeom prst="roundRect">
            <a:avLst>
              <a:gd name="adj" fmla="val 16666"/>
            </a:avLst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841247" y="3465576"/>
            <a:ext cx="2935224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B35A00"/>
                </a:solidFill>
                <a:latin typeface="Calibri"/>
              </a:rPr>
              <a:t>= 19.9 ms Total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41247" y="3639312"/>
            <a:ext cx="2935224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60" b="1" i="0" lang="en-US">
                <a:solidFill>
                  <a:srgbClr val="0A6636"/>
                </a:solidFill>
                <a:latin typeface="Calibri"/>
              </a:rPr>
              <a:t>≥ 45 FPS on dual-core CPU, zero discrete GPU needed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749808" y="3950208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36" name="Picture 17435" descr="OPERATIONAL FEASIBILIT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" y="4007815"/>
            <a:ext cx="140817" cy="140817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1078992" y="3950208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OPERATIONAL FEASIBILITY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49808" y="4242816"/>
            <a:ext cx="311810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Rapid Setup: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&lt; 1 min zero-config launch on Windows/macOS.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Benchmark Bypass: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Drag-and-drop ingestion of external .mp4 video files.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Repeatable Runs: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Deterministic PRNG seeds for reproducible jury audits.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749808" y="5084064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0" name="Picture 17439" descr="FINANCIAL FEASIBILITY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" y="5141671"/>
            <a:ext cx="140817" cy="140817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1078992" y="5084064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FINANCIAL FEASIBILITY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49808" y="5376672"/>
            <a:ext cx="3118104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₹0 Hardware Capex: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Eliminates ₹50L+ optical gimbal &amp; vacuum chambers.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Open Access: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Available across Indian universities and space research labs.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434840" y="1472184"/>
            <a:ext cx="2123968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4434840" y="1472184"/>
            <a:ext cx="2123968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VIABILITY &amp; DEPLOYMENT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4434840" y="1764792"/>
            <a:ext cx="3118104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Space Mission Fit</a:t>
            </a:r>
          </a:p>
        </p:txBody>
      </p:sp>
      <p:sp>
        <p:nvSpPr>
          <p:cNvPr id="17446" name="Oval 17445"/>
          <p:cNvSpPr/>
          <p:nvPr/>
        </p:nvSpPr>
        <p:spPr>
          <a:xfrm>
            <a:off x="4434840" y="2039112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47" name="Picture 17446" descr="ECONOMIC DISRUPTION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2447" y="2096719"/>
            <a:ext cx="140817" cy="140817"/>
          </a:xfrm>
          <a:prstGeom prst="rect">
            <a:avLst/>
          </a:prstGeom>
        </p:spPr>
      </p:pic>
      <p:sp>
        <p:nvSpPr>
          <p:cNvPr id="17448" name="TextBox 17447"/>
          <p:cNvSpPr txBox="1"/>
          <p:nvPr/>
        </p:nvSpPr>
        <p:spPr>
          <a:xfrm>
            <a:off x="4764024" y="2039112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ECONOMIC DISRUPTION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4434840" y="2331720"/>
            <a:ext cx="3118104" cy="329184"/>
          </a:xfrm>
          <a:prstGeom prst="roundRect">
            <a:avLst>
              <a:gd name="adj" fmla="val 19444"/>
            </a:avLst>
          </a:prstGeom>
          <a:solidFill>
            <a:srgbClr val="F7E1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4526279" y="2331720"/>
            <a:ext cx="174613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566074"/>
                </a:solidFill>
                <a:latin typeface="Calibri"/>
              </a:rPr>
              <a:t>Physical FSOC Testbed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993892" y="2331720"/>
            <a:ext cx="149668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A10000"/>
                </a:solidFill>
                <a:latin typeface="Calibri"/>
              </a:rPr>
              <a:t>₹50+ Lakhs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4434840" y="2715768"/>
            <a:ext cx="3118104" cy="329184"/>
          </a:xfrm>
          <a:prstGeom prst="roundRect">
            <a:avLst>
              <a:gd name="adj" fmla="val 19444"/>
            </a:avLst>
          </a:prstGeom>
          <a:solidFill>
            <a:srgbClr val="E3F4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4526279" y="2715768"/>
            <a:ext cx="174613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 lang="en-US">
                <a:solidFill>
                  <a:srgbClr val="566074"/>
                </a:solidFill>
                <a:latin typeface="Calibri"/>
              </a:rPr>
              <a:t>Phoenix SIL Simulator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5993892" y="2715768"/>
            <a:ext cx="1496689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lang="en-US">
                <a:solidFill>
                  <a:srgbClr val="0A6636"/>
                </a:solidFill>
                <a:latin typeface="Calibri"/>
              </a:rPr>
              <a:t>₹0 (Open-Source)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4434840" y="3154679"/>
            <a:ext cx="3118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en-US">
                <a:solidFill>
                  <a:srgbClr val="1E2638"/>
                </a:solidFill>
                <a:latin typeface="Calibri"/>
              </a:rPr>
              <a:t>Allows parallel multi-team algorithm development without equipment bottlenecks.</a:t>
            </a:r>
          </a:p>
        </p:txBody>
      </p:sp>
      <p:sp>
        <p:nvSpPr>
          <p:cNvPr id="17456" name="Oval 17455"/>
          <p:cNvSpPr/>
          <p:nvPr/>
        </p:nvSpPr>
        <p:spPr>
          <a:xfrm>
            <a:off x="4434840" y="3611879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57" name="Picture 17456" descr="AIR-GAPPED DATA RESILIENCE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2447" y="3669487"/>
            <a:ext cx="140817" cy="140817"/>
          </a:xfrm>
          <a:prstGeom prst="rect">
            <a:avLst/>
          </a:prstGeom>
        </p:spPr>
      </p:pic>
      <p:sp>
        <p:nvSpPr>
          <p:cNvPr id="17458" name="TextBox 17457"/>
          <p:cNvSpPr txBox="1"/>
          <p:nvPr/>
        </p:nvSpPr>
        <p:spPr>
          <a:xfrm>
            <a:off x="4764024" y="3611879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 spc="50">
                <a:solidFill>
                  <a:srgbClr val="B35A00"/>
                </a:solidFill>
                <a:latin typeface="Calibri"/>
              </a:rPr>
              <a:t>AIR-GAPPED DATA RESILIENCE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4434840" y="3904487"/>
            <a:ext cx="31181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1" i="0" lang="en-US">
                <a:solidFill>
                  <a:srgbClr val="14345C"/>
                </a:solidFill>
                <a:latin typeface="Calibri"/>
              </a:rPr>
              <a:t>100% Offline Execution: </a:t>
            </a:r>
            <a:r>
              <a:rPr sz="919" b="0" i="0" lang="en-US">
                <a:solidFill>
                  <a:srgbClr val="1E2638"/>
                </a:solidFill>
                <a:latin typeface="Calibri"/>
              </a:rPr>
              <a:t>Zero cloud dependency; telemetry, logs, and AI weights stay local.</a:t>
            </a:r>
          </a:p>
          <a:p>
            <a:pPr algn="l" marL="137160" indent="-137160">
              <a:spcBef>
                <a:spcPts val="0"/>
              </a:spcBef>
              <a:spcAft>
                <a:spcPts val="200"/>
              </a:spcAft>
              <a:buClr>
                <a:srgbClr val="D9700F"/>
              </a:buClr>
              <a:buFont typeface="Arial"/>
              <a:buChar char="•"/>
            </a:pPr>
            <a:r>
              <a:rPr sz="919" b="0" i="0" lang="en-US">
                <a:solidFill>
                  <a:srgbClr val="1E2638"/>
                </a:solidFill>
                <a:latin typeface="Calibri"/>
              </a:rPr>
              <a:t>Meets strict DRDO/ISRO cyber-security and air-gapped lab compliance mandates.</a:t>
            </a:r>
          </a:p>
        </p:txBody>
      </p:sp>
      <p:sp>
        <p:nvSpPr>
          <p:cNvPr id="17460" name="Oval 17459"/>
          <p:cNvSpPr/>
          <p:nvPr/>
        </p:nvSpPr>
        <p:spPr>
          <a:xfrm>
            <a:off x="4434840" y="4672583"/>
            <a:ext cx="256032" cy="256032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61" name="Picture 17460" descr="SPACE AVIONICS ROADMAP 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92447" y="4730191"/>
            <a:ext cx="140817" cy="140817"/>
          </a:xfrm>
          <a:prstGeom prst="rect">
            <a:avLst/>
          </a:prstGeom>
        </p:spPr>
      </p:pic>
      <p:sp>
        <p:nvSpPr>
          <p:cNvPr id="17462" name="TextBox 17461"/>
          <p:cNvSpPr txBox="1"/>
          <p:nvPr/>
        </p:nvSpPr>
        <p:spPr>
          <a:xfrm>
            <a:off x="4764024" y="4672583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900" b="1"/>
              <a:t>OPTICAL CHANNEL VALIDATION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119872" y="1472184"/>
            <a:ext cx="2203886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8119872" y="1472184"/>
            <a:ext cx="220388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0070C0"/>
                </a:solidFill>
                <a:latin typeface="Calibri"/>
              </a:rPr>
              <a:t>CHALLENGES → STRATEGIES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8119872" y="1764792"/>
            <a:ext cx="3193999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1" lang="en-US">
                <a:solidFill>
                  <a:srgbClr val="566074"/>
                </a:solidFill>
                <a:latin typeface="Calibri"/>
              </a:rPr>
              <a:t>Engineering Risk Mitigations</a:t>
            </a:r>
          </a:p>
        </p:txBody>
      </p:sp>
      <p:sp>
        <p:nvSpPr>
          <p:cNvPr id="17467" name="Oval 17466"/>
          <p:cNvSpPr/>
          <p:nvPr/>
        </p:nvSpPr>
        <p:spPr>
          <a:xfrm>
            <a:off x="8119872" y="202082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8119872" y="20208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8449056" y="200253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10% Salt &amp; Pepper + Poisson Noise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449056" y="228600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830" b="0" i="0" lang="en-US">
                <a:solidFill>
                  <a:srgbClr val="1E2638"/>
                </a:solidFill>
                <a:latin typeface="Calibri"/>
              </a:rPr>
              <a:t>Vectorized rank-order median filter strips impulsive noise in 0.8 ms before feature extraction, preventing false centroid spikes.</a:t>
            </a:r>
          </a:p>
        </p:txBody>
      </p:sp>
      <p:sp>
        <p:nvSpPr>
          <p:cNvPr id="17471" name="Oval 17470"/>
          <p:cNvSpPr/>
          <p:nvPr/>
        </p:nvSpPr>
        <p:spPr>
          <a:xfrm>
            <a:off x="8119872" y="286664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8119872" y="286664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8449056" y="284835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Maneuvering Lag in Figure-8 Turns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8449056" y="313182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830" b="0" i="0" lang="en-US">
                <a:solidFill>
                  <a:srgbClr val="1E2638"/>
                </a:solidFill>
                <a:latin typeface="Calibri"/>
              </a:rPr>
              <a:t>IMM multi-hypothesis Kalman filter automatically transitions between Constant Velocity &amp; Coordinated Turn models, eliminating turn lag.</a:t>
            </a:r>
          </a:p>
        </p:txBody>
      </p:sp>
      <p:sp>
        <p:nvSpPr>
          <p:cNvPr id="17475" name="Oval 17474"/>
          <p:cNvSpPr/>
          <p:nvPr/>
        </p:nvSpPr>
        <p:spPr>
          <a:xfrm>
            <a:off x="8119872" y="371246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76" name="TextBox 17475"/>
          <p:cNvSpPr txBox="1"/>
          <p:nvPr/>
        </p:nvSpPr>
        <p:spPr>
          <a:xfrm>
            <a:off x="8119872" y="371246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77" name="TextBox 17476"/>
          <p:cNvSpPr txBox="1"/>
          <p:nvPr/>
        </p:nvSpPr>
        <p:spPr>
          <a:xfrm>
            <a:off x="8449056" y="369417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Gimbal Slew Constraints (5-10°/s)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8449056" y="397764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830" b="0" i="0" lang="en-US">
                <a:solidFill>
                  <a:srgbClr val="1E2638"/>
                </a:solidFill>
                <a:latin typeface="Calibri"/>
              </a:rPr>
              <a:t>Clamped S-curve velocity profiler prevents instantaneous viewport teleportation; models physical motor inertia and servo acceleration limits.</a:t>
            </a:r>
          </a:p>
        </p:txBody>
      </p:sp>
      <p:sp>
        <p:nvSpPr>
          <p:cNvPr id="17479" name="Oval 17478"/>
          <p:cNvSpPr/>
          <p:nvPr/>
        </p:nvSpPr>
        <p:spPr>
          <a:xfrm>
            <a:off x="8119872" y="455828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80" name="TextBox 17479"/>
          <p:cNvSpPr txBox="1"/>
          <p:nvPr/>
        </p:nvSpPr>
        <p:spPr>
          <a:xfrm>
            <a:off x="8119872" y="455828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8449056" y="453999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40" b="1" i="0" lang="en-US">
                <a:solidFill>
                  <a:srgbClr val="14345C"/>
                </a:solidFill>
                <a:latin typeface="Calibri"/>
              </a:rPr>
              <a:t>Low-Contrast Beacon in Dense Fog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8449056" y="482346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30" b="1" i="0" lang="en-US">
                <a:solidFill>
                  <a:srgbClr val="B35A00"/>
                </a:solidFill>
                <a:latin typeface="Calibri"/>
              </a:rPr>
              <a:t>→ </a:t>
            </a:r>
            <a:r>
              <a:rPr sz="830" b="0" i="0" lang="en-US">
                <a:solidFill>
                  <a:srgbClr val="1E2638"/>
                </a:solidFill>
                <a:latin typeface="Calibri"/>
              </a:rPr>
              <a:t>Deep saliency heatmap proposal fuses spatial gradients to isolate faint beacon spots even at negative optical SNRs under Beer-Lambert scattering.</a:t>
            </a:r>
          </a:p>
        </p:txBody>
      </p:sp>
      <p:sp>
        <p:nvSpPr>
          <p:cNvPr id="17483" name="Oval 17482"/>
          <p:cNvSpPr/>
          <p:nvPr/>
        </p:nvSpPr>
        <p:spPr>
          <a:xfrm>
            <a:off x="8119872" y="5404104"/>
            <a:ext cx="237744" cy="237744"/>
          </a:xfrm>
          <a:prstGeom prst="ellipse">
            <a:avLst/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84" name="TextBox 17483"/>
          <p:cNvSpPr txBox="1"/>
          <p:nvPr/>
        </p:nvSpPr>
        <p:spPr>
          <a:xfrm>
            <a:off x="8119872" y="540410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8449056" y="5385816"/>
            <a:ext cx="2846527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/>
              <a:t>Multi-Terminal Network Latency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8449056" y="5669280"/>
            <a:ext cx="2846527" cy="5303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/>
              <a:t>→ Non-blocking UDP with 8KB MTU fragmentation decouples 30 Hz edge vision from 60 Hz web cockpit with zero packet lag.</a:t>
            </a:r>
          </a:p>
        </p:txBody>
      </p:sp>
      <p:pic>
        <p:nvPicPr>
          <p:cNvPr id="17487" name="Picture 17486" descr="04_optical_disturbances_comparis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4840" y="4160520"/>
            <a:ext cx="324612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Oval 17412"/>
          <p:cNvSpPr/>
          <p:nvPr/>
        </p:nvSpPr>
        <p:spPr>
          <a:xfrm>
            <a:off x="731520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4" name="Picture 17413" descr="ISRO / SAC FLIGHT TEAM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1595628"/>
            <a:ext cx="210312" cy="210312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1243584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ISRO / SAC FLIGHT TEAMS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31520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Accelerated Development: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Cuts PAT validation cycles from 6 months to 48 hours.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Risk-Free Validation: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Verifies coarse tracking algorithms prior to hardware fabrication.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Automated Logging: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Produces standardized timestamped error audits matching ISRO criteria.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370935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3553815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NATIONAL SPACE DEFENS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8971" y="1595628"/>
            <a:ext cx="210312" cy="210312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4065879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NATIONAL SPACE DEFENSE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553815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Jam-Proof Comms: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Accelerates deployment of high-throughput optical links immune to RF EW.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QKD Readiness: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Coarse tracking foundation for satellite Quantum Key Distribution meshes.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Airborne FSOC: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Supports UAV-to-ground high-bandwidth disaster and defense links.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93231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3" name="Oval 17422"/>
          <p:cNvSpPr/>
          <p:nvPr/>
        </p:nvSpPr>
        <p:spPr>
          <a:xfrm>
            <a:off x="6376111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4" name="Picture 17423" descr="DEEP SPACE &amp; OISL MISSIONS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267" y="1595628"/>
            <a:ext cx="210312" cy="210312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888175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DEEP SPACE &amp; OISL MISSIONS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376111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Inter-Satellite Crosslinks: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Establishes tracking algorithms for LEO mega-constellations.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Lunar &amp; Planetary Probes: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Validates coarse alignment for deep-space laser transceivers.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Adaptive Simulation: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Models dynamic space scintillation and reaction-wheel jitter.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9015526" y="1325880"/>
            <a:ext cx="2627528" cy="2514600"/>
          </a:xfrm>
          <a:prstGeom prst="roundRect">
            <a:avLst>
              <a:gd name="adj" fmla="val 4363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8" name="Oval 17427"/>
          <p:cNvSpPr/>
          <p:nvPr/>
        </p:nvSpPr>
        <p:spPr>
          <a:xfrm>
            <a:off x="9198406" y="1490472"/>
            <a:ext cx="420624" cy="420624"/>
          </a:xfrm>
          <a:prstGeom prst="ellipse">
            <a:avLst/>
          </a:prstGeom>
          <a:solidFill>
            <a:srgbClr val="FDEE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429" name="Picture 17428" descr="INDIAN ACADEMIA &amp; STARTUP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3562" y="1595628"/>
            <a:ext cx="210312" cy="210312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9710470" y="1490472"/>
            <a:ext cx="1804568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 lang="en-US" spc="20">
                <a:solidFill>
                  <a:srgbClr val="14345C"/>
                </a:solidFill>
                <a:latin typeface="Calibri"/>
              </a:rPr>
              <a:t>INDIAN ACADEMIA &amp; STARTUPS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198406" y="2075688"/>
            <a:ext cx="2280056" cy="1636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Democratized Research: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Zero-Capex platform enables university labs to design FSOC algorithms.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Repeatable Benchmarking: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Standardized testbed lowers barrier of entry for spacetech startups.</a:t>
            </a:r>
          </a:p>
          <a:p>
            <a:pPr algn="l" marL="137160" indent="-137160">
              <a:spcBef>
                <a:spcPts val="0"/>
              </a:spcBef>
              <a:spcAft>
                <a:spcPts val="400"/>
              </a:spcAft>
              <a:buClr>
                <a:srgbClr val="D9700F"/>
              </a:buClr>
              <a:buFont typeface="Arial"/>
              <a:buChar char="•"/>
            </a:pPr>
            <a:r>
              <a:rPr sz="930" b="1" i="0" lang="en-US">
                <a:solidFill>
                  <a:srgbClr val="14345C"/>
                </a:solidFill>
                <a:latin typeface="Calibri"/>
              </a:rPr>
              <a:t>Open Standards: </a:t>
            </a:r>
            <a:r>
              <a:rPr sz="930" b="0" i="0" lang="en-US">
                <a:solidFill>
                  <a:srgbClr val="1E2638"/>
                </a:solidFill>
                <a:latin typeface="Calibri"/>
              </a:rPr>
              <a:t>Clean modular codebase fostering indigenous space-comms innovation.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48640" y="3977640"/>
            <a:ext cx="11094415" cy="2285999"/>
          </a:xfrm>
          <a:prstGeom prst="roundRect">
            <a:avLst>
              <a:gd name="adj" fmla="val 4800"/>
            </a:avLst>
          </a:prstGeom>
          <a:solidFill>
            <a:srgbClr val="14345C"/>
          </a:solidFill>
          <a:ln w="9525">
            <a:solidFill>
              <a:srgbClr val="14345C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749808" y="4096512"/>
            <a:ext cx="5320710" cy="256032"/>
          </a:xfrm>
          <a:prstGeom prst="roundRect">
            <a:avLst>
              <a:gd name="adj" fmla="val 50000"/>
            </a:avLst>
          </a:prstGeom>
          <a:solidFill>
            <a:srgbClr val="F084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49808" y="4096512"/>
            <a:ext cx="532071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en-US" spc="80">
                <a:solidFill>
                  <a:srgbClr val="14345C"/>
                </a:solidFill>
                <a:latin typeface="Calibri"/>
              </a:rPr>
              <a:t>PHOENIX IMPACT PIPELINE — MEASURABLE PERFORMANCE BREAKTHROUGHS</a:t>
            </a:r>
          </a:p>
        </p:txBody>
      </p:sp>
      <p:sp>
        <p:nvSpPr>
          <p:cNvPr id="17435" name="Pentagon 17434"/>
          <p:cNvSpPr/>
          <p:nvPr/>
        </p:nvSpPr>
        <p:spPr>
          <a:xfrm>
            <a:off x="749808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22959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1  DEPLOY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786384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Zero-Install Runtime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786384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Standalone cross-platform executable starts in &lt; 30 seconds with zero hardware prerequisites.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49808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749808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08418"/>
                </a:solidFill>
                <a:latin typeface="Calibri"/>
              </a:rPr>
              <a:t>100% Offline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749808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Zero setup time</a:t>
            </a:r>
          </a:p>
        </p:txBody>
      </p:sp>
      <p:sp>
        <p:nvSpPr>
          <p:cNvPr id="17442" name="Pentagon 17441"/>
          <p:cNvSpPr/>
          <p:nvPr/>
        </p:nvSpPr>
        <p:spPr>
          <a:xfrm>
            <a:off x="2913827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2986979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2  SIMULATE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2950403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Multi-Disturbance Scaling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2950403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Generates a 2000x2000 universe with 10% S&amp;P noise, Beer-Lambert fog, and ±20 px platform jitter.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2913827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2913827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08418"/>
                </a:solidFill>
                <a:latin typeface="Calibri"/>
              </a:rPr>
              <a:t>Deterministic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2913827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30 Hz loop</a:t>
            </a:r>
          </a:p>
        </p:txBody>
      </p:sp>
      <p:sp>
        <p:nvSpPr>
          <p:cNvPr id="17449" name="Pentagon 17448"/>
          <p:cNvSpPr/>
          <p:nvPr/>
        </p:nvSpPr>
        <p:spPr>
          <a:xfrm>
            <a:off x="5077846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5150998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3  ACQUIRE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5114422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Instant Lock Acquisition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5114422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Autonomous beacon acquisition in ≤ 0.8 s, beating ISRO's ≤ 2.0 s mandate by &gt;60%.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5077846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5077846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08418"/>
                </a:solidFill>
                <a:latin typeface="Calibri"/>
              </a:rPr>
              <a:t>≤ 0.8 s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5077846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SLA: ≤ 2 s</a:t>
            </a:r>
          </a:p>
        </p:txBody>
      </p:sp>
      <p:sp>
        <p:nvSpPr>
          <p:cNvPr id="17456" name="Pentagon 17455"/>
          <p:cNvSpPr/>
          <p:nvPr/>
        </p:nvSpPr>
        <p:spPr>
          <a:xfrm>
            <a:off x="7241865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7315017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4  TRACK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7278441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Sub-Pixel Precision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7278441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Maintains continuous centroid lock with error ≤ 1.5 px nominal, ≤ 4.8 px under extreme noise.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7241865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7241865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08418"/>
                </a:solidFill>
                <a:latin typeface="Calibri"/>
              </a:rPr>
              <a:t>≤ 1.5 px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7241865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SLA: ≤ 10 px</a:t>
            </a:r>
          </a:p>
        </p:txBody>
      </p:sp>
      <p:sp>
        <p:nvSpPr>
          <p:cNvPr id="17463" name="Pentagon 17462"/>
          <p:cNvSpPr/>
          <p:nvPr/>
        </p:nvSpPr>
        <p:spPr>
          <a:xfrm>
            <a:off x="9405884" y="4453128"/>
            <a:ext cx="2036003" cy="365760"/>
          </a:xfrm>
          <a:prstGeom prst="homePlate">
            <a:avLst>
              <a:gd name="adj" fmla="val 30000"/>
            </a:avLst>
          </a:prstGeom>
          <a:solidFill>
            <a:srgbClr val="D9700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9479036" y="4453128"/>
            <a:ext cx="1761683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FFFFFF"/>
                </a:solidFill>
                <a:latin typeface="Calibri"/>
              </a:rPr>
              <a:t>5  AUDIT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9442460" y="4873752"/>
            <a:ext cx="196285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>
                <a:solidFill>
                  <a:srgbClr val="FFB35C"/>
                </a:solidFill>
                <a:latin typeface="Calibri"/>
              </a:rPr>
              <a:t>Automated ISRO Benchmark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9442460" y="5111496"/>
            <a:ext cx="1962851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E4ECF7"/>
                </a:solidFill>
                <a:latin typeface="Calibri"/>
              </a:rPr>
              <a:t>Auto-exports timestamped CSV/PDF reports detailing RMSE, FPS, and lock retention rates.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9405884" y="5788152"/>
            <a:ext cx="2017715" cy="475488"/>
          </a:xfrm>
          <a:prstGeom prst="roundRect">
            <a:avLst>
              <a:gd name="adj" fmla="val 15384"/>
            </a:avLst>
          </a:prstGeom>
          <a:solidFill>
            <a:srgbClr val="1E4A7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9405884" y="5806440"/>
            <a:ext cx="201771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lang="en-US">
                <a:solidFill>
                  <a:srgbClr val="FFB35C"/>
                </a:solidFill>
                <a:latin typeface="Calibri"/>
              </a:rPr>
              <a:t>100%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9405884" y="6062472"/>
            <a:ext cx="2017715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80" b="0" i="0" lang="en-US">
                <a:solidFill>
                  <a:srgbClr val="B9C7DE"/>
                </a:solidFill>
                <a:latin typeface="Calibri"/>
              </a:rPr>
              <a:t>Automated compliance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Times New Roman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5448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sz="1300"/>
              <a:t>Phoenix 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2057400" y="91440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C757D"/>
                </a:solidFill>
                <a:latin typeface="Arial"/>
              </a:defRPr>
            </a:pPr>
            <a:r>
              <a:rPr sz="1000">
                <a:solidFill>
                  <a:srgbClr val="566074"/>
                </a:solidFill>
              </a:rPr>
              <a:t>PROJECT PHOENIX: AI-Based Virtual Camera Tracking for Mobile FSOC  |  SIH26169 (ISRO / SAC)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48640" y="1325880"/>
            <a:ext cx="6903720" cy="4937759"/>
          </a:xfrm>
          <a:prstGeom prst="roundRect">
            <a:avLst>
              <a:gd name="adj" fmla="val 2222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3" name="Rounded Rectangle 17412"/>
          <p:cNvSpPr/>
          <p:nvPr/>
        </p:nvSpPr>
        <p:spPr>
          <a:xfrm>
            <a:off x="731520" y="1453895"/>
            <a:ext cx="4512271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1453895"/>
            <a:ext cx="4512271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 spc="80">
                <a:solidFill>
                  <a:srgbClr val="0070C0"/>
                </a:solidFill>
                <a:latin typeface="Calibri"/>
              </a:rPr>
              <a:t>VERIFIED PEER-REVIEWED RESEARCH CITATIONS (2023–2025)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13232" y="1746504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822959" y="180136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01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261872" y="1792224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Liu et al. (IEEE ICSOS, 2025)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261872" y="2020824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'Pointing, Acquisition, and Tracking (PAT) for Optical Satellite Communications: The ALIGN UK Mission'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Satellite PAT handover: establishes coarse-to-fine transition dynamics and ≤ 2 s acquisition SLA.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10.1109/icsos66026.2025.11443125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13232" y="2519172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22959" y="257403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02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261872" y="2564891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Sun, Wang, Wu &amp; Liu (MDPI Photonics, 2024)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261872" y="2793491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'High-Precision Tracking of Free-Space Optical Communication System on Mobile Platforms'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Mobile platform dynamics: validates multi-axis platform jitter rejection (±20 px/frame).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10.3390/photonics11100900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713232" y="3291839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822959" y="3346703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03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261872" y="3337559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Saha, Qin, Li, Ye &amp; Jayasuriya (IEEE/CVF CVPR, 2024)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261872" y="3566159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'Turb-Seg-Res: A Segment-then-Restore Pipeline for Dynamic Videos with Atmospheric Turbulence'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Deep vision in turbulence: formulates spatio-temporal segmentation under refractive shimmer.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10.1109/CVPR52733.2024.02389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713232" y="4064508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822959" y="41193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04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261872" y="4110228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Qin, Saha, Chung, Jayasuriya, Ye &amp; Li (ECCV, 2024)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261872" y="4338828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'Unsupervised Moving Object Segmentation with Atmospheric Turbulence'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Deep saliency prior: separates faint moving beacons under dense haze, fog and scintillation.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10.1007/978-3-031-72658-3_2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13232" y="4837176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822959" y="489204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05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261872" y="4882896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Yang, Xie, Liu, Mo &amp; Zeng (MDPI Remote Sensing, 2023)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261872" y="5111496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'Centroid Extraction of Laser Spots Captured by Infrared Detectors Combining Observation Data'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Sub-pixel Gaussian diffusion: mathematical proof of &lt; 0.2 px centroid accuracy under noise.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10.3390/rs15082129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713232" y="5609844"/>
            <a:ext cx="6574536" cy="722376"/>
          </a:xfrm>
          <a:prstGeom prst="roundRect">
            <a:avLst>
              <a:gd name="adj" fmla="val 11392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822959" y="56647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 lang="en-US">
                <a:solidFill>
                  <a:srgbClr val="D9700F"/>
                </a:solidFill>
                <a:latin typeface="Consolas"/>
              </a:rPr>
              <a:t>06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261872" y="5655564"/>
            <a:ext cx="58978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69" b="1" i="0" lang="en-US">
                <a:solidFill>
                  <a:srgbClr val="14345C"/>
                </a:solidFill>
                <a:latin typeface="Calibri"/>
              </a:rPr>
              <a:t>Kaushal &amp; Kaddoum (IEEE COMST, 2016)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261872" y="5884164"/>
            <a:ext cx="589787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100"/>
              </a:spcAft>
              <a:buNone/>
            </a:pPr>
            <a:r>
              <a:rPr sz="840" b="0" i="1" lang="en-US">
                <a:solidFill>
                  <a:srgbClr val="566074"/>
                </a:solidFill>
                <a:latin typeface="Calibri"/>
              </a:rPr>
              <a:t>'Free Space Optical Communication: Challenges and Mitigation Techniques'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E2638"/>
                </a:solidFill>
                <a:latin typeface="Calibri"/>
              </a:rPr>
              <a:t>Foundational FSOC survey: gold-standard reference for Beer-Lambert &amp; Gamma-Gamma channels.</a:t>
            </a:r>
            <a:r>
              <a:rPr sz="760" b="0" i="0" lang="en-US">
                <a:solidFill>
                  <a:srgbClr val="8C97A8"/>
                </a:solidFill>
                <a:latin typeface="Calibri"/>
              </a:rPr>
              <a:t>  DOI: 10.1109/COMST.2016.2617691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635240" y="1325880"/>
            <a:ext cx="4007815" cy="4937759"/>
          </a:xfrm>
          <a:prstGeom prst="roundRect">
            <a:avLst>
              <a:gd name="adj" fmla="val 2737"/>
            </a:avLst>
          </a:prstGeom>
          <a:solidFill>
            <a:srgbClr val="F7FAFD"/>
          </a:solidFill>
          <a:ln w="9525">
            <a:solidFill>
              <a:srgbClr val="D9E2EE"/>
            </a:solidFill>
          </a:ln>
          <a:effectLst>
            <a:outerShdw blurRad="95000" dist="23000" dir="5400000" algn="t" rotWithShape="0">
              <a:srgbClr val="1B2A44">
                <a:alpha val="13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440" name="Rounded Rectangle 17439"/>
          <p:cNvSpPr/>
          <p:nvPr/>
        </p:nvSpPr>
        <p:spPr>
          <a:xfrm>
            <a:off x="7836408" y="1453895"/>
            <a:ext cx="3260494" cy="256032"/>
          </a:xfrm>
          <a:prstGeom prst="roundRect">
            <a:avLst>
              <a:gd name="adj" fmla="val 50000"/>
            </a:avLst>
          </a:prstGeom>
          <a:solidFill>
            <a:srgbClr val="E1EE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7836408" y="1453895"/>
            <a:ext cx="326049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30" b="1" i="0" lang="en-US" spc="80">
                <a:solidFill>
                  <a:srgbClr val="0070C0"/>
                </a:solidFill>
                <a:latin typeface="Calibri"/>
              </a:rPr>
              <a:t>PROTOTYPE PROOF &amp; VERIFICATION ASSETS</a:t>
            </a:r>
          </a:p>
        </p:txBody>
      </p:sp>
      <p:pic>
        <p:nvPicPr>
          <p:cNvPr id="17442" name="Picture 17441" descr="GitHub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01368"/>
            <a:ext cx="182880" cy="182880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8092440" y="1792224"/>
            <a:ext cx="3349447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B35A00"/>
                </a:solidFill>
                <a:latin typeface="Calibri"/>
              </a:rPr>
              <a:t>Open-Source GitHub Repository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7836408" y="2057400"/>
            <a:ext cx="3605479" cy="438912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D9E2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7927848" y="2057400"/>
            <a:ext cx="3422599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40" b="0" i="0" lang="en-US">
                <a:solidFill>
                  <a:srgbClr val="14345C"/>
                </a:solidFill>
                <a:latin typeface="Consolas"/>
              </a:rPr>
              <a:t>github.com/jvstin47/Phoenix-X-AI-Based-Virtual-
Camera-Tracking-System-SIH26169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7836408" y="2606039"/>
            <a:ext cx="3605479" cy="0"/>
          </a:xfrm>
          <a:prstGeom prst="line">
            <a:avLst/>
          </a:prstGeom>
          <a:ln w="12700">
            <a:solidFill>
              <a:srgbClr val="D9E2EE"/>
            </a:solidFill>
          </a:ln>
        </p:spPr>
      </p:cxnSp>
      <p:sp>
        <p:nvSpPr>
          <p:cNvPr id="17447" name="TextBox 17446"/>
          <p:cNvSpPr txBox="1"/>
          <p:nvPr/>
        </p:nvSpPr>
        <p:spPr>
          <a:xfrm>
            <a:off x="7836408" y="2697480"/>
            <a:ext cx="3605479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en-US">
                <a:solidFill>
                  <a:srgbClr val="B35A00"/>
                </a:solidFill>
                <a:latin typeface="Calibri"/>
              </a:rPr>
              <a:t>Documented Engineering Deliverables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7836408" y="2962656"/>
            <a:ext cx="3605479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3C3C3C"/>
                </a:solidFill>
              </a:defRPr>
            </a:pPr>
            <a:r>
              <a:t>1. docs/system_architecture_plan.md (System Blueprint)</a:t>
            </a:r>
          </a:p>
          <a:p>
            <a:pPr>
              <a:defRPr sz="800">
                <a:solidFill>
                  <a:srgbClr val="3C3C3C"/>
                </a:solidFill>
              </a:defRPr>
            </a:pPr>
            <a:r>
              <a:t>2. academic_research/ (Literature Review &amp; Papers)</a:t>
            </a:r>
          </a:p>
          <a:p>
            <a:pPr>
              <a:defRPr sz="800">
                <a:solidFill>
                  <a:srgbClr val="3C3C3C"/>
                </a:solidFill>
              </a:defRPr>
            </a:pPr>
            <a:r>
              <a:t>3. distributed_demo/ (3-Node Networked Simulation)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818120" y="3886200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73E6"/>
                </a:solidFill>
              </a:defRPr>
            </a:pPr>
            <a:r>
              <a:t>Operational Software Cockpit (main.py)</a:t>
            </a:r>
          </a:p>
        </p:txBody>
      </p:sp>
      <p:pic>
        <p:nvPicPr>
          <p:cNvPr id="17450" name="Picture 17449" descr="03_tactical_dual_viewport_cockp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160520"/>
            <a:ext cx="361188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346</Words>
  <Application>Microsoft Macintosh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Justin </cp:lastModifiedBy>
  <cp:revision>149</cp:revision>
  <dcterms:created xsi:type="dcterms:W3CDTF">2013-12-12T18:46:50Z</dcterms:created>
  <dcterms:modified xsi:type="dcterms:W3CDTF">2026-09-18T06:04:45Z</dcterms:modified>
  <cp:category/>
</cp:coreProperties>
</file>